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2"/>
  </p:notesMasterIdLst>
  <p:sldIdLst>
    <p:sldId id="315" r:id="rId5"/>
    <p:sldId id="316" r:id="rId6"/>
    <p:sldId id="317" r:id="rId7"/>
    <p:sldId id="300" r:id="rId8"/>
    <p:sldId id="313" r:id="rId9"/>
    <p:sldId id="302" r:id="rId10"/>
    <p:sldId id="318" r:id="rId11"/>
    <p:sldId id="284" r:id="rId12"/>
    <p:sldId id="285" r:id="rId13"/>
    <p:sldId id="286" r:id="rId14"/>
    <p:sldId id="287" r:id="rId15"/>
    <p:sldId id="288" r:id="rId16"/>
    <p:sldId id="290" r:id="rId17"/>
    <p:sldId id="308" r:id="rId18"/>
    <p:sldId id="292" r:id="rId19"/>
    <p:sldId id="304" r:id="rId20"/>
    <p:sldId id="295" r:id="rId21"/>
  </p:sldIdLst>
  <p:sldSz cx="12192000" cy="6858000"/>
  <p:notesSz cx="6858000" cy="9144000"/>
  <p:defaultTextStyle>
    <a:defPPr>
      <a:defRPr lang="a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84" autoAdjust="0"/>
    <p:restoredTop sz="76209" autoAdjust="0"/>
  </p:normalViewPr>
  <p:slideViewPr>
    <p:cSldViewPr snapToGrid="0">
      <p:cViewPr>
        <p:scale>
          <a:sx n="50" d="100"/>
          <a:sy n="50" d="100"/>
        </p:scale>
        <p:origin x="648" y="3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86C48FAF-ECD9-4882-A273-B2B243EDB38C}" type="datetimeFigureOut">
              <a:rPr lang="ar-EG" smtClean="0"/>
              <a:t>01/05/1448</a:t>
            </a:fld>
            <a:endParaRPr lang="ar-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6E21EE36-AAC7-4CA6-A486-062EED6DC0E6}" type="slidenum">
              <a:rPr lang="ar-EG" smtClean="0"/>
              <a:t>‹#›</a:t>
            </a:fld>
            <a:endParaRPr lang="ar-EG"/>
          </a:p>
        </p:txBody>
      </p:sp>
    </p:spTree>
    <p:extLst>
      <p:ext uri="{BB962C8B-B14F-4D97-AF65-F5344CB8AC3E}">
        <p14:creationId xmlns:p14="http://schemas.microsoft.com/office/powerpoint/2010/main" val="2721095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b="1" dirty="0"/>
              <a:t>Speaker: Shaon (about 35 s)</a:t>
            </a:r>
          </a:p>
          <a:p>
            <a:r>
              <a:rPr lang="en-US" dirty="0"/>
              <a:t>Our project is an AI-powered smart energy management system. The subtopic is AI-driven energy monitoring, analysis and sustainability coaching for buildings.</a:t>
            </a:r>
          </a:p>
          <a:p>
            <a:r>
              <a:rPr lang="en-US" dirty="0"/>
              <a:t>We split it into four equal subsystems. I own S1, monitoring and data. Ziad owns S2, analysis. Yassoub owns S3, the AI coach. Marwan owns S4, the dashboard.</a:t>
            </a:r>
          </a:p>
          <a:p>
            <a:r>
              <a:rPr lang="en-US" dirty="0"/>
              <a:t>The React frontend calls one Django REST API. Each subsystem is its own Django app over one SQLite database. Our telemetry generator feeds S1, and only S3 talks to OpenAI.</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b="1" dirty="0"/>
              <a:t>Speaker: Shaon (about 50 s)</a:t>
            </a:r>
          </a:p>
          <a:p>
            <a:r>
              <a:rPr lang="en-US" dirty="0"/>
              <a:t>S1 is the data foundation. A user owns buildings, each building is composed of meters, and each meter is composed of energy readings. That is five classes: three entities and two services.</a:t>
            </a:r>
          </a:p>
          <a:p>
            <a:r>
              <a:rPr lang="en-US" dirty="0"/>
              <a:t>The TelemetryGenerator creates one reading per active meter every 60 seconds, and the ReadingIngestionService validates each batch before saving it. Readings with negative kWh, future timestamps or unknown meters are rejected with HTTP 400.</a:t>
            </a:r>
          </a:p>
          <a:p>
            <a:r>
              <a:rPr lang="en-US" dirty="0"/>
              <a:t>All of this lives in the monitoring app's tables, indexed on meter and timestamp. Raw data is kept for 90 days, then rolled up into daily totals.</a:t>
            </a:r>
          </a:p>
          <a:p>
            <a:r>
              <a:rPr lang="en-US" dirty="0"/>
              <a:t>On the right are two of my twenty requirements: the 60-second generation rule, and a 1,000-reading upload saved in under 2 seconds. The full list is in Appendix A1, and the wireframe is in A5.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b="1" dirty="0"/>
              <a:t>Speaker: Ziad (about 50 s)</a:t>
            </a:r>
          </a:p>
          <a:p>
            <a:r>
              <a:rPr lang="en-US" dirty="0"/>
              <a:t>S2 turns raw readings into something a building manager can act on. It reads EnergyReading from S1 but never changes it.</a:t>
            </a:r>
          </a:p>
          <a:p>
            <a:r>
              <a:rPr lang="en-US" dirty="0"/>
              <a:t>Each run produces one AnalysisResult per building and period: total kWh, peak kW and when it happened, estimated cost, CO2 in kilograms and an efficiency score from 0 to 100.</a:t>
            </a:r>
          </a:p>
          <a:p>
            <a:r>
              <a:rPr lang="en-US" dirty="0"/>
              <a:t>CO2 and cost come from the EmissionFactor table, which stores a region's factor and tariff with a valid-from date, so we can update them without changing code.</a:t>
            </a:r>
          </a:p>
          <a:p>
            <a:r>
              <a:rPr lang="en-US" dirty="0"/>
              <a:t>The AnomalyDetector flags readings more than 30 percent above the 7-day same-hour average and saves them as Anomaly records.</a:t>
            </a:r>
          </a:p>
          <a:p>
            <a:r>
              <a:rPr lang="en-US" dirty="0"/>
              <a:t>The sample requirements are the CO2 conversion and analysing 30 days of minute data in under 5 seconds. The rest are in Appendix A2.</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b="1" dirty="0"/>
              <a:t>Speaker: Yassoub (about 50 s)</a:t>
            </a:r>
          </a:p>
          <a:p>
            <a:r>
              <a:rPr lang="en-US" dirty="0"/>
              <a:t>S3 is the AI coach. For each AnalysisResult from S2, the CoachService asks the PromptBuilder for a prompt that contains only aggregated metrics, never personal data, and sends it through the LLMClient interface. OpenAIClient is today's implementation, so we can swap providers later.</a:t>
            </a:r>
          </a:p>
          <a:p>
            <a:r>
              <a:rPr lang="en-US" dirty="0"/>
              <a:t>The model returns 3 to 5 recommendations. We validate them against a JSON schema before saving them as AIRecommendation records, and every call is logged with model, tokens and latency.</a:t>
            </a:r>
          </a:p>
          <a:p>
            <a:r>
              <a:rPr lang="en-US" dirty="0"/>
              <a:t>If OpenAI does not answer within 15 seconds, the FallbackRuleEngine produces rule-based tips marked as fallback, so the user always gets advice.</a:t>
            </a:r>
          </a:p>
          <a:p>
            <a:r>
              <a:rPr lang="en-US" dirty="0"/>
              <a:t>Users can accept, dismiss or rate each tip. All twenty requirements are in Appendix A3.</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b="1" dirty="0"/>
              <a:t>Speaker: Marwan (about 50 s)</a:t>
            </a:r>
          </a:p>
          <a:p>
            <a:r>
              <a:rPr lang="en-US" dirty="0"/>
              <a:t>S4 is what the user sees, plus the accounts app behind it. On the backend I own User, UserPreferences and Notification. Notifications can point to an anomaly from S2.</a:t>
            </a:r>
          </a:p>
          <a:p>
            <a:r>
              <a:rPr lang="en-US" dirty="0"/>
              <a:t>On the frontend, the DashboardPage is composed of a ConsumptionChart and a RecommendationPanel, and every API call goes through a single ApiClient module.</a:t>
            </a:r>
          </a:p>
          <a:p>
            <a:r>
              <a:rPr lang="en-US" dirty="0"/>
              <a:t>The dashboard home shows current kW, today's kWh, today's CO2 and the top three recommendations, and it must load in under 3 seconds with 30 days of data.</a:t>
            </a:r>
          </a:p>
          <a:p>
            <a:r>
              <a:rPr lang="en-US" dirty="0"/>
              <a:t>Passwords are hashed by Django, unauthenticated requests are redirected to login, and the layout works from phone to desktop width. The requirements are in Appendix A4 and the wireframes in A8.</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b="1" dirty="0"/>
              <a:t>Speaker: Marwan (about 35 s)</a:t>
            </a:r>
          </a:p>
          <a:p>
            <a:r>
              <a:rPr lang="en-US" dirty="0"/>
              <a:t>To close, here is how the four parts fit together. Data moves in one direction: S1 stores energy readings, S2 turns them into analysis results, S3 turns those into recommendations, and S4 shows everything on the dashboard.</a:t>
            </a:r>
          </a:p>
          <a:p>
            <a:r>
              <a:rPr lang="en-US" dirty="0"/>
              <a:t>Each Django app writes only its own tables, and the other subsystems read that data through REST. That keeps the work split evenly and lets each of us test our part on its own.</a:t>
            </a:r>
          </a:p>
          <a:p>
            <a:r>
              <a:rPr lang="en-US" dirty="0"/>
              <a:t>The appendix holds all eighty requirements, the full wireframes and the endpoint list. Thank you, we are happy to take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DC8D5-6E9A-7B10-7324-058B48D41A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ar-EG"/>
          </a:p>
        </p:txBody>
      </p:sp>
      <p:sp>
        <p:nvSpPr>
          <p:cNvPr id="3" name="Subtitle 2">
            <a:extLst>
              <a:ext uri="{FF2B5EF4-FFF2-40B4-BE49-F238E27FC236}">
                <a16:creationId xmlns:a16="http://schemas.microsoft.com/office/drawing/2014/main" id="{8C422F0C-BCF4-7C42-FA7F-1FDA4706CD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ar-EG"/>
          </a:p>
        </p:txBody>
      </p:sp>
      <p:sp>
        <p:nvSpPr>
          <p:cNvPr id="4" name="Date Placeholder 3">
            <a:extLst>
              <a:ext uri="{FF2B5EF4-FFF2-40B4-BE49-F238E27FC236}">
                <a16:creationId xmlns:a16="http://schemas.microsoft.com/office/drawing/2014/main" id="{727E4555-07BA-AFEF-E360-B2D8D9B69D6A}"/>
              </a:ext>
            </a:extLst>
          </p:cNvPr>
          <p:cNvSpPr>
            <a:spLocks noGrp="1"/>
          </p:cNvSpPr>
          <p:nvPr>
            <p:ph type="dt" sz="half" idx="10"/>
          </p:nvPr>
        </p:nvSpPr>
        <p:spPr/>
        <p:txBody>
          <a:bodyPr/>
          <a:lstStyle/>
          <a:p>
            <a:fld id="{EF104D38-4717-483B-9A1D-A8A261E2BD03}" type="datetimeFigureOut">
              <a:rPr lang="ar-EG" smtClean="0"/>
              <a:t>01/05/1448</a:t>
            </a:fld>
            <a:endParaRPr lang="ar-EG"/>
          </a:p>
        </p:txBody>
      </p:sp>
      <p:sp>
        <p:nvSpPr>
          <p:cNvPr id="5" name="Footer Placeholder 4">
            <a:extLst>
              <a:ext uri="{FF2B5EF4-FFF2-40B4-BE49-F238E27FC236}">
                <a16:creationId xmlns:a16="http://schemas.microsoft.com/office/drawing/2014/main" id="{CC571BFB-381F-B707-0C70-3E706D617296}"/>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30771BAE-2502-82C9-CA6A-809C100E1D70}"/>
              </a:ext>
            </a:extLst>
          </p:cNvPr>
          <p:cNvSpPr>
            <a:spLocks noGrp="1"/>
          </p:cNvSpPr>
          <p:nvPr>
            <p:ph type="sldNum" sz="quarter" idx="12"/>
          </p:nvPr>
        </p:nvSpPr>
        <p:spPr/>
        <p:txBody>
          <a:bodyPr/>
          <a:lstStyle/>
          <a:p>
            <a:fld id="{E5246CF5-B9E8-4A61-86F1-DE2ACA4215D1}" type="slidenum">
              <a:rPr lang="ar-EG" smtClean="0"/>
              <a:t>‹#›</a:t>
            </a:fld>
            <a:endParaRPr lang="ar-EG"/>
          </a:p>
        </p:txBody>
      </p:sp>
    </p:spTree>
    <p:extLst>
      <p:ext uri="{BB962C8B-B14F-4D97-AF65-F5344CB8AC3E}">
        <p14:creationId xmlns:p14="http://schemas.microsoft.com/office/powerpoint/2010/main" val="321057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6AF15-2EFA-DA7E-8FB7-DFC642743841}"/>
              </a:ext>
            </a:extLst>
          </p:cNvPr>
          <p:cNvSpPr>
            <a:spLocks noGrp="1"/>
          </p:cNvSpPr>
          <p:nvPr>
            <p:ph type="title"/>
          </p:nvPr>
        </p:nvSpPr>
        <p:spPr/>
        <p:txBody>
          <a:bodyPr/>
          <a:lstStyle/>
          <a:p>
            <a:r>
              <a:rPr lang="en-US"/>
              <a:t>Click to edit Master title style</a:t>
            </a:r>
            <a:endParaRPr lang="ar-EG"/>
          </a:p>
        </p:txBody>
      </p:sp>
      <p:sp>
        <p:nvSpPr>
          <p:cNvPr id="3" name="Content Placeholder 2">
            <a:extLst>
              <a:ext uri="{FF2B5EF4-FFF2-40B4-BE49-F238E27FC236}">
                <a16:creationId xmlns:a16="http://schemas.microsoft.com/office/drawing/2014/main" id="{F84DE8C7-5623-0243-19FF-A4509496ED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a:extLst>
              <a:ext uri="{FF2B5EF4-FFF2-40B4-BE49-F238E27FC236}">
                <a16:creationId xmlns:a16="http://schemas.microsoft.com/office/drawing/2014/main" id="{E9886EAB-B3DB-B722-0110-D889EC0B678D}"/>
              </a:ext>
            </a:extLst>
          </p:cNvPr>
          <p:cNvSpPr>
            <a:spLocks noGrp="1"/>
          </p:cNvSpPr>
          <p:nvPr>
            <p:ph type="dt" sz="half" idx="10"/>
          </p:nvPr>
        </p:nvSpPr>
        <p:spPr/>
        <p:txBody>
          <a:bodyPr/>
          <a:lstStyle/>
          <a:p>
            <a:fld id="{EF104D38-4717-483B-9A1D-A8A261E2BD03}" type="datetimeFigureOut">
              <a:rPr lang="ar-EG" smtClean="0"/>
              <a:t>01/05/1448</a:t>
            </a:fld>
            <a:endParaRPr lang="ar-EG"/>
          </a:p>
        </p:txBody>
      </p:sp>
      <p:sp>
        <p:nvSpPr>
          <p:cNvPr id="5" name="Footer Placeholder 4">
            <a:extLst>
              <a:ext uri="{FF2B5EF4-FFF2-40B4-BE49-F238E27FC236}">
                <a16:creationId xmlns:a16="http://schemas.microsoft.com/office/drawing/2014/main" id="{3E294021-5AF5-739D-7728-441BDBE9198A}"/>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378F957E-F849-3C69-5358-433A1CAFFD99}"/>
              </a:ext>
            </a:extLst>
          </p:cNvPr>
          <p:cNvSpPr>
            <a:spLocks noGrp="1"/>
          </p:cNvSpPr>
          <p:nvPr>
            <p:ph type="sldNum" sz="quarter" idx="12"/>
          </p:nvPr>
        </p:nvSpPr>
        <p:spPr/>
        <p:txBody>
          <a:bodyPr/>
          <a:lstStyle/>
          <a:p>
            <a:fld id="{E5246CF5-B9E8-4A61-86F1-DE2ACA4215D1}" type="slidenum">
              <a:rPr lang="ar-EG" smtClean="0"/>
              <a:t>‹#›</a:t>
            </a:fld>
            <a:endParaRPr lang="ar-EG"/>
          </a:p>
        </p:txBody>
      </p:sp>
    </p:spTree>
    <p:extLst>
      <p:ext uri="{BB962C8B-B14F-4D97-AF65-F5344CB8AC3E}">
        <p14:creationId xmlns:p14="http://schemas.microsoft.com/office/powerpoint/2010/main" val="1864342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E71A5-AC33-B2D4-4C0D-0BC7B8D513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ar-EG"/>
          </a:p>
        </p:txBody>
      </p:sp>
      <p:sp>
        <p:nvSpPr>
          <p:cNvPr id="3" name="Text Placeholder 2">
            <a:extLst>
              <a:ext uri="{FF2B5EF4-FFF2-40B4-BE49-F238E27FC236}">
                <a16:creationId xmlns:a16="http://schemas.microsoft.com/office/drawing/2014/main" id="{C60FF9AA-5C64-24C8-4CF3-0D503DBB3B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9A12ED-B001-3910-7575-4AB6141CAC73}"/>
              </a:ext>
            </a:extLst>
          </p:cNvPr>
          <p:cNvSpPr>
            <a:spLocks noGrp="1"/>
          </p:cNvSpPr>
          <p:nvPr>
            <p:ph type="dt" sz="half" idx="10"/>
          </p:nvPr>
        </p:nvSpPr>
        <p:spPr/>
        <p:txBody>
          <a:bodyPr/>
          <a:lstStyle/>
          <a:p>
            <a:fld id="{EF104D38-4717-483B-9A1D-A8A261E2BD03}" type="datetimeFigureOut">
              <a:rPr lang="ar-EG" smtClean="0"/>
              <a:t>01/05/1448</a:t>
            </a:fld>
            <a:endParaRPr lang="ar-EG"/>
          </a:p>
        </p:txBody>
      </p:sp>
      <p:sp>
        <p:nvSpPr>
          <p:cNvPr id="5" name="Footer Placeholder 4">
            <a:extLst>
              <a:ext uri="{FF2B5EF4-FFF2-40B4-BE49-F238E27FC236}">
                <a16:creationId xmlns:a16="http://schemas.microsoft.com/office/drawing/2014/main" id="{E6A83217-6614-BF74-4BF1-9352568DB274}"/>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BD62EA47-171C-EEA4-4F4A-8E3C905FE196}"/>
              </a:ext>
            </a:extLst>
          </p:cNvPr>
          <p:cNvSpPr>
            <a:spLocks noGrp="1"/>
          </p:cNvSpPr>
          <p:nvPr>
            <p:ph type="sldNum" sz="quarter" idx="12"/>
          </p:nvPr>
        </p:nvSpPr>
        <p:spPr/>
        <p:txBody>
          <a:bodyPr/>
          <a:lstStyle/>
          <a:p>
            <a:fld id="{E5246CF5-B9E8-4A61-86F1-DE2ACA4215D1}" type="slidenum">
              <a:rPr lang="ar-EG" smtClean="0"/>
              <a:t>‹#›</a:t>
            </a:fld>
            <a:endParaRPr lang="ar-EG"/>
          </a:p>
        </p:txBody>
      </p:sp>
    </p:spTree>
    <p:extLst>
      <p:ext uri="{BB962C8B-B14F-4D97-AF65-F5344CB8AC3E}">
        <p14:creationId xmlns:p14="http://schemas.microsoft.com/office/powerpoint/2010/main" val="3412207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C6ECE-476A-FAEE-A7E0-640238A13F25}"/>
              </a:ext>
            </a:extLst>
          </p:cNvPr>
          <p:cNvSpPr>
            <a:spLocks noGrp="1"/>
          </p:cNvSpPr>
          <p:nvPr>
            <p:ph type="title"/>
          </p:nvPr>
        </p:nvSpPr>
        <p:spPr/>
        <p:txBody>
          <a:bodyPr/>
          <a:lstStyle/>
          <a:p>
            <a:r>
              <a:rPr lang="en-US"/>
              <a:t>Click to edit Master title style</a:t>
            </a:r>
            <a:endParaRPr lang="ar-EG"/>
          </a:p>
        </p:txBody>
      </p:sp>
      <p:sp>
        <p:nvSpPr>
          <p:cNvPr id="3" name="Content Placeholder 2">
            <a:extLst>
              <a:ext uri="{FF2B5EF4-FFF2-40B4-BE49-F238E27FC236}">
                <a16:creationId xmlns:a16="http://schemas.microsoft.com/office/drawing/2014/main" id="{47040ED4-AB0A-4140-2005-E9553671C9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Content Placeholder 3">
            <a:extLst>
              <a:ext uri="{FF2B5EF4-FFF2-40B4-BE49-F238E27FC236}">
                <a16:creationId xmlns:a16="http://schemas.microsoft.com/office/drawing/2014/main" id="{26043911-2441-6613-B27F-7587F1A4B7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Date Placeholder 4">
            <a:extLst>
              <a:ext uri="{FF2B5EF4-FFF2-40B4-BE49-F238E27FC236}">
                <a16:creationId xmlns:a16="http://schemas.microsoft.com/office/drawing/2014/main" id="{A7D6CB54-A01E-250B-976A-0343345F99CA}"/>
              </a:ext>
            </a:extLst>
          </p:cNvPr>
          <p:cNvSpPr>
            <a:spLocks noGrp="1"/>
          </p:cNvSpPr>
          <p:nvPr>
            <p:ph type="dt" sz="half" idx="10"/>
          </p:nvPr>
        </p:nvSpPr>
        <p:spPr/>
        <p:txBody>
          <a:bodyPr/>
          <a:lstStyle/>
          <a:p>
            <a:fld id="{EF104D38-4717-483B-9A1D-A8A261E2BD03}" type="datetimeFigureOut">
              <a:rPr lang="ar-EG" smtClean="0"/>
              <a:t>01/05/1448</a:t>
            </a:fld>
            <a:endParaRPr lang="ar-EG"/>
          </a:p>
        </p:txBody>
      </p:sp>
      <p:sp>
        <p:nvSpPr>
          <p:cNvPr id="6" name="Footer Placeholder 5">
            <a:extLst>
              <a:ext uri="{FF2B5EF4-FFF2-40B4-BE49-F238E27FC236}">
                <a16:creationId xmlns:a16="http://schemas.microsoft.com/office/drawing/2014/main" id="{20E48BD3-5FA6-6AA4-FAD8-6A42063DC293}"/>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B85A1F60-DFC4-E2F5-1293-4C541EB7E4B9}"/>
              </a:ext>
            </a:extLst>
          </p:cNvPr>
          <p:cNvSpPr>
            <a:spLocks noGrp="1"/>
          </p:cNvSpPr>
          <p:nvPr>
            <p:ph type="sldNum" sz="quarter" idx="12"/>
          </p:nvPr>
        </p:nvSpPr>
        <p:spPr/>
        <p:txBody>
          <a:bodyPr/>
          <a:lstStyle/>
          <a:p>
            <a:fld id="{E5246CF5-B9E8-4A61-86F1-DE2ACA4215D1}" type="slidenum">
              <a:rPr lang="ar-EG" smtClean="0"/>
              <a:t>‹#›</a:t>
            </a:fld>
            <a:endParaRPr lang="ar-EG"/>
          </a:p>
        </p:txBody>
      </p:sp>
    </p:spTree>
    <p:extLst>
      <p:ext uri="{BB962C8B-B14F-4D97-AF65-F5344CB8AC3E}">
        <p14:creationId xmlns:p14="http://schemas.microsoft.com/office/powerpoint/2010/main" val="2898220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9A0A8-B982-0078-1586-3433F53FEC75}"/>
              </a:ext>
            </a:extLst>
          </p:cNvPr>
          <p:cNvSpPr>
            <a:spLocks noGrp="1"/>
          </p:cNvSpPr>
          <p:nvPr>
            <p:ph type="title"/>
          </p:nvPr>
        </p:nvSpPr>
        <p:spPr>
          <a:xfrm>
            <a:off x="839788" y="365125"/>
            <a:ext cx="10515600" cy="1325563"/>
          </a:xfrm>
        </p:spPr>
        <p:txBody>
          <a:bodyPr/>
          <a:lstStyle/>
          <a:p>
            <a:r>
              <a:rPr lang="en-US"/>
              <a:t>Click to edit Master title style</a:t>
            </a:r>
            <a:endParaRPr lang="ar-EG"/>
          </a:p>
        </p:txBody>
      </p:sp>
      <p:sp>
        <p:nvSpPr>
          <p:cNvPr id="3" name="Text Placeholder 2">
            <a:extLst>
              <a:ext uri="{FF2B5EF4-FFF2-40B4-BE49-F238E27FC236}">
                <a16:creationId xmlns:a16="http://schemas.microsoft.com/office/drawing/2014/main" id="{0EACB991-5FB0-5F84-B91E-BCBF7C0194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CC62DD-E291-3981-1CDE-1A9C3E855F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Text Placeholder 4">
            <a:extLst>
              <a:ext uri="{FF2B5EF4-FFF2-40B4-BE49-F238E27FC236}">
                <a16:creationId xmlns:a16="http://schemas.microsoft.com/office/drawing/2014/main" id="{E43EDFA2-2E17-C61E-EFFD-6B854970AF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1EB5D5-01BA-9397-C127-7B1FF98726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7" name="Date Placeholder 6">
            <a:extLst>
              <a:ext uri="{FF2B5EF4-FFF2-40B4-BE49-F238E27FC236}">
                <a16:creationId xmlns:a16="http://schemas.microsoft.com/office/drawing/2014/main" id="{EB9A9F95-169D-932A-BC5E-760B13941D79}"/>
              </a:ext>
            </a:extLst>
          </p:cNvPr>
          <p:cNvSpPr>
            <a:spLocks noGrp="1"/>
          </p:cNvSpPr>
          <p:nvPr>
            <p:ph type="dt" sz="half" idx="10"/>
          </p:nvPr>
        </p:nvSpPr>
        <p:spPr/>
        <p:txBody>
          <a:bodyPr/>
          <a:lstStyle/>
          <a:p>
            <a:fld id="{EF104D38-4717-483B-9A1D-A8A261E2BD03}" type="datetimeFigureOut">
              <a:rPr lang="ar-EG" smtClean="0"/>
              <a:t>01/05/1448</a:t>
            </a:fld>
            <a:endParaRPr lang="ar-EG"/>
          </a:p>
        </p:txBody>
      </p:sp>
      <p:sp>
        <p:nvSpPr>
          <p:cNvPr id="8" name="Footer Placeholder 7">
            <a:extLst>
              <a:ext uri="{FF2B5EF4-FFF2-40B4-BE49-F238E27FC236}">
                <a16:creationId xmlns:a16="http://schemas.microsoft.com/office/drawing/2014/main" id="{DD3ABCF9-F9B7-B40F-4FFB-96F23F13E734}"/>
              </a:ext>
            </a:extLst>
          </p:cNvPr>
          <p:cNvSpPr>
            <a:spLocks noGrp="1"/>
          </p:cNvSpPr>
          <p:nvPr>
            <p:ph type="ftr" sz="quarter" idx="11"/>
          </p:nvPr>
        </p:nvSpPr>
        <p:spPr/>
        <p:txBody>
          <a:bodyPr/>
          <a:lstStyle/>
          <a:p>
            <a:endParaRPr lang="ar-EG"/>
          </a:p>
        </p:txBody>
      </p:sp>
      <p:sp>
        <p:nvSpPr>
          <p:cNvPr id="9" name="Slide Number Placeholder 8">
            <a:extLst>
              <a:ext uri="{FF2B5EF4-FFF2-40B4-BE49-F238E27FC236}">
                <a16:creationId xmlns:a16="http://schemas.microsoft.com/office/drawing/2014/main" id="{FF218C40-BAAA-00BE-7C83-E47EF8B71B49}"/>
              </a:ext>
            </a:extLst>
          </p:cNvPr>
          <p:cNvSpPr>
            <a:spLocks noGrp="1"/>
          </p:cNvSpPr>
          <p:nvPr>
            <p:ph type="sldNum" sz="quarter" idx="12"/>
          </p:nvPr>
        </p:nvSpPr>
        <p:spPr/>
        <p:txBody>
          <a:bodyPr/>
          <a:lstStyle/>
          <a:p>
            <a:fld id="{E5246CF5-B9E8-4A61-86F1-DE2ACA4215D1}" type="slidenum">
              <a:rPr lang="ar-EG" smtClean="0"/>
              <a:t>‹#›</a:t>
            </a:fld>
            <a:endParaRPr lang="ar-EG"/>
          </a:p>
        </p:txBody>
      </p:sp>
    </p:spTree>
    <p:extLst>
      <p:ext uri="{BB962C8B-B14F-4D97-AF65-F5344CB8AC3E}">
        <p14:creationId xmlns:p14="http://schemas.microsoft.com/office/powerpoint/2010/main" val="439327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8EDB1-FFF2-7B19-3D38-628C88BFF617}"/>
              </a:ext>
            </a:extLst>
          </p:cNvPr>
          <p:cNvSpPr>
            <a:spLocks noGrp="1"/>
          </p:cNvSpPr>
          <p:nvPr>
            <p:ph type="title"/>
          </p:nvPr>
        </p:nvSpPr>
        <p:spPr>
          <a:xfrm>
            <a:off x="457200" y="419100"/>
            <a:ext cx="11277600" cy="647700"/>
          </a:xfrm>
        </p:spPr>
        <p:txBody>
          <a:bodyPr lIns="0" anchor="b"/>
          <a:lstStyle/>
          <a:p>
            <a:r>
              <a:rPr lang="en-US"/>
              <a:t>Click to edit Master title style</a:t>
            </a:r>
            <a:endParaRPr lang="ar-EG"/>
          </a:p>
        </p:txBody>
      </p:sp>
      <p:sp>
        <p:nvSpPr>
          <p:cNvPr id="3" name="Date Placeholder 2">
            <a:extLst>
              <a:ext uri="{FF2B5EF4-FFF2-40B4-BE49-F238E27FC236}">
                <a16:creationId xmlns:a16="http://schemas.microsoft.com/office/drawing/2014/main" id="{28FAE721-0B8B-09D7-183C-3D5F1BF555B0}"/>
              </a:ext>
            </a:extLst>
          </p:cNvPr>
          <p:cNvSpPr>
            <a:spLocks noGrp="1"/>
          </p:cNvSpPr>
          <p:nvPr>
            <p:ph type="dt" sz="half" idx="10"/>
          </p:nvPr>
        </p:nvSpPr>
        <p:spPr/>
        <p:txBody>
          <a:bodyPr/>
          <a:lstStyle/>
          <a:p>
            <a:fld id="{EF104D38-4717-483B-9A1D-A8A261E2BD03}" type="datetimeFigureOut">
              <a:rPr lang="ar-EG" smtClean="0"/>
              <a:t>01/05/1448</a:t>
            </a:fld>
            <a:endParaRPr lang="ar-EG"/>
          </a:p>
        </p:txBody>
      </p:sp>
      <p:sp>
        <p:nvSpPr>
          <p:cNvPr id="4" name="Footer Placeholder 3">
            <a:extLst>
              <a:ext uri="{FF2B5EF4-FFF2-40B4-BE49-F238E27FC236}">
                <a16:creationId xmlns:a16="http://schemas.microsoft.com/office/drawing/2014/main" id="{CC9E38D4-9325-5AA1-8493-096E00742BFD}"/>
              </a:ext>
            </a:extLst>
          </p:cNvPr>
          <p:cNvSpPr>
            <a:spLocks noGrp="1"/>
          </p:cNvSpPr>
          <p:nvPr>
            <p:ph type="ftr" sz="quarter" idx="11"/>
          </p:nvPr>
        </p:nvSpPr>
        <p:spPr/>
        <p:txBody>
          <a:bodyPr/>
          <a:lstStyle/>
          <a:p>
            <a:endParaRPr lang="ar-EG"/>
          </a:p>
        </p:txBody>
      </p:sp>
      <p:sp>
        <p:nvSpPr>
          <p:cNvPr id="5" name="Slide Number Placeholder 4">
            <a:extLst>
              <a:ext uri="{FF2B5EF4-FFF2-40B4-BE49-F238E27FC236}">
                <a16:creationId xmlns:a16="http://schemas.microsoft.com/office/drawing/2014/main" id="{FAAA310D-8E61-7443-4A1B-9227609A4449}"/>
              </a:ext>
            </a:extLst>
          </p:cNvPr>
          <p:cNvSpPr>
            <a:spLocks noGrp="1"/>
          </p:cNvSpPr>
          <p:nvPr>
            <p:ph type="sldNum" sz="quarter" idx="12"/>
          </p:nvPr>
        </p:nvSpPr>
        <p:spPr/>
        <p:txBody>
          <a:bodyPr/>
          <a:lstStyle/>
          <a:p>
            <a:fld id="{E5246CF5-B9E8-4A61-86F1-DE2ACA4215D1}" type="slidenum">
              <a:rPr lang="ar-EG" smtClean="0"/>
              <a:t>‹#›</a:t>
            </a:fld>
            <a:endParaRPr lang="ar-EG"/>
          </a:p>
        </p:txBody>
      </p:sp>
    </p:spTree>
    <p:extLst>
      <p:ext uri="{BB962C8B-B14F-4D97-AF65-F5344CB8AC3E}">
        <p14:creationId xmlns:p14="http://schemas.microsoft.com/office/powerpoint/2010/main" val="1173094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9B9B5E-4092-8908-2701-EF25A7F32AF4}"/>
              </a:ext>
            </a:extLst>
          </p:cNvPr>
          <p:cNvSpPr>
            <a:spLocks noGrp="1"/>
          </p:cNvSpPr>
          <p:nvPr>
            <p:ph type="dt" sz="half" idx="10"/>
          </p:nvPr>
        </p:nvSpPr>
        <p:spPr/>
        <p:txBody>
          <a:bodyPr/>
          <a:lstStyle/>
          <a:p>
            <a:fld id="{EF104D38-4717-483B-9A1D-A8A261E2BD03}" type="datetimeFigureOut">
              <a:rPr lang="ar-EG" smtClean="0"/>
              <a:t>01/05/1448</a:t>
            </a:fld>
            <a:endParaRPr lang="ar-EG"/>
          </a:p>
        </p:txBody>
      </p:sp>
      <p:sp>
        <p:nvSpPr>
          <p:cNvPr id="3" name="Footer Placeholder 2">
            <a:extLst>
              <a:ext uri="{FF2B5EF4-FFF2-40B4-BE49-F238E27FC236}">
                <a16:creationId xmlns:a16="http://schemas.microsoft.com/office/drawing/2014/main" id="{08125479-E59A-88FB-B1FA-B4639D17D57F}"/>
              </a:ext>
            </a:extLst>
          </p:cNvPr>
          <p:cNvSpPr>
            <a:spLocks noGrp="1"/>
          </p:cNvSpPr>
          <p:nvPr>
            <p:ph type="ftr" sz="quarter" idx="11"/>
          </p:nvPr>
        </p:nvSpPr>
        <p:spPr/>
        <p:txBody>
          <a:bodyPr/>
          <a:lstStyle/>
          <a:p>
            <a:endParaRPr lang="ar-EG"/>
          </a:p>
        </p:txBody>
      </p:sp>
      <p:sp>
        <p:nvSpPr>
          <p:cNvPr id="4" name="Slide Number Placeholder 3">
            <a:extLst>
              <a:ext uri="{FF2B5EF4-FFF2-40B4-BE49-F238E27FC236}">
                <a16:creationId xmlns:a16="http://schemas.microsoft.com/office/drawing/2014/main" id="{D55F1CF9-2B05-BA8C-A6D1-54CDA44B10B6}"/>
              </a:ext>
            </a:extLst>
          </p:cNvPr>
          <p:cNvSpPr>
            <a:spLocks noGrp="1"/>
          </p:cNvSpPr>
          <p:nvPr>
            <p:ph type="sldNum" sz="quarter" idx="12"/>
          </p:nvPr>
        </p:nvSpPr>
        <p:spPr/>
        <p:txBody>
          <a:bodyPr/>
          <a:lstStyle/>
          <a:p>
            <a:fld id="{E5246CF5-B9E8-4A61-86F1-DE2ACA4215D1}" type="slidenum">
              <a:rPr lang="ar-EG" smtClean="0"/>
              <a:t>‹#›</a:t>
            </a:fld>
            <a:endParaRPr lang="ar-EG"/>
          </a:p>
        </p:txBody>
      </p:sp>
    </p:spTree>
    <p:extLst>
      <p:ext uri="{BB962C8B-B14F-4D97-AF65-F5344CB8AC3E}">
        <p14:creationId xmlns:p14="http://schemas.microsoft.com/office/powerpoint/2010/main" val="3608134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3699-4DC2-C20E-4F06-B1F805F756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EG"/>
          </a:p>
        </p:txBody>
      </p:sp>
      <p:sp>
        <p:nvSpPr>
          <p:cNvPr id="3" name="Content Placeholder 2">
            <a:extLst>
              <a:ext uri="{FF2B5EF4-FFF2-40B4-BE49-F238E27FC236}">
                <a16:creationId xmlns:a16="http://schemas.microsoft.com/office/drawing/2014/main" id="{730A2F30-3E0A-F19D-B3BC-38AF0C4A51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Text Placeholder 3">
            <a:extLst>
              <a:ext uri="{FF2B5EF4-FFF2-40B4-BE49-F238E27FC236}">
                <a16:creationId xmlns:a16="http://schemas.microsoft.com/office/drawing/2014/main" id="{A70DE44A-79D8-5C0B-3A89-E5CB7D6C14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DF2C42-7437-1980-17F8-3230BCFF40D5}"/>
              </a:ext>
            </a:extLst>
          </p:cNvPr>
          <p:cNvSpPr>
            <a:spLocks noGrp="1"/>
          </p:cNvSpPr>
          <p:nvPr>
            <p:ph type="dt" sz="half" idx="10"/>
          </p:nvPr>
        </p:nvSpPr>
        <p:spPr/>
        <p:txBody>
          <a:bodyPr/>
          <a:lstStyle/>
          <a:p>
            <a:fld id="{EF104D38-4717-483B-9A1D-A8A261E2BD03}" type="datetimeFigureOut">
              <a:rPr lang="ar-EG" smtClean="0"/>
              <a:t>01/05/1448</a:t>
            </a:fld>
            <a:endParaRPr lang="ar-EG"/>
          </a:p>
        </p:txBody>
      </p:sp>
      <p:sp>
        <p:nvSpPr>
          <p:cNvPr id="6" name="Footer Placeholder 5">
            <a:extLst>
              <a:ext uri="{FF2B5EF4-FFF2-40B4-BE49-F238E27FC236}">
                <a16:creationId xmlns:a16="http://schemas.microsoft.com/office/drawing/2014/main" id="{85225844-9193-050F-60AA-DF7CC0015234}"/>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39A682E8-626A-E7D2-AFD4-3C1F69F8ACAD}"/>
              </a:ext>
            </a:extLst>
          </p:cNvPr>
          <p:cNvSpPr>
            <a:spLocks noGrp="1"/>
          </p:cNvSpPr>
          <p:nvPr>
            <p:ph type="sldNum" sz="quarter" idx="12"/>
          </p:nvPr>
        </p:nvSpPr>
        <p:spPr/>
        <p:txBody>
          <a:bodyPr/>
          <a:lstStyle/>
          <a:p>
            <a:fld id="{E5246CF5-B9E8-4A61-86F1-DE2ACA4215D1}" type="slidenum">
              <a:rPr lang="ar-EG" smtClean="0"/>
              <a:t>‹#›</a:t>
            </a:fld>
            <a:endParaRPr lang="ar-EG"/>
          </a:p>
        </p:txBody>
      </p:sp>
    </p:spTree>
    <p:extLst>
      <p:ext uri="{BB962C8B-B14F-4D97-AF65-F5344CB8AC3E}">
        <p14:creationId xmlns:p14="http://schemas.microsoft.com/office/powerpoint/2010/main" val="3427916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82A28-86E5-2D89-5322-01CB6C7318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EG"/>
          </a:p>
        </p:txBody>
      </p:sp>
      <p:sp>
        <p:nvSpPr>
          <p:cNvPr id="3" name="Picture Placeholder 2">
            <a:extLst>
              <a:ext uri="{FF2B5EF4-FFF2-40B4-BE49-F238E27FC236}">
                <a16:creationId xmlns:a16="http://schemas.microsoft.com/office/drawing/2014/main" id="{9E8C9E6D-7730-25CC-DDE4-C397EFE8AE8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EG"/>
          </a:p>
        </p:txBody>
      </p:sp>
      <p:sp>
        <p:nvSpPr>
          <p:cNvPr id="4" name="Text Placeholder 3">
            <a:extLst>
              <a:ext uri="{FF2B5EF4-FFF2-40B4-BE49-F238E27FC236}">
                <a16:creationId xmlns:a16="http://schemas.microsoft.com/office/drawing/2014/main" id="{128CD516-12D4-4CC2-E3EA-3FBE6BBC0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68C2CB-371E-752F-DA58-701FA77A3F1A}"/>
              </a:ext>
            </a:extLst>
          </p:cNvPr>
          <p:cNvSpPr>
            <a:spLocks noGrp="1"/>
          </p:cNvSpPr>
          <p:nvPr>
            <p:ph type="dt" sz="half" idx="10"/>
          </p:nvPr>
        </p:nvSpPr>
        <p:spPr/>
        <p:txBody>
          <a:bodyPr/>
          <a:lstStyle/>
          <a:p>
            <a:fld id="{EF104D38-4717-483B-9A1D-A8A261E2BD03}" type="datetimeFigureOut">
              <a:rPr lang="ar-EG" smtClean="0"/>
              <a:t>01/05/1448</a:t>
            </a:fld>
            <a:endParaRPr lang="ar-EG"/>
          </a:p>
        </p:txBody>
      </p:sp>
      <p:sp>
        <p:nvSpPr>
          <p:cNvPr id="6" name="Footer Placeholder 5">
            <a:extLst>
              <a:ext uri="{FF2B5EF4-FFF2-40B4-BE49-F238E27FC236}">
                <a16:creationId xmlns:a16="http://schemas.microsoft.com/office/drawing/2014/main" id="{9F65BD13-86B9-1A59-0E91-AAE586391B35}"/>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0E675299-2500-CD2B-960A-1D6778CE9175}"/>
              </a:ext>
            </a:extLst>
          </p:cNvPr>
          <p:cNvSpPr>
            <a:spLocks noGrp="1"/>
          </p:cNvSpPr>
          <p:nvPr>
            <p:ph type="sldNum" sz="quarter" idx="12"/>
          </p:nvPr>
        </p:nvSpPr>
        <p:spPr/>
        <p:txBody>
          <a:bodyPr/>
          <a:lstStyle/>
          <a:p>
            <a:fld id="{E5246CF5-B9E8-4A61-86F1-DE2ACA4215D1}" type="slidenum">
              <a:rPr lang="ar-EG" smtClean="0"/>
              <a:t>‹#›</a:t>
            </a:fld>
            <a:endParaRPr lang="ar-EG"/>
          </a:p>
        </p:txBody>
      </p:sp>
    </p:spTree>
    <p:extLst>
      <p:ext uri="{BB962C8B-B14F-4D97-AF65-F5344CB8AC3E}">
        <p14:creationId xmlns:p14="http://schemas.microsoft.com/office/powerpoint/2010/main" val="826199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E6928-A66E-523B-4F63-FE90D1FD8C79}"/>
              </a:ext>
            </a:extLst>
          </p:cNvPr>
          <p:cNvSpPr>
            <a:spLocks noGrp="1"/>
          </p:cNvSpPr>
          <p:nvPr>
            <p:ph type="title"/>
          </p:nvPr>
        </p:nvSpPr>
        <p:spPr/>
        <p:txBody>
          <a:bodyPr/>
          <a:lstStyle/>
          <a:p>
            <a:r>
              <a:rPr lang="en-US"/>
              <a:t>Click to edit Master title style</a:t>
            </a:r>
            <a:endParaRPr lang="ar-EG"/>
          </a:p>
        </p:txBody>
      </p:sp>
      <p:sp>
        <p:nvSpPr>
          <p:cNvPr id="3" name="Vertical Text Placeholder 2">
            <a:extLst>
              <a:ext uri="{FF2B5EF4-FFF2-40B4-BE49-F238E27FC236}">
                <a16:creationId xmlns:a16="http://schemas.microsoft.com/office/drawing/2014/main" id="{2F1F0C7C-52E2-66EC-B48F-52FD5564A2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a:extLst>
              <a:ext uri="{FF2B5EF4-FFF2-40B4-BE49-F238E27FC236}">
                <a16:creationId xmlns:a16="http://schemas.microsoft.com/office/drawing/2014/main" id="{5373D86B-E32C-6F2B-F379-620838DE816E}"/>
              </a:ext>
            </a:extLst>
          </p:cNvPr>
          <p:cNvSpPr>
            <a:spLocks noGrp="1"/>
          </p:cNvSpPr>
          <p:nvPr>
            <p:ph type="dt" sz="half" idx="10"/>
          </p:nvPr>
        </p:nvSpPr>
        <p:spPr/>
        <p:txBody>
          <a:bodyPr/>
          <a:lstStyle/>
          <a:p>
            <a:fld id="{EF104D38-4717-483B-9A1D-A8A261E2BD03}" type="datetimeFigureOut">
              <a:rPr lang="ar-EG" smtClean="0"/>
              <a:t>01/05/1448</a:t>
            </a:fld>
            <a:endParaRPr lang="ar-EG"/>
          </a:p>
        </p:txBody>
      </p:sp>
      <p:sp>
        <p:nvSpPr>
          <p:cNvPr id="5" name="Footer Placeholder 4">
            <a:extLst>
              <a:ext uri="{FF2B5EF4-FFF2-40B4-BE49-F238E27FC236}">
                <a16:creationId xmlns:a16="http://schemas.microsoft.com/office/drawing/2014/main" id="{E4FC742A-CC5A-9822-EB70-3970D9C2D8C2}"/>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698B2941-4114-033E-227E-019467CE16D2}"/>
              </a:ext>
            </a:extLst>
          </p:cNvPr>
          <p:cNvSpPr>
            <a:spLocks noGrp="1"/>
          </p:cNvSpPr>
          <p:nvPr>
            <p:ph type="sldNum" sz="quarter" idx="12"/>
          </p:nvPr>
        </p:nvSpPr>
        <p:spPr/>
        <p:txBody>
          <a:bodyPr/>
          <a:lstStyle/>
          <a:p>
            <a:fld id="{E5246CF5-B9E8-4A61-86F1-DE2ACA4215D1}" type="slidenum">
              <a:rPr lang="ar-EG" smtClean="0"/>
              <a:t>‹#›</a:t>
            </a:fld>
            <a:endParaRPr lang="ar-EG"/>
          </a:p>
        </p:txBody>
      </p:sp>
    </p:spTree>
    <p:extLst>
      <p:ext uri="{BB962C8B-B14F-4D97-AF65-F5344CB8AC3E}">
        <p14:creationId xmlns:p14="http://schemas.microsoft.com/office/powerpoint/2010/main" val="409048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09AC73-002B-C1F3-1BF1-CF970B8B0B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ar-EG"/>
          </a:p>
        </p:txBody>
      </p:sp>
      <p:sp>
        <p:nvSpPr>
          <p:cNvPr id="3" name="Vertical Text Placeholder 2">
            <a:extLst>
              <a:ext uri="{FF2B5EF4-FFF2-40B4-BE49-F238E27FC236}">
                <a16:creationId xmlns:a16="http://schemas.microsoft.com/office/drawing/2014/main" id="{7FA70B0C-3F16-EF7E-A8E4-8988C84B2C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a:extLst>
              <a:ext uri="{FF2B5EF4-FFF2-40B4-BE49-F238E27FC236}">
                <a16:creationId xmlns:a16="http://schemas.microsoft.com/office/drawing/2014/main" id="{D3380CBE-1ED3-35E9-4547-18A9B3ABE81B}"/>
              </a:ext>
            </a:extLst>
          </p:cNvPr>
          <p:cNvSpPr>
            <a:spLocks noGrp="1"/>
          </p:cNvSpPr>
          <p:nvPr>
            <p:ph type="dt" sz="half" idx="10"/>
          </p:nvPr>
        </p:nvSpPr>
        <p:spPr/>
        <p:txBody>
          <a:bodyPr/>
          <a:lstStyle/>
          <a:p>
            <a:fld id="{EF104D38-4717-483B-9A1D-A8A261E2BD03}" type="datetimeFigureOut">
              <a:rPr lang="ar-EG" smtClean="0"/>
              <a:t>01/05/1448</a:t>
            </a:fld>
            <a:endParaRPr lang="ar-EG"/>
          </a:p>
        </p:txBody>
      </p:sp>
      <p:sp>
        <p:nvSpPr>
          <p:cNvPr id="5" name="Footer Placeholder 4">
            <a:extLst>
              <a:ext uri="{FF2B5EF4-FFF2-40B4-BE49-F238E27FC236}">
                <a16:creationId xmlns:a16="http://schemas.microsoft.com/office/drawing/2014/main" id="{34B47491-AAF6-80F1-6638-FBEB2DB42CEE}"/>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525B783B-2256-3AD7-A25F-23C822DC234C}"/>
              </a:ext>
            </a:extLst>
          </p:cNvPr>
          <p:cNvSpPr>
            <a:spLocks noGrp="1"/>
          </p:cNvSpPr>
          <p:nvPr>
            <p:ph type="sldNum" sz="quarter" idx="12"/>
          </p:nvPr>
        </p:nvSpPr>
        <p:spPr/>
        <p:txBody>
          <a:bodyPr/>
          <a:lstStyle/>
          <a:p>
            <a:fld id="{E5246CF5-B9E8-4A61-86F1-DE2ACA4215D1}" type="slidenum">
              <a:rPr lang="ar-EG" smtClean="0"/>
              <a:t>‹#›</a:t>
            </a:fld>
            <a:endParaRPr lang="ar-EG"/>
          </a:p>
        </p:txBody>
      </p:sp>
    </p:spTree>
    <p:extLst>
      <p:ext uri="{BB962C8B-B14F-4D97-AF65-F5344CB8AC3E}">
        <p14:creationId xmlns:p14="http://schemas.microsoft.com/office/powerpoint/2010/main" val="2684840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9D495B-8385-3D21-863C-6D85484A07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r-EG"/>
          </a:p>
        </p:txBody>
      </p:sp>
      <p:sp>
        <p:nvSpPr>
          <p:cNvPr id="3" name="Text Placeholder 2">
            <a:extLst>
              <a:ext uri="{FF2B5EF4-FFF2-40B4-BE49-F238E27FC236}">
                <a16:creationId xmlns:a16="http://schemas.microsoft.com/office/drawing/2014/main" id="{C5017ADA-FA39-3BC9-BD1D-8B52287024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a:extLst>
              <a:ext uri="{FF2B5EF4-FFF2-40B4-BE49-F238E27FC236}">
                <a16:creationId xmlns:a16="http://schemas.microsoft.com/office/drawing/2014/main" id="{9EEED305-0C67-533E-CC98-AAC57B8372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104D38-4717-483B-9A1D-A8A261E2BD03}" type="datetimeFigureOut">
              <a:rPr lang="ar-EG" smtClean="0"/>
              <a:t>01/05/1448</a:t>
            </a:fld>
            <a:endParaRPr lang="ar-EG"/>
          </a:p>
        </p:txBody>
      </p:sp>
      <p:sp>
        <p:nvSpPr>
          <p:cNvPr id="5" name="Footer Placeholder 4">
            <a:extLst>
              <a:ext uri="{FF2B5EF4-FFF2-40B4-BE49-F238E27FC236}">
                <a16:creationId xmlns:a16="http://schemas.microsoft.com/office/drawing/2014/main" id="{84905BFA-16A9-7BC3-4595-23C7E731E6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ar-EG"/>
          </a:p>
        </p:txBody>
      </p:sp>
      <p:sp>
        <p:nvSpPr>
          <p:cNvPr id="6" name="Slide Number Placeholder 5">
            <a:extLst>
              <a:ext uri="{FF2B5EF4-FFF2-40B4-BE49-F238E27FC236}">
                <a16:creationId xmlns:a16="http://schemas.microsoft.com/office/drawing/2014/main" id="{AF1DFB9F-43D8-80BB-471D-6980985FCC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246CF5-B9E8-4A61-86F1-DE2ACA4215D1}" type="slidenum">
              <a:rPr lang="ar-EG" smtClean="0"/>
              <a:t>‹#›</a:t>
            </a:fld>
            <a:endParaRPr lang="ar-EG"/>
          </a:p>
        </p:txBody>
      </p:sp>
    </p:spTree>
    <p:extLst>
      <p:ext uri="{BB962C8B-B14F-4D97-AF65-F5344CB8AC3E}">
        <p14:creationId xmlns:p14="http://schemas.microsoft.com/office/powerpoint/2010/main" val="139040644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F1DC2-4F9E-095C-BAC5-552A1B02CF2B}"/>
              </a:ext>
            </a:extLst>
          </p:cNvPr>
          <p:cNvSpPr>
            <a:spLocks noGrp="1"/>
          </p:cNvSpPr>
          <p:nvPr>
            <p:ph type="ctrTitle"/>
          </p:nvPr>
        </p:nvSpPr>
        <p:spPr>
          <a:xfrm>
            <a:off x="762000" y="1498600"/>
            <a:ext cx="10668000" cy="1524000"/>
          </a:xfrm>
        </p:spPr>
        <p:txBody>
          <a:bodyPr lIns="0" anchor="b"/>
          <a:lstStyle/>
          <a:p>
            <a:pPr algn="l"/>
            <a:r>
              <a:rPr lang="en-US" sz="4000" b="1" dirty="0"/>
              <a:t>AI-Powered Smart Energy Management System</a:t>
            </a:r>
          </a:p>
        </p:txBody>
      </p:sp>
      <p:sp>
        <p:nvSpPr>
          <p:cNvPr id="3" name="Subtitle 2">
            <a:extLst>
              <a:ext uri="{FF2B5EF4-FFF2-40B4-BE49-F238E27FC236}">
                <a16:creationId xmlns:a16="http://schemas.microsoft.com/office/drawing/2014/main" id="{1770764E-85BE-ABC5-5273-535810EE89CE}"/>
              </a:ext>
            </a:extLst>
          </p:cNvPr>
          <p:cNvSpPr>
            <a:spLocks noGrp="1"/>
          </p:cNvSpPr>
          <p:nvPr>
            <p:ph type="subTitle" idx="1"/>
          </p:nvPr>
        </p:nvSpPr>
        <p:spPr>
          <a:xfrm>
            <a:off x="762000" y="3149600"/>
            <a:ext cx="10668000" cy="762000"/>
          </a:xfrm>
        </p:spPr>
        <p:txBody>
          <a:bodyPr lIns="0"/>
          <a:lstStyle/>
          <a:p>
            <a:pPr marL="0" indent="0" algn="l">
              <a:buNone/>
            </a:pPr>
            <a:r>
              <a:rPr lang="en-US" sz="2000" dirty="0">
                <a:solidFill>
                  <a:srgbClr val="6B7579"/>
                </a:solidFill>
              </a:rPr>
              <a:t>AI-driven energy monitoring, analysis and sustainability coaching for buildings</a:t>
            </a:r>
          </a:p>
        </p:txBody>
      </p:sp>
      <p:sp>
        <p:nvSpPr>
          <p:cNvPr id="200" name="Shape 200"/>
          <p:cNvSpPr txBox="1"/>
          <p:nvPr/>
        </p:nvSpPr>
        <p:spPr>
          <a:xfrm>
            <a:off x="762000" y="1168400"/>
            <a:ext cx="7620000" cy="254000"/>
          </a:xfrm>
          <a:prstGeom prst="rect">
            <a:avLst/>
          </a:prstGeom>
          <a:noFill/>
          <a:ln>
            <a:noFill/>
          </a:ln>
        </p:spPr>
        <p:txBody>
          <a:bodyPr wrap="square" lIns="0" tIns="0" rIns="0" bIns="0" rtlCol="0" anchor="t">
            <a:noAutofit/>
          </a:bodyPr>
          <a:lstStyle/>
          <a:p>
            <a:pPr marL="0" indent="0" algn="l">
              <a:spcBef>
                <a:spcPts val="0"/>
              </a:spcBef>
              <a:buNone/>
            </a:pPr>
            <a:r>
              <a:rPr lang="en-US" sz="1300" b="1" dirty="0">
                <a:solidFill>
                  <a:srgbClr val="6B7579"/>
                </a:solidFill>
              </a:rPr>
              <a:t>CAPSTONE PROJECT · MILESTONE 2</a:t>
            </a:r>
            <a:endParaRPr lang="en-US" sz="1300" dirty="0"/>
          </a:p>
        </p:txBody>
      </p:sp>
      <p:cxnSp>
        <p:nvCxnSpPr>
          <p:cNvPr id="201" name="Line 201"/>
          <p:cNvCxnSpPr/>
          <p:nvPr/>
        </p:nvCxnSpPr>
        <p:spPr>
          <a:xfrm>
            <a:off x="762000" y="4191000"/>
            <a:ext cx="10668000" cy="0"/>
          </a:xfrm>
          <a:prstGeom prst="line">
            <a:avLst/>
          </a:prstGeom>
          <a:ln w="12700">
            <a:solidFill>
              <a:srgbClr val="E0E3E0"/>
            </a:solidFill>
          </a:ln>
        </p:spPr>
      </p:cxnSp>
      <p:sp>
        <p:nvSpPr>
          <p:cNvPr id="202" name="Shape 202"/>
          <p:cNvSpPr/>
          <p:nvPr/>
        </p:nvSpPr>
        <p:spPr>
          <a:xfrm>
            <a:off x="762000" y="4445000"/>
            <a:ext cx="50800" cy="584200"/>
          </a:xfrm>
          <a:prstGeom prst="rect">
            <a:avLst/>
          </a:prstGeom>
          <a:solidFill>
            <a:srgbClr val="2E6F95"/>
          </a:solidFill>
          <a:ln>
            <a:noFill/>
          </a:ln>
        </p:spPr>
        <p:txBody>
          <a:bodyPr wrap="square" lIns="50800" tIns="50800" rIns="50800" bIns="50800" rtlCol="0" anchor="t">
            <a:noAutofit/>
          </a:bodyPr>
          <a:lstStyle/>
          <a:p>
            <a:endParaRPr lang="en-US" dirty="0"/>
          </a:p>
        </p:txBody>
      </p:sp>
      <p:sp>
        <p:nvSpPr>
          <p:cNvPr id="203" name="Shape 203"/>
          <p:cNvSpPr txBox="1"/>
          <p:nvPr/>
        </p:nvSpPr>
        <p:spPr>
          <a:xfrm>
            <a:off x="914400" y="4419600"/>
            <a:ext cx="2489200" cy="812800"/>
          </a:xfrm>
          <a:prstGeom prst="rect">
            <a:avLst/>
          </a:prstGeom>
          <a:noFill/>
          <a:ln>
            <a:noFill/>
          </a:ln>
        </p:spPr>
        <p:txBody>
          <a:bodyPr wrap="square" lIns="0" tIns="0" rIns="0" bIns="0" rtlCol="0" anchor="t">
            <a:noAutofit/>
          </a:bodyPr>
          <a:lstStyle/>
          <a:p>
            <a:pPr marL="0" indent="0" algn="l">
              <a:spcBef>
                <a:spcPts val="0"/>
              </a:spcBef>
              <a:buNone/>
            </a:pPr>
            <a:r>
              <a:rPr lang="en-US" sz="1600" b="1" dirty="0">
                <a:solidFill>
                  <a:srgbClr val="1F2A2E"/>
                </a:solidFill>
                <a:latin typeface="+mj-lt"/>
              </a:rPr>
              <a:t>Shaon</a:t>
            </a:r>
            <a:endParaRPr lang="en-US" sz="1600" dirty="0"/>
          </a:p>
          <a:p>
            <a:pPr marL="0" indent="0" algn="l">
              <a:spcBef>
                <a:spcPts val="200"/>
              </a:spcBef>
              <a:buNone/>
            </a:pPr>
            <a:r>
              <a:rPr lang="en-US" sz="1300" dirty="0">
                <a:solidFill>
                  <a:srgbClr val="6B7579"/>
                </a:solidFill>
              </a:rPr>
              <a:t>S1 Energy Monitoring &amp; Data Management</a:t>
            </a:r>
            <a:endParaRPr lang="en-US" sz="1300" dirty="0"/>
          </a:p>
        </p:txBody>
      </p:sp>
      <p:sp>
        <p:nvSpPr>
          <p:cNvPr id="204" name="Shape 204"/>
          <p:cNvSpPr/>
          <p:nvPr/>
        </p:nvSpPr>
        <p:spPr>
          <a:xfrm>
            <a:off x="3454400" y="4445000"/>
            <a:ext cx="50800" cy="584200"/>
          </a:xfrm>
          <a:prstGeom prst="rect">
            <a:avLst/>
          </a:prstGeom>
          <a:solidFill>
            <a:srgbClr val="0F7B6C"/>
          </a:solidFill>
          <a:ln>
            <a:noFill/>
          </a:ln>
        </p:spPr>
        <p:txBody>
          <a:bodyPr wrap="square" lIns="50800" tIns="50800" rIns="50800" bIns="50800" rtlCol="0" anchor="t">
            <a:noAutofit/>
          </a:bodyPr>
          <a:lstStyle/>
          <a:p>
            <a:endParaRPr lang="en-US" dirty="0"/>
          </a:p>
        </p:txBody>
      </p:sp>
      <p:sp>
        <p:nvSpPr>
          <p:cNvPr id="205" name="Shape 205"/>
          <p:cNvSpPr txBox="1"/>
          <p:nvPr/>
        </p:nvSpPr>
        <p:spPr>
          <a:xfrm>
            <a:off x="3606800" y="4419600"/>
            <a:ext cx="2489200" cy="812800"/>
          </a:xfrm>
          <a:prstGeom prst="rect">
            <a:avLst/>
          </a:prstGeom>
          <a:noFill/>
          <a:ln>
            <a:noFill/>
          </a:ln>
        </p:spPr>
        <p:txBody>
          <a:bodyPr wrap="square" lIns="0" tIns="0" rIns="0" bIns="0" rtlCol="0" anchor="t">
            <a:noAutofit/>
          </a:bodyPr>
          <a:lstStyle/>
          <a:p>
            <a:pPr marL="0" indent="0" algn="l">
              <a:spcBef>
                <a:spcPts val="0"/>
              </a:spcBef>
              <a:buNone/>
            </a:pPr>
            <a:r>
              <a:rPr lang="en-US" sz="1600" b="1" dirty="0">
                <a:solidFill>
                  <a:srgbClr val="1F2A2E"/>
                </a:solidFill>
                <a:latin typeface="+mj-lt"/>
              </a:rPr>
              <a:t>Ziad</a:t>
            </a:r>
            <a:endParaRPr lang="en-US" sz="1600" dirty="0"/>
          </a:p>
          <a:p>
            <a:pPr marL="0" indent="0" algn="l">
              <a:spcBef>
                <a:spcPts val="200"/>
              </a:spcBef>
              <a:buNone/>
            </a:pPr>
            <a:r>
              <a:rPr lang="en-US" sz="1300" dirty="0">
                <a:solidFill>
                  <a:srgbClr val="6B7579"/>
                </a:solidFill>
              </a:rPr>
              <a:t>S2 Energy Analysis &amp; Sustainability</a:t>
            </a:r>
            <a:endParaRPr lang="en-US" sz="1300" dirty="0"/>
          </a:p>
        </p:txBody>
      </p:sp>
      <p:sp>
        <p:nvSpPr>
          <p:cNvPr id="206" name="Shape 206"/>
          <p:cNvSpPr/>
          <p:nvPr/>
        </p:nvSpPr>
        <p:spPr>
          <a:xfrm>
            <a:off x="6146800" y="4445000"/>
            <a:ext cx="50800" cy="584200"/>
          </a:xfrm>
          <a:prstGeom prst="rect">
            <a:avLst/>
          </a:prstGeom>
          <a:solidFill>
            <a:srgbClr val="7A5BA6"/>
          </a:solidFill>
          <a:ln>
            <a:noFill/>
          </a:ln>
        </p:spPr>
        <p:txBody>
          <a:bodyPr wrap="square" lIns="50800" tIns="50800" rIns="50800" bIns="50800" rtlCol="0" anchor="t">
            <a:noAutofit/>
          </a:bodyPr>
          <a:lstStyle/>
          <a:p>
            <a:endParaRPr lang="en-US" dirty="0"/>
          </a:p>
        </p:txBody>
      </p:sp>
      <p:sp>
        <p:nvSpPr>
          <p:cNvPr id="207" name="Shape 207"/>
          <p:cNvSpPr txBox="1"/>
          <p:nvPr/>
        </p:nvSpPr>
        <p:spPr>
          <a:xfrm>
            <a:off x="6299200" y="4419600"/>
            <a:ext cx="2489200" cy="812800"/>
          </a:xfrm>
          <a:prstGeom prst="rect">
            <a:avLst/>
          </a:prstGeom>
          <a:noFill/>
          <a:ln>
            <a:noFill/>
          </a:ln>
        </p:spPr>
        <p:txBody>
          <a:bodyPr wrap="square" lIns="0" tIns="0" rIns="0" bIns="0" rtlCol="0" anchor="t">
            <a:noAutofit/>
          </a:bodyPr>
          <a:lstStyle/>
          <a:p>
            <a:pPr marL="0" indent="0" algn="l">
              <a:spcBef>
                <a:spcPts val="0"/>
              </a:spcBef>
              <a:buNone/>
            </a:pPr>
            <a:r>
              <a:rPr lang="en-US" sz="1600" b="1" dirty="0">
                <a:solidFill>
                  <a:srgbClr val="1F2A2E"/>
                </a:solidFill>
                <a:latin typeface="+mj-lt"/>
              </a:rPr>
              <a:t>Yassoub</a:t>
            </a:r>
            <a:endParaRPr lang="en-US" sz="1600" dirty="0"/>
          </a:p>
          <a:p>
            <a:pPr marL="0" indent="0" algn="l">
              <a:spcBef>
                <a:spcPts val="200"/>
              </a:spcBef>
              <a:buNone/>
            </a:pPr>
            <a:r>
              <a:rPr lang="en-US" sz="1300" dirty="0">
                <a:solidFill>
                  <a:srgbClr val="6B7579"/>
                </a:solidFill>
              </a:rPr>
              <a:t>S3 AI Sustainability Coach</a:t>
            </a:r>
            <a:endParaRPr lang="en-US" sz="1300" dirty="0"/>
          </a:p>
        </p:txBody>
      </p:sp>
      <p:sp>
        <p:nvSpPr>
          <p:cNvPr id="208" name="Shape 208"/>
          <p:cNvSpPr/>
          <p:nvPr/>
        </p:nvSpPr>
        <p:spPr>
          <a:xfrm>
            <a:off x="8839200" y="4445000"/>
            <a:ext cx="50800" cy="584200"/>
          </a:xfrm>
          <a:prstGeom prst="rect">
            <a:avLst/>
          </a:prstGeom>
          <a:solidFill>
            <a:srgbClr val="C9822B"/>
          </a:solidFill>
          <a:ln>
            <a:noFill/>
          </a:ln>
        </p:spPr>
        <p:txBody>
          <a:bodyPr wrap="square" lIns="50800" tIns="50800" rIns="50800" bIns="50800" rtlCol="0" anchor="t">
            <a:noAutofit/>
          </a:bodyPr>
          <a:lstStyle/>
          <a:p>
            <a:endParaRPr lang="en-US" dirty="0"/>
          </a:p>
        </p:txBody>
      </p:sp>
      <p:sp>
        <p:nvSpPr>
          <p:cNvPr id="209" name="Shape 209"/>
          <p:cNvSpPr txBox="1"/>
          <p:nvPr/>
        </p:nvSpPr>
        <p:spPr>
          <a:xfrm>
            <a:off x="8991600" y="4419600"/>
            <a:ext cx="2489200" cy="812800"/>
          </a:xfrm>
          <a:prstGeom prst="rect">
            <a:avLst/>
          </a:prstGeom>
          <a:noFill/>
          <a:ln>
            <a:noFill/>
          </a:ln>
        </p:spPr>
        <p:txBody>
          <a:bodyPr wrap="square" lIns="0" tIns="0" rIns="0" bIns="0" rtlCol="0" anchor="t">
            <a:noAutofit/>
          </a:bodyPr>
          <a:lstStyle/>
          <a:p>
            <a:pPr marL="0" indent="0" algn="l">
              <a:spcBef>
                <a:spcPts val="0"/>
              </a:spcBef>
              <a:buNone/>
            </a:pPr>
            <a:r>
              <a:rPr lang="en-US" sz="1600" b="1" dirty="0">
                <a:solidFill>
                  <a:srgbClr val="1F2A2E"/>
                </a:solidFill>
                <a:latin typeface="+mj-lt"/>
              </a:rPr>
              <a:t>Marwan</a:t>
            </a:r>
            <a:endParaRPr lang="en-US" sz="1600" dirty="0"/>
          </a:p>
          <a:p>
            <a:pPr marL="0" indent="0" algn="l">
              <a:spcBef>
                <a:spcPts val="200"/>
              </a:spcBef>
              <a:buNone/>
            </a:pPr>
            <a:r>
              <a:rPr lang="en-US" sz="1300" dirty="0">
                <a:solidFill>
                  <a:srgbClr val="6B7579"/>
                </a:solidFill>
              </a:rPr>
              <a:t>S4 Web Dashboard &amp; User Interface</a:t>
            </a:r>
            <a:endParaRPr lang="en-US" sz="1300" dirty="0"/>
          </a:p>
        </p:txBody>
      </p:sp>
      <p:sp>
        <p:nvSpPr>
          <p:cNvPr id="210" name="Shape 210"/>
          <p:cNvSpPr txBox="1"/>
          <p:nvPr/>
        </p:nvSpPr>
        <p:spPr>
          <a:xfrm>
            <a:off x="762000" y="5715000"/>
            <a:ext cx="10668000" cy="279400"/>
          </a:xfrm>
          <a:prstGeom prst="rect">
            <a:avLst/>
          </a:prstGeom>
          <a:noFill/>
          <a:ln>
            <a:noFill/>
          </a:ln>
        </p:spPr>
        <p:txBody>
          <a:bodyPr wrap="square" lIns="0" tIns="0" rIns="0" bIns="0" rtlCol="0" anchor="t">
            <a:noAutofit/>
          </a:bodyPr>
          <a:lstStyle/>
          <a:p>
            <a:pPr marL="0" indent="0" algn="l">
              <a:spcBef>
                <a:spcPts val="0"/>
              </a:spcBef>
              <a:buNone/>
            </a:pPr>
            <a:r>
              <a:rPr lang="en-US" sz="1400" dirty="0">
                <a:solidFill>
                  <a:srgbClr val="6B7579"/>
                </a:solidFill>
              </a:rPr>
              <a:t>Course: Capstone Project  ·  October 2026</a:t>
            </a:r>
            <a:endParaRPr lang="en-US" sz="1400" dirty="0"/>
          </a:p>
        </p:txBody>
      </p:sp>
    </p:spTree>
    <p:extLst>
      <p:ext uri="{BB962C8B-B14F-4D97-AF65-F5344CB8AC3E}">
        <p14:creationId xmlns:p14="http://schemas.microsoft.com/office/powerpoint/2010/main" val="1009661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8B6ED-B130-0300-0682-D3AB1C77C879}"/>
              </a:ext>
            </a:extLst>
          </p:cNvPr>
          <p:cNvSpPr>
            <a:spLocks noGrp="1"/>
          </p:cNvSpPr>
          <p:nvPr>
            <p:ph type="title"/>
          </p:nvPr>
        </p:nvSpPr>
        <p:spPr/>
        <p:txBody>
          <a:bodyPr>
            <a:normAutofit/>
          </a:bodyPr>
          <a:lstStyle/>
          <a:p>
            <a:pPr algn="l"/>
            <a:r>
              <a:rPr lang="en-US" sz="3200" b="1" dirty="0"/>
              <a:t>Four subsystems turn building telemetry into AI saving tips</a:t>
            </a:r>
          </a:p>
        </p:txBody>
      </p:sp>
      <p:sp>
        <p:nvSpPr>
          <p:cNvPr id="200" name="Shape 200"/>
          <p:cNvSpPr txBox="1"/>
          <p:nvPr/>
        </p:nvSpPr>
        <p:spPr>
          <a:xfrm>
            <a:off x="457200" y="1168400"/>
            <a:ext cx="11277600" cy="279400"/>
          </a:xfrm>
          <a:prstGeom prst="rect">
            <a:avLst/>
          </a:prstGeom>
          <a:noFill/>
          <a:ln>
            <a:noFill/>
          </a:ln>
        </p:spPr>
        <p:txBody>
          <a:bodyPr wrap="square" lIns="0" tIns="0" rIns="0" bIns="0" rtlCol="0" anchor="t">
            <a:noAutofit/>
          </a:bodyPr>
          <a:lstStyle/>
          <a:p>
            <a:pPr marL="0" indent="0" algn="l">
              <a:spcBef>
                <a:spcPts val="0"/>
              </a:spcBef>
              <a:buNone/>
            </a:pPr>
            <a:r>
              <a:rPr lang="en-US" sz="1400" b="1" dirty="0">
                <a:solidFill>
                  <a:srgbClr val="1F2A2E"/>
                </a:solidFill>
              </a:rPr>
              <a:t>Domain: </a:t>
            </a:r>
            <a:r>
              <a:rPr lang="en-US" sz="1400" dirty="0">
                <a:solidFill>
                  <a:srgbClr val="1F2A2E"/>
                </a:solidFill>
              </a:rPr>
              <a:t>smart energy management.  </a:t>
            </a:r>
            <a:r>
              <a:rPr lang="en-US" sz="1400" b="1" dirty="0">
                <a:solidFill>
                  <a:srgbClr val="1F2A2E"/>
                </a:solidFill>
              </a:rPr>
              <a:t>Subtopic: </a:t>
            </a:r>
            <a:r>
              <a:rPr lang="en-US" sz="1400" dirty="0">
                <a:solidFill>
                  <a:srgbClr val="1F2A2E"/>
                </a:solidFill>
              </a:rPr>
              <a:t>AI-driven energy monitoring, analysis and sustainability coaching for buildings.</a:t>
            </a:r>
            <a:endParaRPr lang="en-US" sz="1400" dirty="0"/>
          </a:p>
        </p:txBody>
      </p:sp>
      <p:sp>
        <p:nvSpPr>
          <p:cNvPr id="201" name="Shape 201"/>
          <p:cNvSpPr/>
          <p:nvPr/>
        </p:nvSpPr>
        <p:spPr>
          <a:xfrm>
            <a:off x="457200" y="1625600"/>
            <a:ext cx="2667000" cy="2006600"/>
          </a:xfrm>
          <a:prstGeom prst="rect">
            <a:avLst/>
          </a:prstGeom>
          <a:solidFill>
            <a:srgbClr val="FFFFFF"/>
          </a:solidFill>
          <a:ln w="9525">
            <a:solidFill>
              <a:srgbClr val="E0E3E0"/>
            </a:solidFill>
          </a:ln>
        </p:spPr>
        <p:txBody>
          <a:bodyPr wrap="square" lIns="50800" tIns="50800" rIns="50800" bIns="50800" rtlCol="0" anchor="t">
            <a:noAutofit/>
          </a:bodyPr>
          <a:lstStyle/>
          <a:p>
            <a:endParaRPr lang="en-US" dirty="0"/>
          </a:p>
        </p:txBody>
      </p:sp>
      <p:sp>
        <p:nvSpPr>
          <p:cNvPr id="202" name="Shape 202"/>
          <p:cNvSpPr/>
          <p:nvPr/>
        </p:nvSpPr>
        <p:spPr>
          <a:xfrm>
            <a:off x="457200" y="1625600"/>
            <a:ext cx="2667000" cy="63500"/>
          </a:xfrm>
          <a:prstGeom prst="rect">
            <a:avLst/>
          </a:prstGeom>
          <a:solidFill>
            <a:srgbClr val="2E6F95"/>
          </a:solidFill>
          <a:ln>
            <a:noFill/>
          </a:ln>
        </p:spPr>
        <p:txBody>
          <a:bodyPr wrap="square" lIns="50800" tIns="50800" rIns="50800" bIns="50800" rtlCol="0" anchor="t">
            <a:noAutofit/>
          </a:bodyPr>
          <a:lstStyle/>
          <a:p>
            <a:endParaRPr lang="en-US" dirty="0"/>
          </a:p>
        </p:txBody>
      </p:sp>
      <p:sp>
        <p:nvSpPr>
          <p:cNvPr id="203" name="Shape 203"/>
          <p:cNvSpPr txBox="1"/>
          <p:nvPr/>
        </p:nvSpPr>
        <p:spPr>
          <a:xfrm>
            <a:off x="635000" y="1828800"/>
            <a:ext cx="2311400" cy="1676400"/>
          </a:xfrm>
          <a:prstGeom prst="rect">
            <a:avLst/>
          </a:prstGeom>
          <a:noFill/>
          <a:ln>
            <a:noFill/>
          </a:ln>
        </p:spPr>
        <p:txBody>
          <a:bodyPr wrap="square" lIns="0" tIns="0" rIns="0" bIns="0" rtlCol="0" anchor="t">
            <a:noAutofit/>
          </a:bodyPr>
          <a:lstStyle/>
          <a:p>
            <a:pPr marL="0" indent="0" algn="l">
              <a:spcBef>
                <a:spcPts val="0"/>
              </a:spcBef>
              <a:buNone/>
            </a:pPr>
            <a:r>
              <a:rPr lang="en-US" sz="1400" b="1" dirty="0">
                <a:solidFill>
                  <a:srgbClr val="2E6F95"/>
                </a:solidFill>
                <a:latin typeface="+mj-lt"/>
              </a:rPr>
              <a:t>S1</a:t>
            </a:r>
            <a:endParaRPr lang="en-US" sz="1400" dirty="0"/>
          </a:p>
          <a:p>
            <a:pPr marL="0" indent="0" algn="l">
              <a:lnSpc>
                <a:spcPct val="95000"/>
              </a:lnSpc>
              <a:spcBef>
                <a:spcPts val="200"/>
              </a:spcBef>
              <a:buNone/>
            </a:pPr>
            <a:r>
              <a:rPr lang="en-US" sz="1500" b="1" dirty="0">
                <a:solidFill>
                  <a:srgbClr val="1F2A2E"/>
                </a:solidFill>
                <a:latin typeface="+mj-lt"/>
              </a:rPr>
              <a:t>Energy Monitoring &amp; Data Management</a:t>
            </a:r>
            <a:endParaRPr lang="en-US" sz="1500" dirty="0"/>
          </a:p>
          <a:p>
            <a:pPr marL="0" indent="0" algn="l">
              <a:spcBef>
                <a:spcPts val="600"/>
              </a:spcBef>
              <a:buNone/>
            </a:pPr>
            <a:r>
              <a:rPr lang="en-US" sz="1300" b="1" dirty="0">
                <a:solidFill>
                  <a:srgbClr val="2E6F95"/>
                </a:solidFill>
              </a:rPr>
              <a:t>Shaon</a:t>
            </a:r>
            <a:endParaRPr lang="en-US" sz="1300" dirty="0"/>
          </a:p>
          <a:p>
            <a:pPr marL="0" indent="0" algn="l">
              <a:spcBef>
                <a:spcPts val="400"/>
              </a:spcBef>
              <a:buNone/>
            </a:pPr>
            <a:r>
              <a:rPr lang="en-US" sz="1400" dirty="0">
                <a:solidFill>
                  <a:srgbClr val="6B7579"/>
                </a:solidFill>
              </a:rPr>
              <a:t>Registers buildings and meters; ingests simulated readings</a:t>
            </a:r>
            <a:endParaRPr lang="en-US" sz="1400" dirty="0"/>
          </a:p>
        </p:txBody>
      </p:sp>
      <p:sp>
        <p:nvSpPr>
          <p:cNvPr id="204" name="Shape 204"/>
          <p:cNvSpPr/>
          <p:nvPr/>
        </p:nvSpPr>
        <p:spPr>
          <a:xfrm>
            <a:off x="3327400" y="1625600"/>
            <a:ext cx="2667000" cy="2006600"/>
          </a:xfrm>
          <a:prstGeom prst="rect">
            <a:avLst/>
          </a:prstGeom>
          <a:solidFill>
            <a:srgbClr val="FFFFFF"/>
          </a:solidFill>
          <a:ln w="9525">
            <a:solidFill>
              <a:srgbClr val="E0E3E0"/>
            </a:solidFill>
          </a:ln>
        </p:spPr>
        <p:txBody>
          <a:bodyPr wrap="square" lIns="50800" tIns="50800" rIns="50800" bIns="50800" rtlCol="0" anchor="t">
            <a:noAutofit/>
          </a:bodyPr>
          <a:lstStyle/>
          <a:p>
            <a:endParaRPr lang="en-US" dirty="0"/>
          </a:p>
        </p:txBody>
      </p:sp>
      <p:sp>
        <p:nvSpPr>
          <p:cNvPr id="205" name="Shape 205"/>
          <p:cNvSpPr/>
          <p:nvPr/>
        </p:nvSpPr>
        <p:spPr>
          <a:xfrm>
            <a:off x="3327400" y="1625600"/>
            <a:ext cx="2667000" cy="63500"/>
          </a:xfrm>
          <a:prstGeom prst="rect">
            <a:avLst/>
          </a:prstGeom>
          <a:solidFill>
            <a:srgbClr val="0F7B6C"/>
          </a:solidFill>
          <a:ln>
            <a:noFill/>
          </a:ln>
        </p:spPr>
        <p:txBody>
          <a:bodyPr wrap="square" lIns="50800" tIns="50800" rIns="50800" bIns="50800" rtlCol="0" anchor="t">
            <a:noAutofit/>
          </a:bodyPr>
          <a:lstStyle/>
          <a:p>
            <a:endParaRPr lang="en-US" dirty="0"/>
          </a:p>
        </p:txBody>
      </p:sp>
      <p:sp>
        <p:nvSpPr>
          <p:cNvPr id="206" name="Shape 206"/>
          <p:cNvSpPr txBox="1"/>
          <p:nvPr/>
        </p:nvSpPr>
        <p:spPr>
          <a:xfrm>
            <a:off x="3505200" y="1828800"/>
            <a:ext cx="2311400" cy="1676400"/>
          </a:xfrm>
          <a:prstGeom prst="rect">
            <a:avLst/>
          </a:prstGeom>
          <a:noFill/>
          <a:ln>
            <a:noFill/>
          </a:ln>
        </p:spPr>
        <p:txBody>
          <a:bodyPr wrap="square" lIns="0" tIns="0" rIns="0" bIns="0" rtlCol="0" anchor="t">
            <a:noAutofit/>
          </a:bodyPr>
          <a:lstStyle/>
          <a:p>
            <a:pPr marL="0" indent="0" algn="l">
              <a:spcBef>
                <a:spcPts val="0"/>
              </a:spcBef>
              <a:buNone/>
            </a:pPr>
            <a:r>
              <a:rPr lang="en-US" sz="1400" b="1" dirty="0">
                <a:solidFill>
                  <a:srgbClr val="0F7B6C"/>
                </a:solidFill>
                <a:latin typeface="+mj-lt"/>
              </a:rPr>
              <a:t>S2</a:t>
            </a:r>
            <a:endParaRPr lang="en-US" sz="1400" dirty="0"/>
          </a:p>
          <a:p>
            <a:pPr marL="0" indent="0" algn="l">
              <a:lnSpc>
                <a:spcPct val="95000"/>
              </a:lnSpc>
              <a:spcBef>
                <a:spcPts val="200"/>
              </a:spcBef>
              <a:buNone/>
            </a:pPr>
            <a:r>
              <a:rPr lang="en-US" sz="1500" b="1" dirty="0">
                <a:solidFill>
                  <a:srgbClr val="1F2A2E"/>
                </a:solidFill>
                <a:latin typeface="+mj-lt"/>
              </a:rPr>
              <a:t>Energy Analysis &amp; Sustainability</a:t>
            </a:r>
            <a:endParaRPr lang="en-US" sz="1500" dirty="0"/>
          </a:p>
          <a:p>
            <a:pPr marL="0" indent="0" algn="l">
              <a:spcBef>
                <a:spcPts val="600"/>
              </a:spcBef>
              <a:buNone/>
            </a:pPr>
            <a:r>
              <a:rPr lang="en-US" sz="1300" b="1" dirty="0">
                <a:solidFill>
                  <a:srgbClr val="0F7B6C"/>
                </a:solidFill>
              </a:rPr>
              <a:t>Ziad</a:t>
            </a:r>
            <a:endParaRPr lang="en-US" sz="1300" dirty="0"/>
          </a:p>
          <a:p>
            <a:pPr marL="0" indent="0" algn="l">
              <a:spcBef>
                <a:spcPts val="400"/>
              </a:spcBef>
              <a:buNone/>
            </a:pPr>
            <a:r>
              <a:rPr lang="en-US" sz="1400" dirty="0">
                <a:solidFill>
                  <a:srgbClr val="6B7579"/>
                </a:solidFill>
              </a:rPr>
              <a:t>Computes kWh, peak, cost, CO2 and anomalies</a:t>
            </a:r>
            <a:endParaRPr lang="en-US" sz="1400" dirty="0"/>
          </a:p>
        </p:txBody>
      </p:sp>
      <p:sp>
        <p:nvSpPr>
          <p:cNvPr id="207" name="Shape 207"/>
          <p:cNvSpPr/>
          <p:nvPr/>
        </p:nvSpPr>
        <p:spPr>
          <a:xfrm>
            <a:off x="6197600" y="1625600"/>
            <a:ext cx="2667000" cy="2006600"/>
          </a:xfrm>
          <a:prstGeom prst="rect">
            <a:avLst/>
          </a:prstGeom>
          <a:solidFill>
            <a:srgbClr val="FFFFFF"/>
          </a:solidFill>
          <a:ln w="9525">
            <a:solidFill>
              <a:srgbClr val="E0E3E0"/>
            </a:solidFill>
          </a:ln>
        </p:spPr>
        <p:txBody>
          <a:bodyPr wrap="square" lIns="50800" tIns="50800" rIns="50800" bIns="50800" rtlCol="0" anchor="t">
            <a:noAutofit/>
          </a:bodyPr>
          <a:lstStyle/>
          <a:p>
            <a:endParaRPr lang="en-US" dirty="0"/>
          </a:p>
        </p:txBody>
      </p:sp>
      <p:sp>
        <p:nvSpPr>
          <p:cNvPr id="208" name="Shape 208"/>
          <p:cNvSpPr/>
          <p:nvPr/>
        </p:nvSpPr>
        <p:spPr>
          <a:xfrm>
            <a:off x="6197600" y="1625600"/>
            <a:ext cx="2667000" cy="63500"/>
          </a:xfrm>
          <a:prstGeom prst="rect">
            <a:avLst/>
          </a:prstGeom>
          <a:solidFill>
            <a:srgbClr val="7A5BA6"/>
          </a:solidFill>
          <a:ln>
            <a:noFill/>
          </a:ln>
        </p:spPr>
        <p:txBody>
          <a:bodyPr wrap="square" lIns="50800" tIns="50800" rIns="50800" bIns="50800" rtlCol="0" anchor="t">
            <a:noAutofit/>
          </a:bodyPr>
          <a:lstStyle/>
          <a:p>
            <a:endParaRPr lang="en-US" dirty="0"/>
          </a:p>
        </p:txBody>
      </p:sp>
      <p:sp>
        <p:nvSpPr>
          <p:cNvPr id="209" name="Shape 209"/>
          <p:cNvSpPr txBox="1"/>
          <p:nvPr/>
        </p:nvSpPr>
        <p:spPr>
          <a:xfrm>
            <a:off x="6375400" y="1828800"/>
            <a:ext cx="2311400" cy="1676400"/>
          </a:xfrm>
          <a:prstGeom prst="rect">
            <a:avLst/>
          </a:prstGeom>
          <a:noFill/>
          <a:ln>
            <a:noFill/>
          </a:ln>
        </p:spPr>
        <p:txBody>
          <a:bodyPr wrap="square" lIns="0" tIns="0" rIns="0" bIns="0" rtlCol="0" anchor="t">
            <a:noAutofit/>
          </a:bodyPr>
          <a:lstStyle/>
          <a:p>
            <a:pPr marL="0" indent="0" algn="l">
              <a:spcBef>
                <a:spcPts val="0"/>
              </a:spcBef>
              <a:buNone/>
            </a:pPr>
            <a:r>
              <a:rPr lang="en-US" sz="1400" b="1" dirty="0">
                <a:solidFill>
                  <a:srgbClr val="7A5BA6"/>
                </a:solidFill>
                <a:latin typeface="+mj-lt"/>
              </a:rPr>
              <a:t>S3</a:t>
            </a:r>
            <a:endParaRPr lang="en-US" sz="1400" dirty="0"/>
          </a:p>
          <a:p>
            <a:pPr marL="0" indent="0" algn="l">
              <a:lnSpc>
                <a:spcPct val="95000"/>
              </a:lnSpc>
              <a:spcBef>
                <a:spcPts val="200"/>
              </a:spcBef>
              <a:buNone/>
            </a:pPr>
            <a:r>
              <a:rPr lang="en-US" sz="1500" b="1" dirty="0">
                <a:solidFill>
                  <a:srgbClr val="1F2A2E"/>
                </a:solidFill>
                <a:latin typeface="+mj-lt"/>
              </a:rPr>
              <a:t>AI Sustainability Coach</a:t>
            </a:r>
            <a:endParaRPr lang="en-US" sz="1500" dirty="0"/>
          </a:p>
          <a:p>
            <a:pPr marL="0" indent="0" algn="l">
              <a:spcBef>
                <a:spcPts val="600"/>
              </a:spcBef>
              <a:buNone/>
            </a:pPr>
            <a:r>
              <a:rPr lang="en-US" sz="1300" b="1" dirty="0">
                <a:solidFill>
                  <a:srgbClr val="7A5BA6"/>
                </a:solidFill>
              </a:rPr>
              <a:t>Yassoub</a:t>
            </a:r>
            <a:endParaRPr lang="en-US" sz="1300" dirty="0"/>
          </a:p>
          <a:p>
            <a:pPr marL="0" indent="0" algn="l">
              <a:spcBef>
                <a:spcPts val="400"/>
              </a:spcBef>
              <a:buNone/>
            </a:pPr>
            <a:r>
              <a:rPr lang="en-US" sz="1400" dirty="0">
                <a:solidFill>
                  <a:srgbClr val="6B7579"/>
                </a:solidFill>
              </a:rPr>
              <a:t>Turns analysis results into ranked saving tips via OpenAI</a:t>
            </a:r>
            <a:endParaRPr lang="en-US" sz="1400" dirty="0"/>
          </a:p>
        </p:txBody>
      </p:sp>
      <p:sp>
        <p:nvSpPr>
          <p:cNvPr id="210" name="Shape 210"/>
          <p:cNvSpPr/>
          <p:nvPr/>
        </p:nvSpPr>
        <p:spPr>
          <a:xfrm>
            <a:off x="9067800" y="1625600"/>
            <a:ext cx="2667000" cy="2006600"/>
          </a:xfrm>
          <a:prstGeom prst="rect">
            <a:avLst/>
          </a:prstGeom>
          <a:solidFill>
            <a:srgbClr val="FFFFFF"/>
          </a:solidFill>
          <a:ln w="9525">
            <a:solidFill>
              <a:srgbClr val="E0E3E0"/>
            </a:solidFill>
          </a:ln>
        </p:spPr>
        <p:txBody>
          <a:bodyPr wrap="square" lIns="50800" tIns="50800" rIns="50800" bIns="50800" rtlCol="0" anchor="t">
            <a:noAutofit/>
          </a:bodyPr>
          <a:lstStyle/>
          <a:p>
            <a:endParaRPr lang="en-US" dirty="0"/>
          </a:p>
        </p:txBody>
      </p:sp>
      <p:sp>
        <p:nvSpPr>
          <p:cNvPr id="211" name="Shape 211"/>
          <p:cNvSpPr/>
          <p:nvPr/>
        </p:nvSpPr>
        <p:spPr>
          <a:xfrm>
            <a:off x="9067800" y="1625600"/>
            <a:ext cx="2667000" cy="63500"/>
          </a:xfrm>
          <a:prstGeom prst="rect">
            <a:avLst/>
          </a:prstGeom>
          <a:solidFill>
            <a:srgbClr val="C9822B"/>
          </a:solidFill>
          <a:ln>
            <a:noFill/>
          </a:ln>
        </p:spPr>
        <p:txBody>
          <a:bodyPr wrap="square" lIns="50800" tIns="50800" rIns="50800" bIns="50800" rtlCol="0" anchor="t">
            <a:noAutofit/>
          </a:bodyPr>
          <a:lstStyle/>
          <a:p>
            <a:endParaRPr lang="en-US" dirty="0"/>
          </a:p>
        </p:txBody>
      </p:sp>
      <p:sp>
        <p:nvSpPr>
          <p:cNvPr id="212" name="Shape 212"/>
          <p:cNvSpPr txBox="1"/>
          <p:nvPr/>
        </p:nvSpPr>
        <p:spPr>
          <a:xfrm>
            <a:off x="9245600" y="1828800"/>
            <a:ext cx="2311400" cy="1676400"/>
          </a:xfrm>
          <a:prstGeom prst="rect">
            <a:avLst/>
          </a:prstGeom>
          <a:noFill/>
          <a:ln>
            <a:noFill/>
          </a:ln>
        </p:spPr>
        <p:txBody>
          <a:bodyPr wrap="square" lIns="0" tIns="0" rIns="0" bIns="0" rtlCol="0" anchor="t">
            <a:noAutofit/>
          </a:bodyPr>
          <a:lstStyle/>
          <a:p>
            <a:pPr marL="0" indent="0" algn="l">
              <a:spcBef>
                <a:spcPts val="0"/>
              </a:spcBef>
              <a:buNone/>
            </a:pPr>
            <a:r>
              <a:rPr lang="en-US" sz="1400" b="1" dirty="0">
                <a:solidFill>
                  <a:srgbClr val="C9822B"/>
                </a:solidFill>
                <a:latin typeface="+mj-lt"/>
              </a:rPr>
              <a:t>S4</a:t>
            </a:r>
            <a:endParaRPr lang="en-US" sz="1400" dirty="0"/>
          </a:p>
          <a:p>
            <a:pPr marL="0" indent="0" algn="l">
              <a:lnSpc>
                <a:spcPct val="95000"/>
              </a:lnSpc>
              <a:spcBef>
                <a:spcPts val="200"/>
              </a:spcBef>
              <a:buNone/>
            </a:pPr>
            <a:r>
              <a:rPr lang="en-US" sz="1500" b="1" dirty="0">
                <a:solidFill>
                  <a:srgbClr val="1F2A2E"/>
                </a:solidFill>
                <a:latin typeface="+mj-lt"/>
              </a:rPr>
              <a:t>Web Dashboard &amp; User Interface</a:t>
            </a:r>
            <a:endParaRPr lang="en-US" sz="1500" dirty="0"/>
          </a:p>
          <a:p>
            <a:pPr marL="0" indent="0" algn="l">
              <a:spcBef>
                <a:spcPts val="600"/>
              </a:spcBef>
              <a:buNone/>
            </a:pPr>
            <a:r>
              <a:rPr lang="en-US" sz="1300" b="1" dirty="0">
                <a:solidFill>
                  <a:srgbClr val="C9822B"/>
                </a:solidFill>
              </a:rPr>
              <a:t>Marwan</a:t>
            </a:r>
            <a:endParaRPr lang="en-US" sz="1300" dirty="0"/>
          </a:p>
          <a:p>
            <a:pPr marL="0" indent="0" algn="l">
              <a:spcBef>
                <a:spcPts val="400"/>
              </a:spcBef>
              <a:buNone/>
            </a:pPr>
            <a:r>
              <a:rPr lang="en-US" sz="1400" dirty="0">
                <a:solidFill>
                  <a:srgbClr val="6B7579"/>
                </a:solidFill>
              </a:rPr>
              <a:t>Accounts, React dashboard, settings and notifications</a:t>
            </a:r>
            <a:endParaRPr lang="en-US" sz="1400" dirty="0"/>
          </a:p>
        </p:txBody>
      </p:sp>
      <p:sp>
        <p:nvSpPr>
          <p:cNvPr id="213" name="Shape 213"/>
          <p:cNvSpPr txBox="1"/>
          <p:nvPr/>
        </p:nvSpPr>
        <p:spPr>
          <a:xfrm>
            <a:off x="457200" y="3860800"/>
            <a:ext cx="6350000" cy="254000"/>
          </a:xfrm>
          <a:prstGeom prst="rect">
            <a:avLst/>
          </a:prstGeom>
          <a:noFill/>
          <a:ln>
            <a:noFill/>
          </a:ln>
        </p:spPr>
        <p:txBody>
          <a:bodyPr wrap="square" lIns="0" tIns="0" rIns="0" bIns="0" rtlCol="0" anchor="t">
            <a:noAutofit/>
          </a:bodyPr>
          <a:lstStyle/>
          <a:p>
            <a:pPr marL="0" indent="0" algn="l">
              <a:spcBef>
                <a:spcPts val="0"/>
              </a:spcBef>
              <a:buNone/>
            </a:pPr>
            <a:r>
              <a:rPr lang="en-US" sz="1300" b="1" dirty="0">
                <a:solidFill>
                  <a:srgbClr val="6B7579"/>
                </a:solidFill>
              </a:rPr>
              <a:t>Architecture</a:t>
            </a:r>
            <a:endParaRPr lang="en-US" sz="1300" dirty="0"/>
          </a:p>
        </p:txBody>
      </p:sp>
      <p:sp>
        <p:nvSpPr>
          <p:cNvPr id="214" name="Shape 214"/>
          <p:cNvSpPr/>
          <p:nvPr/>
        </p:nvSpPr>
        <p:spPr>
          <a:xfrm>
            <a:off x="457200" y="4648200"/>
            <a:ext cx="1905000" cy="787400"/>
          </a:xfrm>
          <a:prstGeom prst="rect">
            <a:avLst/>
          </a:prstGeom>
          <a:solidFill>
            <a:srgbClr val="FFFFFF"/>
          </a:solidFill>
          <a:ln w="12700">
            <a:solidFill>
              <a:srgbClr val="6B7579"/>
            </a:solidFill>
          </a:ln>
        </p:spPr>
        <p:txBody>
          <a:bodyPr wrap="square" lIns="50800" tIns="50800" rIns="50800" bIns="50800" rtlCol="0" anchor="ctr">
            <a:noAutofit/>
          </a:bodyPr>
          <a:lstStyle/>
          <a:p>
            <a:pPr marL="0" indent="0" algn="ctr">
              <a:spcBef>
                <a:spcPts val="0"/>
              </a:spcBef>
              <a:buNone/>
            </a:pPr>
            <a:r>
              <a:rPr lang="en-US" sz="1400" b="1" dirty="0">
                <a:solidFill>
                  <a:srgbClr val="1F2A2E"/>
                </a:solidFill>
              </a:rPr>
              <a:t>React frontend</a:t>
            </a:r>
            <a:endParaRPr lang="en-US" sz="1400" dirty="0"/>
          </a:p>
          <a:p>
            <a:pPr marL="0" indent="0" algn="ctr">
              <a:spcBef>
                <a:spcPts val="0"/>
              </a:spcBef>
              <a:buNone/>
            </a:pPr>
            <a:r>
              <a:rPr lang="en-US" sz="1200" dirty="0">
                <a:solidFill>
                  <a:srgbClr val="6B7579"/>
                </a:solidFill>
              </a:rPr>
              <a:t>S4 pages, ApiClient</a:t>
            </a:r>
            <a:endParaRPr lang="en-US" sz="1200" dirty="0"/>
          </a:p>
        </p:txBody>
      </p:sp>
      <p:sp>
        <p:nvSpPr>
          <p:cNvPr id="215" name="Shape 215"/>
          <p:cNvSpPr/>
          <p:nvPr/>
        </p:nvSpPr>
        <p:spPr>
          <a:xfrm>
            <a:off x="2997200" y="4368800"/>
            <a:ext cx="5969000" cy="1346200"/>
          </a:xfrm>
          <a:prstGeom prst="rect">
            <a:avLst/>
          </a:prstGeom>
          <a:solidFill>
            <a:srgbClr val="FFFFFF"/>
          </a:solidFill>
          <a:ln w="12700">
            <a:solidFill>
              <a:srgbClr val="6B7579"/>
            </a:solidFill>
          </a:ln>
        </p:spPr>
        <p:txBody>
          <a:bodyPr wrap="square" lIns="127000" tIns="76200" rIns="127000" bIns="76200" rtlCol="0" anchor="t">
            <a:noAutofit/>
          </a:bodyPr>
          <a:lstStyle/>
          <a:p>
            <a:pPr marL="0" indent="0" algn="l">
              <a:spcBef>
                <a:spcPts val="0"/>
              </a:spcBef>
              <a:buNone/>
            </a:pPr>
            <a:r>
              <a:rPr lang="en-US" sz="1400" b="1" dirty="0">
                <a:solidFill>
                  <a:srgbClr val="1F2A2E"/>
                </a:solidFill>
              </a:rPr>
              <a:t>Django REST Framework API</a:t>
            </a:r>
            <a:endParaRPr lang="en-US" sz="1400" dirty="0"/>
          </a:p>
          <a:p>
            <a:pPr marL="0" indent="0" algn="l">
              <a:spcBef>
                <a:spcPts val="0"/>
              </a:spcBef>
              <a:buNone/>
            </a:pPr>
            <a:r>
              <a:rPr lang="en-US" sz="1200" dirty="0">
                <a:solidFill>
                  <a:srgbClr val="6B7579"/>
                </a:solidFill>
              </a:rPr>
              <a:t>one Django app per subsystem</a:t>
            </a:r>
            <a:endParaRPr lang="en-US" sz="1200" dirty="0"/>
          </a:p>
        </p:txBody>
      </p:sp>
      <p:sp>
        <p:nvSpPr>
          <p:cNvPr id="216" name="Shape 216"/>
          <p:cNvSpPr/>
          <p:nvPr/>
        </p:nvSpPr>
        <p:spPr>
          <a:xfrm>
            <a:off x="3149600" y="5080000"/>
            <a:ext cx="1308100" cy="457200"/>
          </a:xfrm>
          <a:prstGeom prst="rect">
            <a:avLst/>
          </a:prstGeom>
          <a:solidFill>
            <a:srgbClr val="2E6F95"/>
          </a:solidFill>
          <a:ln>
            <a:noFill/>
          </a:ln>
        </p:spPr>
        <p:txBody>
          <a:bodyPr wrap="square" lIns="25400" tIns="25400" rIns="25400" bIns="25400" rtlCol="0" anchor="ctr">
            <a:noAutofit/>
          </a:bodyPr>
          <a:lstStyle/>
          <a:p>
            <a:pPr marL="0" indent="0" algn="ctr">
              <a:spcBef>
                <a:spcPts val="0"/>
              </a:spcBef>
              <a:buNone/>
            </a:pPr>
            <a:r>
              <a:rPr lang="en-US" sz="1200" b="1" dirty="0">
                <a:solidFill>
                  <a:srgbClr val="FFFFFF"/>
                </a:solidFill>
              </a:rPr>
              <a:t>S1 monitoring</a:t>
            </a:r>
            <a:endParaRPr lang="en-US" sz="1200" dirty="0"/>
          </a:p>
        </p:txBody>
      </p:sp>
      <p:sp>
        <p:nvSpPr>
          <p:cNvPr id="217" name="Shape 217"/>
          <p:cNvSpPr/>
          <p:nvPr/>
        </p:nvSpPr>
        <p:spPr>
          <a:xfrm>
            <a:off x="4584700" y="5080000"/>
            <a:ext cx="1308100" cy="457200"/>
          </a:xfrm>
          <a:prstGeom prst="rect">
            <a:avLst/>
          </a:prstGeom>
          <a:solidFill>
            <a:srgbClr val="0F7B6C"/>
          </a:solidFill>
          <a:ln>
            <a:noFill/>
          </a:ln>
        </p:spPr>
        <p:txBody>
          <a:bodyPr wrap="square" lIns="25400" tIns="25400" rIns="25400" bIns="25400" rtlCol="0" anchor="ctr">
            <a:noAutofit/>
          </a:bodyPr>
          <a:lstStyle/>
          <a:p>
            <a:pPr marL="0" indent="0" algn="ctr">
              <a:spcBef>
                <a:spcPts val="0"/>
              </a:spcBef>
              <a:buNone/>
            </a:pPr>
            <a:r>
              <a:rPr lang="en-US" sz="1200" b="1" dirty="0">
                <a:solidFill>
                  <a:srgbClr val="FFFFFF"/>
                </a:solidFill>
              </a:rPr>
              <a:t>S2 analysis</a:t>
            </a:r>
            <a:endParaRPr lang="en-US" sz="1200" dirty="0"/>
          </a:p>
        </p:txBody>
      </p:sp>
      <p:sp>
        <p:nvSpPr>
          <p:cNvPr id="218" name="Shape 218"/>
          <p:cNvSpPr/>
          <p:nvPr/>
        </p:nvSpPr>
        <p:spPr>
          <a:xfrm>
            <a:off x="6019800" y="5080000"/>
            <a:ext cx="1308100" cy="457200"/>
          </a:xfrm>
          <a:prstGeom prst="rect">
            <a:avLst/>
          </a:prstGeom>
          <a:solidFill>
            <a:srgbClr val="7A5BA6"/>
          </a:solidFill>
          <a:ln>
            <a:noFill/>
          </a:ln>
        </p:spPr>
        <p:txBody>
          <a:bodyPr wrap="square" lIns="25400" tIns="25400" rIns="25400" bIns="25400" rtlCol="0" anchor="ctr">
            <a:noAutofit/>
          </a:bodyPr>
          <a:lstStyle/>
          <a:p>
            <a:pPr marL="0" indent="0" algn="ctr">
              <a:spcBef>
                <a:spcPts val="0"/>
              </a:spcBef>
              <a:buNone/>
            </a:pPr>
            <a:r>
              <a:rPr lang="en-US" sz="1200" b="1" dirty="0">
                <a:solidFill>
                  <a:srgbClr val="FFFFFF"/>
                </a:solidFill>
              </a:rPr>
              <a:t>S3 coach</a:t>
            </a:r>
            <a:endParaRPr lang="en-US" sz="1200" dirty="0"/>
          </a:p>
        </p:txBody>
      </p:sp>
      <p:sp>
        <p:nvSpPr>
          <p:cNvPr id="219" name="Shape 219"/>
          <p:cNvSpPr/>
          <p:nvPr/>
        </p:nvSpPr>
        <p:spPr>
          <a:xfrm>
            <a:off x="7454900" y="5080000"/>
            <a:ext cx="1308100" cy="457200"/>
          </a:xfrm>
          <a:prstGeom prst="rect">
            <a:avLst/>
          </a:prstGeom>
          <a:solidFill>
            <a:srgbClr val="C9822B"/>
          </a:solidFill>
          <a:ln>
            <a:noFill/>
          </a:ln>
        </p:spPr>
        <p:txBody>
          <a:bodyPr wrap="square" lIns="25400" tIns="25400" rIns="25400" bIns="25400" rtlCol="0" anchor="ctr">
            <a:noAutofit/>
          </a:bodyPr>
          <a:lstStyle/>
          <a:p>
            <a:pPr marL="0" indent="0" algn="ctr">
              <a:spcBef>
                <a:spcPts val="0"/>
              </a:spcBef>
              <a:buNone/>
            </a:pPr>
            <a:r>
              <a:rPr lang="en-US" sz="1200" b="1" dirty="0">
                <a:solidFill>
                  <a:srgbClr val="FFFFFF"/>
                </a:solidFill>
              </a:rPr>
              <a:t>S4 accounts</a:t>
            </a:r>
            <a:endParaRPr lang="en-US" sz="1200" dirty="0"/>
          </a:p>
        </p:txBody>
      </p:sp>
      <p:sp>
        <p:nvSpPr>
          <p:cNvPr id="220" name="Shape 220"/>
          <p:cNvSpPr/>
          <p:nvPr/>
        </p:nvSpPr>
        <p:spPr>
          <a:xfrm>
            <a:off x="9601200" y="4648200"/>
            <a:ext cx="2133600" cy="787400"/>
          </a:xfrm>
          <a:prstGeom prst="flowChartMagneticDisk">
            <a:avLst/>
          </a:prstGeom>
          <a:solidFill>
            <a:srgbClr val="FFFFFF"/>
          </a:solidFill>
          <a:ln w="12700">
            <a:solidFill>
              <a:srgbClr val="6B7579"/>
            </a:solidFill>
          </a:ln>
        </p:spPr>
        <p:txBody>
          <a:bodyPr wrap="square" lIns="50800" tIns="50800" rIns="50800" bIns="50800" rtlCol="0" anchor="ctr">
            <a:noAutofit/>
          </a:bodyPr>
          <a:lstStyle/>
          <a:p>
            <a:pPr marL="0" indent="0" algn="ctr">
              <a:spcBef>
                <a:spcPts val="0"/>
              </a:spcBef>
              <a:buNone/>
            </a:pPr>
            <a:r>
              <a:rPr lang="en-US" sz="1400" b="1" dirty="0">
                <a:solidFill>
                  <a:srgbClr val="1F2A2E"/>
                </a:solidFill>
              </a:rPr>
              <a:t>SQLite</a:t>
            </a:r>
            <a:endParaRPr lang="en-US" sz="1400" dirty="0"/>
          </a:p>
          <a:p>
            <a:pPr marL="0" indent="0" algn="ctr">
              <a:spcBef>
                <a:spcPts val="0"/>
              </a:spcBef>
              <a:buNone/>
            </a:pPr>
            <a:r>
              <a:rPr lang="en-US" sz="1200" dirty="0">
                <a:solidFill>
                  <a:srgbClr val="6B7579"/>
                </a:solidFill>
              </a:rPr>
              <a:t>one DB, tables per app</a:t>
            </a:r>
            <a:endParaRPr lang="en-US" sz="1200" dirty="0"/>
          </a:p>
        </p:txBody>
      </p:sp>
      <p:cxnSp>
        <p:nvCxnSpPr>
          <p:cNvPr id="221" name="Line 221"/>
          <p:cNvCxnSpPr/>
          <p:nvPr/>
        </p:nvCxnSpPr>
        <p:spPr>
          <a:xfrm>
            <a:off x="2362200" y="5041900"/>
            <a:ext cx="635000" cy="0"/>
          </a:xfrm>
          <a:prstGeom prst="line">
            <a:avLst/>
          </a:prstGeom>
          <a:ln w="15875">
            <a:solidFill>
              <a:srgbClr val="6B7579"/>
            </a:solidFill>
            <a:headEnd type="triangle" w="med" len="med"/>
            <a:tailEnd type="triangle" w="med" len="med"/>
          </a:ln>
        </p:spPr>
      </p:cxnSp>
      <p:sp>
        <p:nvSpPr>
          <p:cNvPr id="222" name="Shape 222"/>
          <p:cNvSpPr txBox="1"/>
          <p:nvPr/>
        </p:nvSpPr>
        <p:spPr>
          <a:xfrm>
            <a:off x="2387600" y="4724400"/>
            <a:ext cx="584200" cy="177800"/>
          </a:xfrm>
          <a:prstGeom prst="rect">
            <a:avLst/>
          </a:prstGeom>
          <a:noFill/>
          <a:ln>
            <a:noFill/>
          </a:ln>
        </p:spPr>
        <p:txBody>
          <a:bodyPr wrap="square" lIns="0" tIns="0" rIns="0" bIns="0" rtlCol="0" anchor="t">
            <a:noAutofit/>
          </a:bodyPr>
          <a:lstStyle/>
          <a:p>
            <a:pPr marL="0" indent="0" algn="ctr">
              <a:spcBef>
                <a:spcPts val="0"/>
              </a:spcBef>
              <a:buNone/>
            </a:pPr>
            <a:r>
              <a:rPr lang="en-US" sz="1050" dirty="0">
                <a:solidFill>
                  <a:srgbClr val="6B7579"/>
                </a:solidFill>
              </a:rPr>
              <a:t>REST</a:t>
            </a:r>
            <a:endParaRPr lang="en-US" sz="1050" dirty="0"/>
          </a:p>
        </p:txBody>
      </p:sp>
      <p:cxnSp>
        <p:nvCxnSpPr>
          <p:cNvPr id="223" name="Line 223"/>
          <p:cNvCxnSpPr/>
          <p:nvPr/>
        </p:nvCxnSpPr>
        <p:spPr>
          <a:xfrm>
            <a:off x="8966200" y="5041900"/>
            <a:ext cx="635000" cy="0"/>
          </a:xfrm>
          <a:prstGeom prst="line">
            <a:avLst/>
          </a:prstGeom>
          <a:ln w="15875">
            <a:solidFill>
              <a:srgbClr val="6B7579"/>
            </a:solidFill>
            <a:headEnd type="triangle" w="med" len="med"/>
            <a:tailEnd type="triangle" w="med" len="med"/>
          </a:ln>
        </p:spPr>
      </p:cxnSp>
      <p:sp>
        <p:nvSpPr>
          <p:cNvPr id="224" name="Shape 224"/>
          <p:cNvSpPr txBox="1"/>
          <p:nvPr/>
        </p:nvSpPr>
        <p:spPr>
          <a:xfrm>
            <a:off x="8966200" y="4749800"/>
            <a:ext cx="635000" cy="177800"/>
          </a:xfrm>
          <a:prstGeom prst="rect">
            <a:avLst/>
          </a:prstGeom>
          <a:noFill/>
          <a:ln>
            <a:noFill/>
          </a:ln>
        </p:spPr>
        <p:txBody>
          <a:bodyPr wrap="square" lIns="0" tIns="0" rIns="0" bIns="0" rtlCol="0" anchor="t">
            <a:noAutofit/>
          </a:bodyPr>
          <a:lstStyle/>
          <a:p>
            <a:pPr marL="0" indent="0" algn="ctr">
              <a:spcBef>
                <a:spcPts val="0"/>
              </a:spcBef>
              <a:buNone/>
            </a:pPr>
            <a:r>
              <a:rPr lang="en-US" sz="1050" dirty="0">
                <a:solidFill>
                  <a:srgbClr val="6B7579"/>
                </a:solidFill>
              </a:rPr>
              <a:t>ORM</a:t>
            </a:r>
            <a:endParaRPr lang="en-US" sz="1050" dirty="0"/>
          </a:p>
        </p:txBody>
      </p:sp>
      <p:sp>
        <p:nvSpPr>
          <p:cNvPr id="225" name="Shape 225"/>
          <p:cNvSpPr/>
          <p:nvPr/>
        </p:nvSpPr>
        <p:spPr>
          <a:xfrm>
            <a:off x="457200" y="5943600"/>
            <a:ext cx="2159000" cy="431800"/>
          </a:xfrm>
          <a:prstGeom prst="rect">
            <a:avLst/>
          </a:prstGeom>
          <a:solidFill>
            <a:srgbClr val="FFFFFF"/>
          </a:solidFill>
          <a:ln w="12700">
            <a:solidFill>
              <a:srgbClr val="2E6F95"/>
            </a:solidFill>
          </a:ln>
        </p:spPr>
        <p:txBody>
          <a:bodyPr wrap="square" lIns="50800" tIns="50800" rIns="50800" bIns="50800" rtlCol="0" anchor="ctr">
            <a:noAutofit/>
          </a:bodyPr>
          <a:lstStyle/>
          <a:p>
            <a:pPr marL="0" indent="0" algn="ctr">
              <a:spcBef>
                <a:spcPts val="0"/>
              </a:spcBef>
              <a:buNone/>
            </a:pPr>
            <a:r>
              <a:rPr lang="en-US" sz="1200" b="1" dirty="0">
                <a:solidFill>
                  <a:srgbClr val="2E6F95"/>
                </a:solidFill>
              </a:rPr>
              <a:t>Telemetry Generator</a:t>
            </a:r>
            <a:endParaRPr lang="en-US" sz="1200" dirty="0"/>
          </a:p>
        </p:txBody>
      </p:sp>
      <p:cxnSp>
        <p:nvCxnSpPr>
          <p:cNvPr id="226" name="Line 226"/>
          <p:cNvCxnSpPr/>
          <p:nvPr/>
        </p:nvCxnSpPr>
        <p:spPr>
          <a:xfrm>
            <a:off x="2616200" y="6159500"/>
            <a:ext cx="1181100" cy="0"/>
          </a:xfrm>
          <a:prstGeom prst="line">
            <a:avLst/>
          </a:prstGeom>
          <a:ln w="15875">
            <a:solidFill>
              <a:srgbClr val="2E6F95"/>
            </a:solidFill>
          </a:ln>
        </p:spPr>
      </p:cxnSp>
      <p:cxnSp>
        <p:nvCxnSpPr>
          <p:cNvPr id="227" name="Line 227"/>
          <p:cNvCxnSpPr/>
          <p:nvPr/>
        </p:nvCxnSpPr>
        <p:spPr>
          <a:xfrm flipV="1">
            <a:off x="3797300" y="5537200"/>
            <a:ext cx="0" cy="622300"/>
          </a:xfrm>
          <a:prstGeom prst="line">
            <a:avLst/>
          </a:prstGeom>
          <a:ln w="15875">
            <a:solidFill>
              <a:srgbClr val="2E6F95"/>
            </a:solidFill>
            <a:tailEnd type="triangle" w="med" len="med"/>
          </a:ln>
        </p:spPr>
      </p:cxnSp>
      <p:sp>
        <p:nvSpPr>
          <p:cNvPr id="228" name="Shape 228"/>
          <p:cNvSpPr txBox="1"/>
          <p:nvPr/>
        </p:nvSpPr>
        <p:spPr>
          <a:xfrm>
            <a:off x="2717800" y="5918200"/>
            <a:ext cx="1041400" cy="177800"/>
          </a:xfrm>
          <a:prstGeom prst="rect">
            <a:avLst/>
          </a:prstGeom>
          <a:noFill/>
          <a:ln>
            <a:noFill/>
          </a:ln>
        </p:spPr>
        <p:txBody>
          <a:bodyPr wrap="square" lIns="0" tIns="0" rIns="0" bIns="0" rtlCol="0" anchor="t">
            <a:noAutofit/>
          </a:bodyPr>
          <a:lstStyle/>
          <a:p>
            <a:pPr marL="0" indent="0" algn="l">
              <a:spcBef>
                <a:spcPts val="0"/>
              </a:spcBef>
              <a:buNone/>
            </a:pPr>
            <a:r>
              <a:rPr lang="en-US" sz="1050" dirty="0">
                <a:solidFill>
                  <a:srgbClr val="2E6F95"/>
                </a:solidFill>
              </a:rPr>
              <a:t>readings / 60 s</a:t>
            </a:r>
            <a:endParaRPr lang="en-US" sz="1050" dirty="0"/>
          </a:p>
        </p:txBody>
      </p:sp>
      <p:sp>
        <p:nvSpPr>
          <p:cNvPr id="229" name="Shape 229"/>
          <p:cNvSpPr/>
          <p:nvPr/>
        </p:nvSpPr>
        <p:spPr>
          <a:xfrm>
            <a:off x="7061200" y="5943600"/>
            <a:ext cx="1905000" cy="431800"/>
          </a:xfrm>
          <a:prstGeom prst="rect">
            <a:avLst/>
          </a:prstGeom>
          <a:solidFill>
            <a:srgbClr val="FFFFFF"/>
          </a:solidFill>
          <a:ln w="12700">
            <a:solidFill>
              <a:srgbClr val="7A5BA6"/>
            </a:solidFill>
          </a:ln>
        </p:spPr>
        <p:txBody>
          <a:bodyPr wrap="square" lIns="50800" tIns="50800" rIns="50800" bIns="50800" rtlCol="0" anchor="ctr">
            <a:noAutofit/>
          </a:bodyPr>
          <a:lstStyle/>
          <a:p>
            <a:pPr marL="0" indent="0" algn="ctr">
              <a:spcBef>
                <a:spcPts val="0"/>
              </a:spcBef>
              <a:buNone/>
            </a:pPr>
            <a:r>
              <a:rPr lang="en-US" sz="1200" b="1" dirty="0">
                <a:solidFill>
                  <a:srgbClr val="7A5BA6"/>
                </a:solidFill>
              </a:rPr>
              <a:t>OpenAI API</a:t>
            </a:r>
            <a:endParaRPr lang="en-US" sz="1200" dirty="0"/>
          </a:p>
        </p:txBody>
      </p:sp>
      <p:cxnSp>
        <p:nvCxnSpPr>
          <p:cNvPr id="230" name="Line 230"/>
          <p:cNvCxnSpPr/>
          <p:nvPr/>
        </p:nvCxnSpPr>
        <p:spPr>
          <a:xfrm>
            <a:off x="6667500" y="5537200"/>
            <a:ext cx="0" cy="622300"/>
          </a:xfrm>
          <a:prstGeom prst="line">
            <a:avLst/>
          </a:prstGeom>
          <a:ln w="15875">
            <a:solidFill>
              <a:srgbClr val="7A5BA6"/>
            </a:solidFill>
          </a:ln>
        </p:spPr>
      </p:cxnSp>
      <p:cxnSp>
        <p:nvCxnSpPr>
          <p:cNvPr id="231" name="Line 231"/>
          <p:cNvCxnSpPr/>
          <p:nvPr/>
        </p:nvCxnSpPr>
        <p:spPr>
          <a:xfrm>
            <a:off x="6667500" y="6159500"/>
            <a:ext cx="393700" cy="0"/>
          </a:xfrm>
          <a:prstGeom prst="line">
            <a:avLst/>
          </a:prstGeom>
          <a:ln w="15875">
            <a:solidFill>
              <a:srgbClr val="7A5BA6"/>
            </a:solidFill>
            <a:tailEnd type="triangle" w="med" len="med"/>
          </a:ln>
        </p:spPr>
      </p:cxnSp>
      <p:sp>
        <p:nvSpPr>
          <p:cNvPr id="232" name="Shape 232"/>
          <p:cNvSpPr txBox="1"/>
          <p:nvPr/>
        </p:nvSpPr>
        <p:spPr>
          <a:xfrm>
            <a:off x="9271000" y="5943600"/>
            <a:ext cx="2286000" cy="4064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aggregated metrics only, no personal data</a:t>
            </a:r>
            <a:endParaRPr lang="en-US" sz="1100" dirty="0"/>
          </a:p>
        </p:txBody>
      </p:sp>
    </p:spTree>
    <p:extLst>
      <p:ext uri="{BB962C8B-B14F-4D97-AF65-F5344CB8AC3E}">
        <p14:creationId xmlns:p14="http://schemas.microsoft.com/office/powerpoint/2010/main" val="1103247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ACAD9-EDA0-5951-5FF9-07584281361C}"/>
              </a:ext>
            </a:extLst>
          </p:cNvPr>
          <p:cNvSpPr>
            <a:spLocks noGrp="1"/>
          </p:cNvSpPr>
          <p:nvPr>
            <p:ph type="title"/>
          </p:nvPr>
        </p:nvSpPr>
        <p:spPr/>
        <p:txBody>
          <a:bodyPr>
            <a:normAutofit/>
          </a:bodyPr>
          <a:lstStyle/>
          <a:p>
            <a:pPr algn="l"/>
            <a:r>
              <a:rPr lang="en-US" sz="3200" b="1" dirty="0"/>
              <a:t>S1 records one validated reading per meter per minute</a:t>
            </a:r>
          </a:p>
        </p:txBody>
      </p:sp>
      <p:sp>
        <p:nvSpPr>
          <p:cNvPr id="200" name="Subsystem bar"/>
          <p:cNvSpPr/>
          <p:nvPr/>
        </p:nvSpPr>
        <p:spPr>
          <a:xfrm>
            <a:off x="457200" y="304800"/>
            <a:ext cx="711200" cy="63500"/>
          </a:xfrm>
          <a:prstGeom prst="rect">
            <a:avLst/>
          </a:prstGeom>
          <a:solidFill>
            <a:srgbClr val="2E6F95"/>
          </a:solidFill>
          <a:ln>
            <a:noFill/>
          </a:ln>
        </p:spPr>
        <p:txBody>
          <a:bodyPr wrap="square" lIns="50800" tIns="50800" rIns="50800" bIns="50800" rtlCol="0" anchor="t">
            <a:noAutofit/>
          </a:bodyPr>
          <a:lstStyle/>
          <a:p>
            <a:endParaRPr lang="en-US" dirty="0"/>
          </a:p>
        </p:txBody>
      </p:sp>
      <p:sp>
        <p:nvSpPr>
          <p:cNvPr id="201" name="Shape 201"/>
          <p:cNvSpPr txBox="1"/>
          <p:nvPr/>
        </p:nvSpPr>
        <p:spPr>
          <a:xfrm>
            <a:off x="457200" y="1244600"/>
            <a:ext cx="6654800" cy="228600"/>
          </a:xfrm>
          <a:prstGeom prst="rect">
            <a:avLst/>
          </a:prstGeom>
          <a:noFill/>
          <a:ln>
            <a:noFill/>
          </a:ln>
        </p:spPr>
        <p:txBody>
          <a:bodyPr wrap="square" lIns="0" tIns="0" rIns="0" bIns="0" rtlCol="0" anchor="t">
            <a:noAutofit/>
          </a:bodyPr>
          <a:lstStyle/>
          <a:p>
            <a:pPr marL="0" indent="0" algn="l">
              <a:spcBef>
                <a:spcPts val="0"/>
              </a:spcBef>
              <a:buNone/>
            </a:pPr>
            <a:r>
              <a:rPr lang="en-US" sz="1300" b="1" dirty="0">
                <a:solidFill>
                  <a:srgbClr val="2E6F95"/>
                </a:solidFill>
                <a:latin typeface="+mj-lt"/>
              </a:rPr>
              <a:t>Domain class diagram</a:t>
            </a:r>
            <a:r>
              <a:rPr lang="en-US" sz="1300" dirty="0">
                <a:solidFill>
                  <a:srgbClr val="6B7579"/>
                </a:solidFill>
              </a:rPr>
              <a:t>  ·  5 classes</a:t>
            </a:r>
            <a:endParaRPr lang="en-US" sz="1300" dirty="0"/>
          </a:p>
        </p:txBody>
      </p:sp>
      <p:sp>
        <p:nvSpPr>
          <p:cNvPr id="202" name="Shape 202"/>
          <p:cNvSpPr/>
          <p:nvPr/>
        </p:nvSpPr>
        <p:spPr>
          <a:xfrm>
            <a:off x="2159000" y="1549400"/>
            <a:ext cx="2540000" cy="381000"/>
          </a:xfrm>
          <a:prstGeom prst="rect">
            <a:avLst/>
          </a:prstGeom>
          <a:solidFill>
            <a:srgbClr val="2E6F95"/>
          </a:solidFill>
          <a:ln w="9525">
            <a:solidFill>
              <a:srgbClr val="2E6F95"/>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«entity»</a:t>
            </a:r>
            <a:endParaRPr lang="en-US" sz="800" dirty="0"/>
          </a:p>
          <a:p>
            <a:pPr marL="0" indent="0" algn="ctr">
              <a:lnSpc>
                <a:spcPct val="90000"/>
              </a:lnSpc>
              <a:spcBef>
                <a:spcPts val="0"/>
              </a:spcBef>
              <a:buNone/>
            </a:pPr>
            <a:r>
              <a:rPr lang="en-US" sz="1050" b="1" dirty="0">
                <a:solidFill>
                  <a:srgbClr val="FFFFFF"/>
                </a:solidFill>
              </a:rPr>
              <a:t>Building</a:t>
            </a:r>
            <a:endParaRPr lang="en-US" sz="1050" dirty="0"/>
          </a:p>
        </p:txBody>
      </p:sp>
      <p:sp>
        <p:nvSpPr>
          <p:cNvPr id="203" name="Shape 203"/>
          <p:cNvSpPr/>
          <p:nvPr/>
        </p:nvSpPr>
        <p:spPr>
          <a:xfrm>
            <a:off x="2159000" y="1930400"/>
            <a:ext cx="2540000" cy="1028700"/>
          </a:xfrm>
          <a:prstGeom prst="rect">
            <a:avLst/>
          </a:prstGeom>
          <a:solidFill>
            <a:srgbClr val="FFFFFF"/>
          </a:solidFill>
          <a:ln w="9525">
            <a:solidFill>
              <a:srgbClr val="2E6F95"/>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id: int</a:t>
            </a:r>
            <a:endParaRPr lang="en-US" sz="950" dirty="0"/>
          </a:p>
          <a:p>
            <a:pPr marL="0" indent="0" algn="l">
              <a:lnSpc>
                <a:spcPct val="95000"/>
              </a:lnSpc>
              <a:spcBef>
                <a:spcPts val="0"/>
              </a:spcBef>
              <a:buNone/>
            </a:pPr>
            <a:r>
              <a:rPr lang="en-US" sz="950" dirty="0">
                <a:solidFill>
                  <a:srgbClr val="1F2A2E"/>
                </a:solidFill>
              </a:rPr>
              <a:t>name: str</a:t>
            </a:r>
            <a:endParaRPr lang="en-US" sz="950" dirty="0"/>
          </a:p>
          <a:p>
            <a:pPr marL="0" indent="0" algn="l">
              <a:lnSpc>
                <a:spcPct val="95000"/>
              </a:lnSpc>
              <a:spcBef>
                <a:spcPts val="0"/>
              </a:spcBef>
              <a:buNone/>
            </a:pPr>
            <a:r>
              <a:rPr lang="en-US" sz="950" dirty="0">
                <a:solidFill>
                  <a:srgbClr val="1F2A2E"/>
                </a:solidFill>
              </a:rPr>
              <a:t>address: str</a:t>
            </a:r>
            <a:endParaRPr lang="en-US" sz="950" dirty="0"/>
          </a:p>
          <a:p>
            <a:pPr marL="0" indent="0" algn="l">
              <a:lnSpc>
                <a:spcPct val="95000"/>
              </a:lnSpc>
              <a:spcBef>
                <a:spcPts val="0"/>
              </a:spcBef>
              <a:buNone/>
            </a:pPr>
            <a:r>
              <a:rPr lang="en-US" sz="950" dirty="0">
                <a:solidFill>
                  <a:srgbClr val="1F2A2E"/>
                </a:solidFill>
              </a:rPr>
              <a:t>floor_area_m2: float</a:t>
            </a:r>
            <a:endParaRPr lang="en-US" sz="950" dirty="0"/>
          </a:p>
          <a:p>
            <a:pPr marL="0" indent="0" algn="l">
              <a:lnSpc>
                <a:spcPct val="95000"/>
              </a:lnSpc>
              <a:spcBef>
                <a:spcPts val="0"/>
              </a:spcBef>
              <a:buNone/>
            </a:pPr>
            <a:r>
              <a:rPr lang="en-US" sz="950" dirty="0">
                <a:solidFill>
                  <a:srgbClr val="1F2A2E"/>
                </a:solidFill>
              </a:rPr>
              <a:t>type: BuildingType</a:t>
            </a:r>
            <a:endParaRPr lang="en-US" sz="950" dirty="0"/>
          </a:p>
          <a:p>
            <a:pPr marL="0" indent="0" algn="l">
              <a:lnSpc>
                <a:spcPct val="95000"/>
              </a:lnSpc>
              <a:spcBef>
                <a:spcPts val="0"/>
              </a:spcBef>
              <a:buNone/>
            </a:pPr>
            <a:r>
              <a:rPr lang="en-US" sz="950" dirty="0">
                <a:solidFill>
                  <a:srgbClr val="1F2A2E"/>
                </a:solidFill>
              </a:rPr>
              <a:t>created_at: datetime</a:t>
            </a:r>
            <a:endParaRPr lang="en-US" sz="950" dirty="0"/>
          </a:p>
        </p:txBody>
      </p:sp>
      <p:sp>
        <p:nvSpPr>
          <p:cNvPr id="204" name="Shape 204"/>
          <p:cNvSpPr/>
          <p:nvPr/>
        </p:nvSpPr>
        <p:spPr>
          <a:xfrm>
            <a:off x="2159000" y="2959100"/>
            <a:ext cx="2540000" cy="234950"/>
          </a:xfrm>
          <a:prstGeom prst="rect">
            <a:avLst/>
          </a:prstGeom>
          <a:solidFill>
            <a:srgbClr val="FFFFFF"/>
          </a:solidFill>
          <a:ln w="9525">
            <a:solidFill>
              <a:srgbClr val="2E6F95"/>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active_meters(): list[Meter]</a:t>
            </a:r>
            <a:endParaRPr lang="en-US" sz="950" dirty="0"/>
          </a:p>
        </p:txBody>
      </p:sp>
      <p:sp>
        <p:nvSpPr>
          <p:cNvPr id="205" name="Shape 205"/>
          <p:cNvSpPr/>
          <p:nvPr/>
        </p:nvSpPr>
        <p:spPr>
          <a:xfrm>
            <a:off x="457200" y="2133600"/>
            <a:ext cx="1219200" cy="304800"/>
          </a:xfrm>
          <a:prstGeom prst="rect">
            <a:avLst/>
          </a:prstGeom>
          <a:solidFill>
            <a:srgbClr val="C9822B"/>
          </a:solidFill>
          <a:ln w="9525">
            <a:solidFill>
              <a:srgbClr val="C9822B"/>
            </a:solidFill>
          </a:ln>
        </p:spPr>
        <p:txBody>
          <a:bodyPr wrap="square" lIns="38100" tIns="12700" rIns="38100" bIns="12700" rtlCol="0" anchor="ctr">
            <a:noAutofit/>
          </a:bodyPr>
          <a:lstStyle/>
          <a:p>
            <a:pPr marL="0" indent="0" algn="ctr">
              <a:spcBef>
                <a:spcPts val="0"/>
              </a:spcBef>
              <a:buNone/>
            </a:pPr>
            <a:r>
              <a:rPr lang="en-US" sz="1050" b="1" dirty="0">
                <a:solidFill>
                  <a:srgbClr val="FFFFFF"/>
                </a:solidFill>
              </a:rPr>
              <a:t>User (S4)</a:t>
            </a:r>
            <a:endParaRPr lang="en-US" sz="1050" dirty="0"/>
          </a:p>
        </p:txBody>
      </p:sp>
      <p:cxnSp>
        <p:nvCxnSpPr>
          <p:cNvPr id="206" name="Line 206"/>
          <p:cNvCxnSpPr/>
          <p:nvPr/>
        </p:nvCxnSpPr>
        <p:spPr>
          <a:xfrm>
            <a:off x="1676400" y="2286000"/>
            <a:ext cx="482600" cy="0"/>
          </a:xfrm>
          <a:prstGeom prst="line">
            <a:avLst/>
          </a:prstGeom>
          <a:ln w="12700">
            <a:solidFill>
              <a:srgbClr val="6B7579"/>
            </a:solidFill>
            <a:tailEnd type="arrow" w="med" len="med"/>
          </a:ln>
        </p:spPr>
      </p:cxnSp>
      <p:sp>
        <p:nvSpPr>
          <p:cNvPr id="207" name="Shape 207"/>
          <p:cNvSpPr txBox="1"/>
          <p:nvPr/>
        </p:nvSpPr>
        <p:spPr>
          <a:xfrm>
            <a:off x="1701800" y="2108200"/>
            <a:ext cx="254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1</a:t>
            </a:r>
            <a:endParaRPr lang="en-US" sz="900" dirty="0"/>
          </a:p>
        </p:txBody>
      </p:sp>
      <p:sp>
        <p:nvSpPr>
          <p:cNvPr id="208" name="Shape 208"/>
          <p:cNvSpPr txBox="1"/>
          <p:nvPr/>
        </p:nvSpPr>
        <p:spPr>
          <a:xfrm>
            <a:off x="1778000" y="2324100"/>
            <a:ext cx="355600" cy="152400"/>
          </a:xfrm>
          <a:prstGeom prst="rect">
            <a:avLst/>
          </a:prstGeom>
          <a:noFill/>
          <a:ln>
            <a:noFill/>
          </a:ln>
        </p:spPr>
        <p:txBody>
          <a:bodyPr wrap="square" lIns="0" tIns="0" rIns="0" bIns="0" rtlCol="0" anchor="t">
            <a:noAutofit/>
          </a:bodyPr>
          <a:lstStyle/>
          <a:p>
            <a:pPr marL="0" indent="0" algn="r">
              <a:spcBef>
                <a:spcPts val="0"/>
              </a:spcBef>
              <a:buNone/>
            </a:pPr>
            <a:r>
              <a:rPr lang="en-US" sz="900" dirty="0">
                <a:solidFill>
                  <a:srgbClr val="6B7579"/>
                </a:solidFill>
              </a:rPr>
              <a:t>0..*</a:t>
            </a:r>
            <a:endParaRPr lang="en-US" sz="900" dirty="0"/>
          </a:p>
        </p:txBody>
      </p:sp>
      <p:sp>
        <p:nvSpPr>
          <p:cNvPr id="209" name="Shape 209"/>
          <p:cNvSpPr/>
          <p:nvPr/>
        </p:nvSpPr>
        <p:spPr>
          <a:xfrm>
            <a:off x="2159000" y="3759200"/>
            <a:ext cx="2540000" cy="381000"/>
          </a:xfrm>
          <a:prstGeom prst="rect">
            <a:avLst/>
          </a:prstGeom>
          <a:solidFill>
            <a:srgbClr val="2E6F95"/>
          </a:solidFill>
          <a:ln w="9525">
            <a:solidFill>
              <a:srgbClr val="2E6F95"/>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«entity»</a:t>
            </a:r>
            <a:endParaRPr lang="en-US" sz="800" dirty="0"/>
          </a:p>
          <a:p>
            <a:pPr marL="0" indent="0" algn="ctr">
              <a:lnSpc>
                <a:spcPct val="90000"/>
              </a:lnSpc>
              <a:spcBef>
                <a:spcPts val="0"/>
              </a:spcBef>
              <a:buNone/>
            </a:pPr>
            <a:r>
              <a:rPr lang="en-US" sz="1050" b="1" dirty="0">
                <a:solidFill>
                  <a:srgbClr val="FFFFFF"/>
                </a:solidFill>
              </a:rPr>
              <a:t>Meter</a:t>
            </a:r>
            <a:endParaRPr lang="en-US" sz="1050" dirty="0"/>
          </a:p>
        </p:txBody>
      </p:sp>
      <p:sp>
        <p:nvSpPr>
          <p:cNvPr id="210" name="Shape 210"/>
          <p:cNvSpPr/>
          <p:nvPr/>
        </p:nvSpPr>
        <p:spPr>
          <a:xfrm>
            <a:off x="2159000" y="4140200"/>
            <a:ext cx="2540000" cy="711200"/>
          </a:xfrm>
          <a:prstGeom prst="rect">
            <a:avLst/>
          </a:prstGeom>
          <a:solidFill>
            <a:srgbClr val="FFFFFF"/>
          </a:solidFill>
          <a:ln w="9525">
            <a:solidFill>
              <a:srgbClr val="2E6F95"/>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id: int</a:t>
            </a:r>
            <a:endParaRPr lang="en-US" sz="950" dirty="0"/>
          </a:p>
          <a:p>
            <a:pPr marL="0" indent="0" algn="l">
              <a:lnSpc>
                <a:spcPct val="95000"/>
              </a:lnSpc>
              <a:spcBef>
                <a:spcPts val="0"/>
              </a:spcBef>
              <a:buNone/>
            </a:pPr>
            <a:r>
              <a:rPr lang="en-US" sz="950" dirty="0">
                <a:solidFill>
                  <a:srgbClr val="1F2A2E"/>
                </a:solidFill>
              </a:rPr>
              <a:t>category: {HVAC, LIGHTING, PLUG, SOLAR}</a:t>
            </a:r>
            <a:endParaRPr lang="en-US" sz="950" dirty="0"/>
          </a:p>
          <a:p>
            <a:pPr marL="0" indent="0" algn="l">
              <a:lnSpc>
                <a:spcPct val="95000"/>
              </a:lnSpc>
              <a:spcBef>
                <a:spcPts val="0"/>
              </a:spcBef>
              <a:buNone/>
            </a:pPr>
            <a:r>
              <a:rPr lang="en-US" sz="950" dirty="0">
                <a:solidFill>
                  <a:srgbClr val="1F2A2E"/>
                </a:solidFill>
              </a:rPr>
              <a:t>unit: str</a:t>
            </a:r>
            <a:endParaRPr lang="en-US" sz="950" dirty="0"/>
          </a:p>
          <a:p>
            <a:pPr marL="0" indent="0" algn="l">
              <a:lnSpc>
                <a:spcPct val="95000"/>
              </a:lnSpc>
              <a:spcBef>
                <a:spcPts val="0"/>
              </a:spcBef>
              <a:buNone/>
            </a:pPr>
            <a:r>
              <a:rPr lang="en-US" sz="950" dirty="0">
                <a:solidFill>
                  <a:srgbClr val="1F2A2E"/>
                </a:solidFill>
              </a:rPr>
              <a:t>is_active: bool</a:t>
            </a:r>
            <a:endParaRPr lang="en-US" sz="950" dirty="0"/>
          </a:p>
        </p:txBody>
      </p:sp>
      <p:sp>
        <p:nvSpPr>
          <p:cNvPr id="211" name="Shape 211"/>
          <p:cNvSpPr/>
          <p:nvPr/>
        </p:nvSpPr>
        <p:spPr>
          <a:xfrm>
            <a:off x="2159000" y="4851400"/>
            <a:ext cx="2540000" cy="234950"/>
          </a:xfrm>
          <a:prstGeom prst="rect">
            <a:avLst/>
          </a:prstGeom>
          <a:solidFill>
            <a:srgbClr val="FFFFFF"/>
          </a:solidFill>
          <a:ln w="9525">
            <a:solidFill>
              <a:srgbClr val="2E6F95"/>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latest_reading(): EnergyReading</a:t>
            </a:r>
            <a:endParaRPr lang="en-US" sz="950" dirty="0"/>
          </a:p>
        </p:txBody>
      </p:sp>
      <p:cxnSp>
        <p:nvCxnSpPr>
          <p:cNvPr id="212" name="Line 212"/>
          <p:cNvCxnSpPr/>
          <p:nvPr/>
        </p:nvCxnSpPr>
        <p:spPr>
          <a:xfrm>
            <a:off x="3429000" y="3194050"/>
            <a:ext cx="0" cy="565150"/>
          </a:xfrm>
          <a:prstGeom prst="line">
            <a:avLst/>
          </a:prstGeom>
          <a:ln w="12700">
            <a:solidFill>
              <a:srgbClr val="6B7579"/>
            </a:solidFill>
            <a:headEnd type="diamond" w="med" len="med"/>
          </a:ln>
        </p:spPr>
      </p:cxnSp>
      <p:sp>
        <p:nvSpPr>
          <p:cNvPr id="213" name="Shape 213"/>
          <p:cNvSpPr txBox="1"/>
          <p:nvPr/>
        </p:nvSpPr>
        <p:spPr>
          <a:xfrm>
            <a:off x="3479800" y="3219450"/>
            <a:ext cx="254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1</a:t>
            </a:r>
            <a:endParaRPr lang="en-US" sz="900" dirty="0"/>
          </a:p>
        </p:txBody>
      </p:sp>
      <p:sp>
        <p:nvSpPr>
          <p:cNvPr id="214" name="Shape 214"/>
          <p:cNvSpPr txBox="1"/>
          <p:nvPr/>
        </p:nvSpPr>
        <p:spPr>
          <a:xfrm>
            <a:off x="3479800" y="3581400"/>
            <a:ext cx="381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1..*</a:t>
            </a:r>
            <a:endParaRPr lang="en-US" sz="900" dirty="0"/>
          </a:p>
        </p:txBody>
      </p:sp>
      <p:sp>
        <p:nvSpPr>
          <p:cNvPr id="215" name="Shape 215"/>
          <p:cNvSpPr/>
          <p:nvPr/>
        </p:nvSpPr>
        <p:spPr>
          <a:xfrm>
            <a:off x="5232400" y="3276600"/>
            <a:ext cx="1905000" cy="381000"/>
          </a:xfrm>
          <a:prstGeom prst="rect">
            <a:avLst/>
          </a:prstGeom>
          <a:solidFill>
            <a:srgbClr val="2E6F95"/>
          </a:solidFill>
          <a:ln w="9525">
            <a:solidFill>
              <a:srgbClr val="2E6F95"/>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«entity»</a:t>
            </a:r>
            <a:endParaRPr lang="en-US" sz="800" dirty="0"/>
          </a:p>
          <a:p>
            <a:pPr marL="0" indent="0" algn="ctr">
              <a:lnSpc>
                <a:spcPct val="90000"/>
              </a:lnSpc>
              <a:spcBef>
                <a:spcPts val="0"/>
              </a:spcBef>
              <a:buNone/>
            </a:pPr>
            <a:r>
              <a:rPr lang="en-US" sz="1050" b="1" dirty="0">
                <a:solidFill>
                  <a:srgbClr val="FFFFFF"/>
                </a:solidFill>
              </a:rPr>
              <a:t>EnergyReading</a:t>
            </a:r>
            <a:endParaRPr lang="en-US" sz="1050" dirty="0"/>
          </a:p>
        </p:txBody>
      </p:sp>
      <p:sp>
        <p:nvSpPr>
          <p:cNvPr id="216" name="Shape 216"/>
          <p:cNvSpPr/>
          <p:nvPr/>
        </p:nvSpPr>
        <p:spPr>
          <a:xfrm>
            <a:off x="5232400" y="3657600"/>
            <a:ext cx="1905000" cy="1028700"/>
          </a:xfrm>
          <a:prstGeom prst="rect">
            <a:avLst/>
          </a:prstGeom>
          <a:solidFill>
            <a:srgbClr val="FFFFFF"/>
          </a:solidFill>
          <a:ln w="9525">
            <a:solidFill>
              <a:srgbClr val="2E6F95"/>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id: int</a:t>
            </a:r>
            <a:endParaRPr lang="en-US" sz="950" dirty="0"/>
          </a:p>
          <a:p>
            <a:pPr marL="0" indent="0" algn="l">
              <a:lnSpc>
                <a:spcPct val="95000"/>
              </a:lnSpc>
              <a:spcBef>
                <a:spcPts val="0"/>
              </a:spcBef>
              <a:buNone/>
            </a:pPr>
            <a:r>
              <a:rPr lang="en-US" sz="950" dirty="0">
                <a:solidFill>
                  <a:srgbClr val="1F2A2E"/>
                </a:solidFill>
              </a:rPr>
              <a:t>timestamp: datetime</a:t>
            </a:r>
            <a:endParaRPr lang="en-US" sz="950" dirty="0"/>
          </a:p>
          <a:p>
            <a:pPr marL="0" indent="0" algn="l">
              <a:lnSpc>
                <a:spcPct val="95000"/>
              </a:lnSpc>
              <a:spcBef>
                <a:spcPts val="0"/>
              </a:spcBef>
              <a:buNone/>
            </a:pPr>
            <a:r>
              <a:rPr lang="en-US" sz="950" dirty="0">
                <a:solidFill>
                  <a:srgbClr val="1F2A2E"/>
                </a:solidFill>
              </a:rPr>
              <a:t>consumption_kwh: Decimal</a:t>
            </a:r>
            <a:endParaRPr lang="en-US" sz="950" dirty="0"/>
          </a:p>
          <a:p>
            <a:pPr marL="0" indent="0" algn="l">
              <a:lnSpc>
                <a:spcPct val="95000"/>
              </a:lnSpc>
              <a:spcBef>
                <a:spcPts val="0"/>
              </a:spcBef>
              <a:buNone/>
            </a:pPr>
            <a:r>
              <a:rPr lang="en-US" sz="950" dirty="0">
                <a:solidFill>
                  <a:srgbClr val="1F2A2E"/>
                </a:solidFill>
              </a:rPr>
              <a:t>power_kw: float</a:t>
            </a:r>
            <a:endParaRPr lang="en-US" sz="950" dirty="0"/>
          </a:p>
          <a:p>
            <a:pPr marL="0" indent="0" algn="l">
              <a:lnSpc>
                <a:spcPct val="95000"/>
              </a:lnSpc>
              <a:spcBef>
                <a:spcPts val="0"/>
              </a:spcBef>
              <a:buNone/>
            </a:pPr>
            <a:r>
              <a:rPr lang="en-US" sz="950" dirty="0">
                <a:solidFill>
                  <a:srgbClr val="1F2A2E"/>
                </a:solidFill>
              </a:rPr>
              <a:t>source: {SIMULATED, MANUAL}</a:t>
            </a:r>
            <a:endParaRPr lang="en-US" sz="950" dirty="0"/>
          </a:p>
          <a:p>
            <a:pPr marL="0" indent="0" algn="l">
              <a:lnSpc>
                <a:spcPct val="95000"/>
              </a:lnSpc>
              <a:spcBef>
                <a:spcPts val="0"/>
              </a:spcBef>
              <a:buNone/>
            </a:pPr>
            <a:r>
              <a:rPr lang="en-US" sz="950" dirty="0">
                <a:solidFill>
                  <a:srgbClr val="1F2A2E"/>
                </a:solidFill>
              </a:rPr>
              <a:t>is_valid: bool</a:t>
            </a:r>
            <a:endParaRPr lang="en-US" sz="950" dirty="0"/>
          </a:p>
        </p:txBody>
      </p:sp>
      <p:sp>
        <p:nvSpPr>
          <p:cNvPr id="217" name="Shape 217"/>
          <p:cNvSpPr/>
          <p:nvPr/>
        </p:nvSpPr>
        <p:spPr>
          <a:xfrm>
            <a:off x="5232400" y="4686300"/>
            <a:ext cx="1905000" cy="234950"/>
          </a:xfrm>
          <a:prstGeom prst="rect">
            <a:avLst/>
          </a:prstGeom>
          <a:solidFill>
            <a:srgbClr val="FFFFFF"/>
          </a:solidFill>
          <a:ln w="9525">
            <a:solidFill>
              <a:srgbClr val="2E6F95"/>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to_dict(): dict</a:t>
            </a:r>
            <a:endParaRPr lang="en-US" sz="950" dirty="0"/>
          </a:p>
        </p:txBody>
      </p:sp>
      <p:cxnSp>
        <p:nvCxnSpPr>
          <p:cNvPr id="218" name="Line 218"/>
          <p:cNvCxnSpPr/>
          <p:nvPr/>
        </p:nvCxnSpPr>
        <p:spPr>
          <a:xfrm>
            <a:off x="4699000" y="4089400"/>
            <a:ext cx="533400" cy="0"/>
          </a:xfrm>
          <a:prstGeom prst="line">
            <a:avLst/>
          </a:prstGeom>
          <a:ln w="12700">
            <a:solidFill>
              <a:srgbClr val="6B7579"/>
            </a:solidFill>
            <a:headEnd type="diamond" w="med" len="med"/>
          </a:ln>
        </p:spPr>
      </p:cxnSp>
      <p:sp>
        <p:nvSpPr>
          <p:cNvPr id="219" name="Shape 219"/>
          <p:cNvSpPr txBox="1"/>
          <p:nvPr/>
        </p:nvSpPr>
        <p:spPr>
          <a:xfrm>
            <a:off x="4737100" y="3911600"/>
            <a:ext cx="254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1</a:t>
            </a:r>
            <a:endParaRPr lang="en-US" sz="900" dirty="0"/>
          </a:p>
        </p:txBody>
      </p:sp>
      <p:sp>
        <p:nvSpPr>
          <p:cNvPr id="220" name="Shape 220"/>
          <p:cNvSpPr txBox="1"/>
          <p:nvPr/>
        </p:nvSpPr>
        <p:spPr>
          <a:xfrm>
            <a:off x="4826000" y="4127500"/>
            <a:ext cx="381000" cy="152400"/>
          </a:xfrm>
          <a:prstGeom prst="rect">
            <a:avLst/>
          </a:prstGeom>
          <a:noFill/>
          <a:ln>
            <a:noFill/>
          </a:ln>
        </p:spPr>
        <p:txBody>
          <a:bodyPr wrap="square" lIns="0" tIns="0" rIns="0" bIns="0" rtlCol="0" anchor="t">
            <a:noAutofit/>
          </a:bodyPr>
          <a:lstStyle/>
          <a:p>
            <a:pPr marL="0" indent="0" algn="r">
              <a:spcBef>
                <a:spcPts val="0"/>
              </a:spcBef>
              <a:buNone/>
            </a:pPr>
            <a:r>
              <a:rPr lang="en-US" sz="900" dirty="0">
                <a:solidFill>
                  <a:srgbClr val="6B7579"/>
                </a:solidFill>
              </a:rPr>
              <a:t>0..*</a:t>
            </a:r>
            <a:endParaRPr lang="en-US" sz="900" dirty="0"/>
          </a:p>
        </p:txBody>
      </p:sp>
      <p:sp>
        <p:nvSpPr>
          <p:cNvPr id="221" name="Shape 221"/>
          <p:cNvSpPr/>
          <p:nvPr/>
        </p:nvSpPr>
        <p:spPr>
          <a:xfrm>
            <a:off x="457200" y="5207000"/>
            <a:ext cx="1905000" cy="381000"/>
          </a:xfrm>
          <a:prstGeom prst="rect">
            <a:avLst/>
          </a:prstGeom>
          <a:solidFill>
            <a:srgbClr val="2E6F95"/>
          </a:solidFill>
          <a:ln w="9525">
            <a:solidFill>
              <a:srgbClr val="2E6F95"/>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«service»</a:t>
            </a:r>
            <a:endParaRPr lang="en-US" sz="800" dirty="0"/>
          </a:p>
          <a:p>
            <a:pPr marL="0" indent="0" algn="ctr">
              <a:lnSpc>
                <a:spcPct val="90000"/>
              </a:lnSpc>
              <a:spcBef>
                <a:spcPts val="0"/>
              </a:spcBef>
              <a:buNone/>
            </a:pPr>
            <a:r>
              <a:rPr lang="en-US" sz="1050" b="1" dirty="0">
                <a:solidFill>
                  <a:srgbClr val="FFFFFF"/>
                </a:solidFill>
              </a:rPr>
              <a:t>TelemetryGenerator</a:t>
            </a:r>
            <a:endParaRPr lang="en-US" sz="1050" dirty="0"/>
          </a:p>
        </p:txBody>
      </p:sp>
      <p:sp>
        <p:nvSpPr>
          <p:cNvPr id="222" name="Shape 222"/>
          <p:cNvSpPr/>
          <p:nvPr/>
        </p:nvSpPr>
        <p:spPr>
          <a:xfrm>
            <a:off x="457200" y="5588000"/>
            <a:ext cx="1905000" cy="234950"/>
          </a:xfrm>
          <a:prstGeom prst="rect">
            <a:avLst/>
          </a:prstGeom>
          <a:solidFill>
            <a:srgbClr val="FFFFFF"/>
          </a:solidFill>
          <a:ln w="9525">
            <a:solidFill>
              <a:srgbClr val="2E6F95"/>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interval_s: int = 60</a:t>
            </a:r>
            <a:endParaRPr lang="en-US" sz="950" dirty="0"/>
          </a:p>
        </p:txBody>
      </p:sp>
      <p:sp>
        <p:nvSpPr>
          <p:cNvPr id="223" name="Shape 223"/>
          <p:cNvSpPr/>
          <p:nvPr/>
        </p:nvSpPr>
        <p:spPr>
          <a:xfrm>
            <a:off x="457200" y="5822950"/>
            <a:ext cx="1905000" cy="552450"/>
          </a:xfrm>
          <a:prstGeom prst="rect">
            <a:avLst/>
          </a:prstGeom>
          <a:solidFill>
            <a:srgbClr val="FFFFFF"/>
          </a:solidFill>
          <a:ln w="9525">
            <a:solidFill>
              <a:srgbClr val="2E6F95"/>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start()</a:t>
            </a:r>
            <a:endParaRPr lang="en-US" sz="950" dirty="0"/>
          </a:p>
          <a:p>
            <a:pPr marL="0" indent="0" algn="l">
              <a:lnSpc>
                <a:spcPct val="95000"/>
              </a:lnSpc>
              <a:spcBef>
                <a:spcPts val="0"/>
              </a:spcBef>
              <a:buNone/>
            </a:pPr>
            <a:r>
              <a:rPr lang="en-US" sz="950" dirty="0">
                <a:solidFill>
                  <a:srgbClr val="6B7579"/>
                </a:solidFill>
              </a:rPr>
              <a:t>stop()</a:t>
            </a:r>
            <a:endParaRPr lang="en-US" sz="950" dirty="0"/>
          </a:p>
          <a:p>
            <a:pPr marL="0" indent="0" algn="l">
              <a:lnSpc>
                <a:spcPct val="95000"/>
              </a:lnSpc>
              <a:spcBef>
                <a:spcPts val="0"/>
              </a:spcBef>
              <a:buNone/>
            </a:pPr>
            <a:r>
              <a:rPr lang="en-US" sz="950" dirty="0">
                <a:solidFill>
                  <a:srgbClr val="6B7579"/>
                </a:solidFill>
              </a:rPr>
              <a:t>generate(): list[EnergyReading]</a:t>
            </a:r>
            <a:endParaRPr lang="en-US" sz="950" dirty="0"/>
          </a:p>
        </p:txBody>
      </p:sp>
      <p:sp>
        <p:nvSpPr>
          <p:cNvPr id="224" name="Shape 224"/>
          <p:cNvSpPr/>
          <p:nvPr/>
        </p:nvSpPr>
        <p:spPr>
          <a:xfrm>
            <a:off x="2997200" y="5435600"/>
            <a:ext cx="2159000" cy="381000"/>
          </a:xfrm>
          <a:prstGeom prst="rect">
            <a:avLst/>
          </a:prstGeom>
          <a:solidFill>
            <a:srgbClr val="2E6F95"/>
          </a:solidFill>
          <a:ln w="9525">
            <a:solidFill>
              <a:srgbClr val="2E6F95"/>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«service»</a:t>
            </a:r>
            <a:endParaRPr lang="en-US" sz="800" dirty="0"/>
          </a:p>
          <a:p>
            <a:pPr marL="0" indent="0" algn="ctr">
              <a:lnSpc>
                <a:spcPct val="90000"/>
              </a:lnSpc>
              <a:spcBef>
                <a:spcPts val="0"/>
              </a:spcBef>
              <a:buNone/>
            </a:pPr>
            <a:r>
              <a:rPr lang="en-US" sz="1050" b="1" dirty="0">
                <a:solidFill>
                  <a:srgbClr val="FFFFFF"/>
                </a:solidFill>
              </a:rPr>
              <a:t>ReadingIngestionService</a:t>
            </a:r>
            <a:endParaRPr lang="en-US" sz="1050" dirty="0"/>
          </a:p>
        </p:txBody>
      </p:sp>
      <p:sp>
        <p:nvSpPr>
          <p:cNvPr id="225" name="Shape 225"/>
          <p:cNvSpPr/>
          <p:nvPr/>
        </p:nvSpPr>
        <p:spPr>
          <a:xfrm>
            <a:off x="2997200" y="5816600"/>
            <a:ext cx="2159000" cy="234950"/>
          </a:xfrm>
          <a:prstGeom prst="rect">
            <a:avLst/>
          </a:prstGeom>
          <a:solidFill>
            <a:srgbClr val="FFFFFF"/>
          </a:solidFill>
          <a:ln w="9525">
            <a:solidFill>
              <a:srgbClr val="2E6F95"/>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batch_size: int</a:t>
            </a:r>
            <a:endParaRPr lang="en-US" sz="950" dirty="0"/>
          </a:p>
        </p:txBody>
      </p:sp>
      <p:sp>
        <p:nvSpPr>
          <p:cNvPr id="226" name="Shape 226"/>
          <p:cNvSpPr/>
          <p:nvPr/>
        </p:nvSpPr>
        <p:spPr>
          <a:xfrm>
            <a:off x="2997200" y="6051550"/>
            <a:ext cx="2159000" cy="393700"/>
          </a:xfrm>
          <a:prstGeom prst="rect">
            <a:avLst/>
          </a:prstGeom>
          <a:solidFill>
            <a:srgbClr val="FFFFFF"/>
          </a:solidFill>
          <a:ln w="9525">
            <a:solidFill>
              <a:srgbClr val="2E6F95"/>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ingest(batch)</a:t>
            </a:r>
            <a:endParaRPr lang="en-US" sz="950" dirty="0"/>
          </a:p>
          <a:p>
            <a:pPr marL="0" indent="0" algn="l">
              <a:lnSpc>
                <a:spcPct val="95000"/>
              </a:lnSpc>
              <a:spcBef>
                <a:spcPts val="0"/>
              </a:spcBef>
              <a:buNone/>
            </a:pPr>
            <a:r>
              <a:rPr lang="en-US" sz="950" dirty="0">
                <a:solidFill>
                  <a:srgbClr val="6B7579"/>
                </a:solidFill>
              </a:rPr>
              <a:t>validate(reading): bool</a:t>
            </a:r>
            <a:endParaRPr lang="en-US" sz="950" dirty="0"/>
          </a:p>
        </p:txBody>
      </p:sp>
      <p:cxnSp>
        <p:nvCxnSpPr>
          <p:cNvPr id="227" name="Line 227"/>
          <p:cNvCxnSpPr/>
          <p:nvPr/>
        </p:nvCxnSpPr>
        <p:spPr>
          <a:xfrm>
            <a:off x="2362200" y="5842000"/>
            <a:ext cx="635000" cy="0"/>
          </a:xfrm>
          <a:prstGeom prst="line">
            <a:avLst/>
          </a:prstGeom>
          <a:ln w="12700">
            <a:solidFill>
              <a:srgbClr val="6B7579"/>
            </a:solidFill>
            <a:prstDash val="dash"/>
            <a:tailEnd type="arrow" w="med" len="med"/>
          </a:ln>
        </p:spPr>
      </p:cxnSp>
      <p:sp>
        <p:nvSpPr>
          <p:cNvPr id="228" name="Shape 228"/>
          <p:cNvSpPr txBox="1"/>
          <p:nvPr/>
        </p:nvSpPr>
        <p:spPr>
          <a:xfrm>
            <a:off x="2413000" y="5664200"/>
            <a:ext cx="558800" cy="152400"/>
          </a:xfrm>
          <a:prstGeom prst="rect">
            <a:avLst/>
          </a:prstGeom>
          <a:noFill/>
          <a:ln>
            <a:noFill/>
          </a:ln>
        </p:spPr>
        <p:txBody>
          <a:bodyPr wrap="square" lIns="0" tIns="0" rIns="0" bIns="0" rtlCol="0" anchor="t">
            <a:noAutofit/>
          </a:bodyPr>
          <a:lstStyle/>
          <a:p>
            <a:pPr marL="0" indent="0" algn="ctr">
              <a:spcBef>
                <a:spcPts val="0"/>
              </a:spcBef>
              <a:buNone/>
            </a:pPr>
            <a:r>
              <a:rPr lang="en-US" sz="900" dirty="0">
                <a:solidFill>
                  <a:srgbClr val="6B7579"/>
                </a:solidFill>
              </a:rPr>
              <a:t>«use»</a:t>
            </a:r>
            <a:endParaRPr lang="en-US" sz="900" dirty="0"/>
          </a:p>
        </p:txBody>
      </p:sp>
      <p:cxnSp>
        <p:nvCxnSpPr>
          <p:cNvPr id="229" name="Line 229"/>
          <p:cNvCxnSpPr/>
          <p:nvPr/>
        </p:nvCxnSpPr>
        <p:spPr>
          <a:xfrm flipV="1">
            <a:off x="1397000" y="4445000"/>
            <a:ext cx="0" cy="762000"/>
          </a:xfrm>
          <a:prstGeom prst="line">
            <a:avLst/>
          </a:prstGeom>
          <a:ln w="12700">
            <a:solidFill>
              <a:srgbClr val="6B7579"/>
            </a:solidFill>
            <a:prstDash val="dash"/>
          </a:ln>
        </p:spPr>
      </p:cxnSp>
      <p:cxnSp>
        <p:nvCxnSpPr>
          <p:cNvPr id="230" name="Line 230"/>
          <p:cNvCxnSpPr/>
          <p:nvPr/>
        </p:nvCxnSpPr>
        <p:spPr>
          <a:xfrm>
            <a:off x="1397000" y="4445000"/>
            <a:ext cx="762000" cy="0"/>
          </a:xfrm>
          <a:prstGeom prst="line">
            <a:avLst/>
          </a:prstGeom>
          <a:ln w="12700">
            <a:solidFill>
              <a:srgbClr val="6B7579"/>
            </a:solidFill>
            <a:prstDash val="dash"/>
            <a:tailEnd type="arrow" w="med" len="med"/>
          </a:ln>
        </p:spPr>
      </p:cxnSp>
      <p:sp>
        <p:nvSpPr>
          <p:cNvPr id="231" name="Shape 231"/>
          <p:cNvSpPr txBox="1"/>
          <p:nvPr/>
        </p:nvSpPr>
        <p:spPr>
          <a:xfrm>
            <a:off x="508000" y="4267200"/>
            <a:ext cx="889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«read active»</a:t>
            </a:r>
            <a:endParaRPr lang="en-US" sz="900" dirty="0"/>
          </a:p>
        </p:txBody>
      </p:sp>
      <p:cxnSp>
        <p:nvCxnSpPr>
          <p:cNvPr id="232" name="Line 232"/>
          <p:cNvCxnSpPr/>
          <p:nvPr/>
        </p:nvCxnSpPr>
        <p:spPr>
          <a:xfrm>
            <a:off x="5156200" y="5842000"/>
            <a:ext cx="1028700" cy="0"/>
          </a:xfrm>
          <a:prstGeom prst="line">
            <a:avLst/>
          </a:prstGeom>
          <a:ln w="12700">
            <a:solidFill>
              <a:srgbClr val="6B7579"/>
            </a:solidFill>
            <a:prstDash val="dash"/>
          </a:ln>
        </p:spPr>
      </p:cxnSp>
      <p:cxnSp>
        <p:nvCxnSpPr>
          <p:cNvPr id="233" name="Line 233"/>
          <p:cNvCxnSpPr/>
          <p:nvPr/>
        </p:nvCxnSpPr>
        <p:spPr>
          <a:xfrm flipV="1">
            <a:off x="6184900" y="4921250"/>
            <a:ext cx="0" cy="920750"/>
          </a:xfrm>
          <a:prstGeom prst="line">
            <a:avLst/>
          </a:prstGeom>
          <a:ln w="12700">
            <a:solidFill>
              <a:srgbClr val="6B7579"/>
            </a:solidFill>
            <a:prstDash val="dash"/>
            <a:tailEnd type="arrow" w="med" len="med"/>
          </a:ln>
        </p:spPr>
      </p:cxnSp>
      <p:sp>
        <p:nvSpPr>
          <p:cNvPr id="234" name="Shape 234"/>
          <p:cNvSpPr txBox="1"/>
          <p:nvPr/>
        </p:nvSpPr>
        <p:spPr>
          <a:xfrm>
            <a:off x="6235700" y="5588000"/>
            <a:ext cx="762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«create»</a:t>
            </a:r>
            <a:endParaRPr lang="en-US" sz="900" dirty="0"/>
          </a:p>
        </p:txBody>
      </p:sp>
      <p:sp>
        <p:nvSpPr>
          <p:cNvPr id="235" name="Shape 235"/>
          <p:cNvSpPr txBox="1"/>
          <p:nvPr/>
        </p:nvSpPr>
        <p:spPr>
          <a:xfrm>
            <a:off x="457200" y="6477000"/>
            <a:ext cx="6654800" cy="1778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 composition    → navigable association    - - &gt; dependency    name-only box = class owned by another subsystem</a:t>
            </a:r>
            <a:endParaRPr lang="en-US" sz="900" dirty="0"/>
          </a:p>
        </p:txBody>
      </p:sp>
      <p:sp>
        <p:nvSpPr>
          <p:cNvPr id="236" name="Shape 236"/>
          <p:cNvSpPr txBox="1"/>
          <p:nvPr/>
        </p:nvSpPr>
        <p:spPr>
          <a:xfrm>
            <a:off x="7416800" y="1244600"/>
            <a:ext cx="4318000" cy="228600"/>
          </a:xfrm>
          <a:prstGeom prst="rect">
            <a:avLst/>
          </a:prstGeom>
          <a:noFill/>
          <a:ln>
            <a:noFill/>
          </a:ln>
        </p:spPr>
        <p:txBody>
          <a:bodyPr wrap="square" lIns="0" tIns="0" rIns="0" bIns="0" rtlCol="0" anchor="t">
            <a:noAutofit/>
          </a:bodyPr>
          <a:lstStyle/>
          <a:p>
            <a:pPr marL="0" indent="0" algn="l">
              <a:spcBef>
                <a:spcPts val="0"/>
              </a:spcBef>
              <a:buNone/>
            </a:pPr>
            <a:r>
              <a:rPr lang="en-US" sz="1300" b="1" dirty="0">
                <a:solidFill>
                  <a:srgbClr val="2E6F95"/>
                </a:solidFill>
                <a:latin typeface="+mj-lt"/>
              </a:rPr>
              <a:t>Requirements</a:t>
            </a:r>
            <a:endParaRPr lang="en-US" sz="1300" dirty="0"/>
          </a:p>
        </p:txBody>
      </p:sp>
      <p:sp>
        <p:nvSpPr>
          <p:cNvPr id="237" name="Shape 237"/>
          <p:cNvSpPr txBox="1"/>
          <p:nvPr/>
        </p:nvSpPr>
        <p:spPr>
          <a:xfrm>
            <a:off x="7416800" y="1485900"/>
            <a:ext cx="4318000" cy="254000"/>
          </a:xfrm>
          <a:prstGeom prst="rect">
            <a:avLst/>
          </a:prstGeom>
          <a:noFill/>
          <a:ln>
            <a:noFill/>
          </a:ln>
        </p:spPr>
        <p:txBody>
          <a:bodyPr wrap="square" lIns="0" tIns="0" rIns="0" bIns="0" rtlCol="0" anchor="t">
            <a:noAutofit/>
          </a:bodyPr>
          <a:lstStyle/>
          <a:p>
            <a:pPr marL="0" indent="0" algn="l">
              <a:spcBef>
                <a:spcPts val="0"/>
              </a:spcBef>
              <a:buNone/>
            </a:pPr>
            <a:r>
              <a:rPr lang="en-US" sz="1200" dirty="0">
                <a:solidFill>
                  <a:srgbClr val="6B7579"/>
                </a:solidFill>
              </a:rPr>
              <a:t>10 functional / 10 non-functional, Appendix A1</a:t>
            </a:r>
            <a:endParaRPr lang="en-US" sz="1200" dirty="0"/>
          </a:p>
        </p:txBody>
      </p:sp>
      <p:sp>
        <p:nvSpPr>
          <p:cNvPr id="238" name="Shape 238"/>
          <p:cNvSpPr txBox="1"/>
          <p:nvPr/>
        </p:nvSpPr>
        <p:spPr>
          <a:xfrm>
            <a:off x="7416800" y="1778000"/>
            <a:ext cx="4318000" cy="1016000"/>
          </a:xfrm>
          <a:prstGeom prst="rect">
            <a:avLst/>
          </a:prstGeom>
          <a:noFill/>
          <a:ln>
            <a:noFill/>
          </a:ln>
        </p:spPr>
        <p:txBody>
          <a:bodyPr wrap="square" lIns="0" tIns="0" rIns="0" bIns="0" rtlCol="0" anchor="t">
            <a:noAutofit/>
          </a:bodyPr>
          <a:lstStyle/>
          <a:p>
            <a:pPr marL="0" indent="0" algn="l">
              <a:lnSpc>
                <a:spcPct val="95000"/>
              </a:lnSpc>
              <a:spcBef>
                <a:spcPts val="0"/>
              </a:spcBef>
              <a:buNone/>
            </a:pPr>
            <a:r>
              <a:rPr lang="en-US" sz="1300" b="1" dirty="0">
                <a:solidFill>
                  <a:srgbClr val="2E6F95"/>
                </a:solidFill>
              </a:rPr>
              <a:t>FR1* </a:t>
            </a:r>
            <a:r>
              <a:rPr lang="en-US" sz="1300" dirty="0">
                <a:solidFill>
                  <a:srgbClr val="1F2A2E"/>
                </a:solidFill>
              </a:rPr>
              <a:t>Generate one reading per active meter every 60 s (configurable 10–3600 s).</a:t>
            </a:r>
            <a:endParaRPr lang="en-US" sz="1300" dirty="0"/>
          </a:p>
          <a:p>
            <a:pPr marL="0" indent="0" algn="l">
              <a:lnSpc>
                <a:spcPct val="95000"/>
              </a:lnSpc>
              <a:spcBef>
                <a:spcPts val="500"/>
              </a:spcBef>
              <a:buNone/>
            </a:pPr>
            <a:r>
              <a:rPr lang="en-US" sz="1300" b="1" dirty="0">
                <a:solidFill>
                  <a:srgbClr val="2E6F95"/>
                </a:solidFill>
              </a:rPr>
              <a:t>NFR1* </a:t>
            </a:r>
            <a:r>
              <a:rPr lang="en-US" sz="1300" dirty="0">
                <a:solidFill>
                  <a:srgbClr val="1F2A2E"/>
                </a:solidFill>
              </a:rPr>
              <a:t>Persist a 1,000-reading bulk POST in under 2 s.</a:t>
            </a:r>
            <a:endParaRPr lang="en-US" sz="1300" dirty="0"/>
          </a:p>
        </p:txBody>
      </p:sp>
      <p:sp>
        <p:nvSpPr>
          <p:cNvPr id="239" name="Shape 239"/>
          <p:cNvSpPr/>
          <p:nvPr/>
        </p:nvSpPr>
        <p:spPr>
          <a:xfrm>
            <a:off x="7416800" y="2895600"/>
            <a:ext cx="4318000" cy="2311400"/>
          </a:xfrm>
          <a:prstGeom prst="rect">
            <a:avLst/>
          </a:prstGeom>
          <a:solidFill>
            <a:srgbClr val="FFFFFF"/>
          </a:solidFill>
          <a:ln w="9525">
            <a:solidFill>
              <a:srgbClr val="E0E3E0"/>
            </a:solidFill>
          </a:ln>
        </p:spPr>
        <p:txBody>
          <a:bodyPr wrap="square" lIns="50800" tIns="50800" rIns="50800" bIns="50800" rtlCol="0" anchor="t">
            <a:noAutofit/>
          </a:bodyPr>
          <a:lstStyle/>
          <a:p>
            <a:endParaRPr lang="en-US" dirty="0"/>
          </a:p>
        </p:txBody>
      </p:sp>
      <p:sp>
        <p:nvSpPr>
          <p:cNvPr id="240" name="Shape 240"/>
          <p:cNvSpPr/>
          <p:nvPr/>
        </p:nvSpPr>
        <p:spPr>
          <a:xfrm>
            <a:off x="7416800" y="2895600"/>
            <a:ext cx="50800" cy="2311400"/>
          </a:xfrm>
          <a:prstGeom prst="rect">
            <a:avLst/>
          </a:prstGeom>
          <a:solidFill>
            <a:srgbClr val="2E6F95"/>
          </a:solidFill>
          <a:ln>
            <a:noFill/>
          </a:ln>
        </p:spPr>
        <p:txBody>
          <a:bodyPr wrap="square" lIns="50800" tIns="50800" rIns="50800" bIns="50800" rtlCol="0" anchor="t">
            <a:noAutofit/>
          </a:bodyPr>
          <a:lstStyle/>
          <a:p>
            <a:endParaRPr lang="en-US" dirty="0"/>
          </a:p>
        </p:txBody>
      </p:sp>
      <p:sp>
        <p:nvSpPr>
          <p:cNvPr id="241" name="Shape 241"/>
          <p:cNvSpPr txBox="1"/>
          <p:nvPr/>
        </p:nvSpPr>
        <p:spPr>
          <a:xfrm>
            <a:off x="7594600" y="2997200"/>
            <a:ext cx="4013200" cy="2159000"/>
          </a:xfrm>
          <a:prstGeom prst="rect">
            <a:avLst/>
          </a:prstGeom>
          <a:noFill/>
          <a:ln>
            <a:noFill/>
          </a:ln>
        </p:spPr>
        <p:txBody>
          <a:bodyPr wrap="square" lIns="0" tIns="0" rIns="0" bIns="0" rtlCol="0" anchor="t">
            <a:noAutofit/>
          </a:bodyPr>
          <a:lstStyle/>
          <a:p>
            <a:pPr marL="0" indent="0" algn="l">
              <a:spcBef>
                <a:spcPts val="0"/>
              </a:spcBef>
              <a:spcAft>
                <a:spcPts val="200"/>
              </a:spcAft>
              <a:buNone/>
            </a:pPr>
            <a:r>
              <a:rPr lang="en-US" sz="1300" b="1" dirty="0">
                <a:solidFill>
                  <a:srgbClr val="2E6F95"/>
                </a:solidFill>
                <a:latin typeface="+mj-lt"/>
              </a:rPr>
              <a:t>Data</a:t>
            </a:r>
            <a:endParaRPr lang="en-US" sz="1300" dirty="0"/>
          </a:p>
          <a:p>
            <a:pPr marL="0" indent="0" algn="l">
              <a:lnSpc>
                <a:spcPct val="95000"/>
              </a:lnSpc>
              <a:spcBef>
                <a:spcPts val="200"/>
              </a:spcBef>
              <a:buNone/>
            </a:pPr>
            <a:r>
              <a:rPr lang="en-US" sz="1100" b="1" dirty="0">
                <a:solidFill>
                  <a:srgbClr val="1F2A2E"/>
                </a:solidFill>
              </a:rPr>
              <a:t>Receives: </a:t>
            </a:r>
            <a:r>
              <a:rPr lang="en-US" sz="1100" dirty="0">
                <a:solidFill>
                  <a:srgbClr val="1F2A2E"/>
                </a:solidFill>
              </a:rPr>
              <a:t>simulated readings from the internal Telemetry Generator, or bulk uploads</a:t>
            </a:r>
            <a:endParaRPr lang="en-US" sz="1100" dirty="0"/>
          </a:p>
          <a:p>
            <a:pPr marL="0" indent="0" algn="l">
              <a:lnSpc>
                <a:spcPct val="95000"/>
              </a:lnSpc>
              <a:spcBef>
                <a:spcPts val="200"/>
              </a:spcBef>
              <a:buNone/>
            </a:pPr>
            <a:r>
              <a:rPr lang="en-US" sz="1100" b="1" dirty="0">
                <a:solidFill>
                  <a:srgbClr val="1F2A2E"/>
                </a:solidFill>
              </a:rPr>
              <a:t>Creates: </a:t>
            </a:r>
            <a:r>
              <a:rPr lang="en-US" sz="1100" dirty="0">
                <a:solidFill>
                  <a:srgbClr val="1F2A2E"/>
                </a:solidFill>
              </a:rPr>
              <a:t>Building, Meter, EnergyReading</a:t>
            </a:r>
            <a:endParaRPr lang="en-US" sz="1100" dirty="0"/>
          </a:p>
          <a:p>
            <a:pPr marL="0" indent="0" algn="l">
              <a:lnSpc>
                <a:spcPct val="95000"/>
              </a:lnSpc>
              <a:spcBef>
                <a:spcPts val="200"/>
              </a:spcBef>
              <a:buNone/>
            </a:pPr>
            <a:r>
              <a:rPr lang="en-US" sz="1100" b="1" dirty="0">
                <a:solidFill>
                  <a:srgbClr val="1F2A2E"/>
                </a:solidFill>
              </a:rPr>
              <a:t>Stored in: </a:t>
            </a:r>
            <a:r>
              <a:rPr lang="en-US" sz="1100" dirty="0">
                <a:solidFill>
                  <a:srgbClr val="1F2A2E"/>
                </a:solidFill>
              </a:rPr>
              <a:t>monitoring app tables in SQLite; index (meter_id, timestamp); raw data kept 90 days, then daily totals</a:t>
            </a:r>
            <a:endParaRPr lang="en-US" sz="1100" dirty="0"/>
          </a:p>
          <a:p>
            <a:pPr marL="0" indent="0" algn="l">
              <a:spcBef>
                <a:spcPts val="300"/>
              </a:spcBef>
              <a:buNone/>
            </a:pPr>
            <a:r>
              <a:rPr lang="en-US" sz="1100" b="1" dirty="0">
                <a:solidFill>
                  <a:srgbClr val="1F2A2E"/>
                </a:solidFill>
              </a:rPr>
              <a:t>Endpoints:</a:t>
            </a:r>
            <a:endParaRPr lang="en-US" sz="1100" dirty="0"/>
          </a:p>
          <a:p>
            <a:pPr marL="0" indent="0" algn="l">
              <a:lnSpc>
                <a:spcPct val="95000"/>
              </a:lnSpc>
              <a:spcBef>
                <a:spcPts val="50"/>
              </a:spcBef>
              <a:buNone/>
            </a:pPr>
            <a:r>
              <a:rPr lang="en-US" sz="950" dirty="0">
                <a:solidFill>
                  <a:srgbClr val="1F2A2E"/>
                </a:solidFill>
                <a:latin typeface="Consolas"/>
              </a:rPr>
              <a:t>GET/POST /api/buildings/</a:t>
            </a:r>
            <a:endParaRPr lang="en-US" sz="950" dirty="0"/>
          </a:p>
          <a:p>
            <a:pPr marL="0" indent="0" algn="l">
              <a:lnSpc>
                <a:spcPct val="95000"/>
              </a:lnSpc>
              <a:spcBef>
                <a:spcPts val="50"/>
              </a:spcBef>
              <a:buNone/>
            </a:pPr>
            <a:r>
              <a:rPr lang="en-US" sz="950" dirty="0">
                <a:solidFill>
                  <a:srgbClr val="1F2A2E"/>
                </a:solidFill>
                <a:latin typeface="Consolas"/>
              </a:rPr>
              <a:t>GET  /api/buildings/{id}/meters/</a:t>
            </a:r>
            <a:endParaRPr lang="en-US" sz="950" dirty="0"/>
          </a:p>
          <a:p>
            <a:pPr marL="0" indent="0" algn="l">
              <a:lnSpc>
                <a:spcPct val="95000"/>
              </a:lnSpc>
              <a:spcBef>
                <a:spcPts val="50"/>
              </a:spcBef>
              <a:buNone/>
            </a:pPr>
            <a:r>
              <a:rPr lang="en-US" sz="950" dirty="0">
                <a:solidFill>
                  <a:srgbClr val="1F2A2E"/>
                </a:solidFill>
                <a:latin typeface="Consolas"/>
              </a:rPr>
              <a:t>POST /api/readings/bulk/</a:t>
            </a:r>
            <a:endParaRPr lang="en-US" sz="950" dirty="0"/>
          </a:p>
          <a:p>
            <a:pPr marL="0" indent="0" algn="l">
              <a:lnSpc>
                <a:spcPct val="95000"/>
              </a:lnSpc>
              <a:spcBef>
                <a:spcPts val="50"/>
              </a:spcBef>
              <a:buNone/>
            </a:pPr>
            <a:r>
              <a:rPr lang="en-US" sz="950" dirty="0">
                <a:solidFill>
                  <a:srgbClr val="1F2A2E"/>
                </a:solidFill>
                <a:latin typeface="Consolas"/>
              </a:rPr>
              <a:t>GET  /api/readings/?building=&amp;from=&amp;to=</a:t>
            </a:r>
            <a:endParaRPr lang="en-US" sz="950" dirty="0"/>
          </a:p>
          <a:p>
            <a:pPr marL="0" indent="0" algn="l">
              <a:lnSpc>
                <a:spcPct val="95000"/>
              </a:lnSpc>
              <a:spcBef>
                <a:spcPts val="50"/>
              </a:spcBef>
              <a:buNone/>
            </a:pPr>
            <a:r>
              <a:rPr lang="en-US" sz="950" dirty="0">
                <a:solidFill>
                  <a:srgbClr val="1F2A2E"/>
                </a:solidFill>
                <a:latin typeface="Consolas"/>
              </a:rPr>
              <a:t>POST /api/telemetry/start|stop/</a:t>
            </a:r>
            <a:endParaRPr lang="en-US" sz="950" dirty="0"/>
          </a:p>
        </p:txBody>
      </p:sp>
      <p:sp>
        <p:nvSpPr>
          <p:cNvPr id="242" name="Shape 242"/>
          <p:cNvSpPr/>
          <p:nvPr/>
        </p:nvSpPr>
        <p:spPr>
          <a:xfrm>
            <a:off x="7416800" y="5359400"/>
            <a:ext cx="1778000" cy="1244600"/>
          </a:xfrm>
          <a:prstGeom prst="rect">
            <a:avLst/>
          </a:prstGeom>
          <a:solidFill>
            <a:srgbClr val="EDEFEC"/>
          </a:solidFill>
          <a:ln w="9525">
            <a:solidFill>
              <a:srgbClr val="A9B1B3"/>
            </a:solidFill>
          </a:ln>
        </p:spPr>
        <p:txBody>
          <a:bodyPr wrap="square" lIns="50800" tIns="50800" rIns="50800" bIns="50800" rtlCol="0" anchor="t">
            <a:noAutofit/>
          </a:bodyPr>
          <a:lstStyle/>
          <a:p>
            <a:endParaRPr lang="en-US" dirty="0"/>
          </a:p>
        </p:txBody>
      </p:sp>
      <p:sp>
        <p:nvSpPr>
          <p:cNvPr id="243" name="Shape 243"/>
          <p:cNvSpPr/>
          <p:nvPr/>
        </p:nvSpPr>
        <p:spPr>
          <a:xfrm>
            <a:off x="7493000" y="5435600"/>
            <a:ext cx="1625600" cy="101600"/>
          </a:xfrm>
          <a:prstGeom prst="rect">
            <a:avLst/>
          </a:prstGeom>
          <a:solidFill>
            <a:srgbClr val="A9B1B3"/>
          </a:solidFill>
          <a:ln>
            <a:noFill/>
          </a:ln>
        </p:spPr>
        <p:txBody>
          <a:bodyPr wrap="square" lIns="50800" tIns="50800" rIns="50800" bIns="50800" rtlCol="0" anchor="t">
            <a:noAutofit/>
          </a:bodyPr>
          <a:lstStyle/>
          <a:p>
            <a:endParaRPr lang="en-US" dirty="0"/>
          </a:p>
        </p:txBody>
      </p:sp>
      <p:sp>
        <p:nvSpPr>
          <p:cNvPr id="244" name="Shape 244"/>
          <p:cNvSpPr/>
          <p:nvPr/>
        </p:nvSpPr>
        <p:spPr>
          <a:xfrm>
            <a:off x="7493000" y="5588000"/>
            <a:ext cx="508000" cy="9398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45" name="Shape 245"/>
          <p:cNvSpPr/>
          <p:nvPr/>
        </p:nvSpPr>
        <p:spPr>
          <a:xfrm>
            <a:off x="8051800" y="5588000"/>
            <a:ext cx="1066800" cy="152400"/>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sp>
        <p:nvSpPr>
          <p:cNvPr id="246" name="Shape 246"/>
          <p:cNvSpPr/>
          <p:nvPr/>
        </p:nvSpPr>
        <p:spPr>
          <a:xfrm>
            <a:off x="8051800" y="5791200"/>
            <a:ext cx="1066800" cy="762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47" name="Shape 247"/>
          <p:cNvSpPr/>
          <p:nvPr/>
        </p:nvSpPr>
        <p:spPr>
          <a:xfrm>
            <a:off x="8051800" y="5905500"/>
            <a:ext cx="1066800" cy="762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48" name="Shape 248"/>
          <p:cNvSpPr/>
          <p:nvPr/>
        </p:nvSpPr>
        <p:spPr>
          <a:xfrm>
            <a:off x="8051800" y="6019800"/>
            <a:ext cx="1066800" cy="762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49" name="Shape 249"/>
          <p:cNvSpPr/>
          <p:nvPr/>
        </p:nvSpPr>
        <p:spPr>
          <a:xfrm>
            <a:off x="8051800" y="6134100"/>
            <a:ext cx="1066800" cy="762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50" name="Shape 250"/>
          <p:cNvSpPr/>
          <p:nvPr/>
        </p:nvSpPr>
        <p:spPr>
          <a:xfrm>
            <a:off x="8839200" y="5588000"/>
            <a:ext cx="279400" cy="127000"/>
          </a:xfrm>
          <a:prstGeom prst="roundRect">
            <a:avLst>
              <a:gd name="adj" fmla="val 50000"/>
            </a:avLst>
          </a:prstGeom>
          <a:solidFill>
            <a:srgbClr val="2E6F95"/>
          </a:solidFill>
          <a:ln>
            <a:noFill/>
          </a:ln>
        </p:spPr>
        <p:txBody>
          <a:bodyPr wrap="square" lIns="50800" tIns="50800" rIns="50800" bIns="50800" rtlCol="0" anchor="t">
            <a:noAutofit/>
          </a:bodyPr>
          <a:lstStyle/>
          <a:p>
            <a:endParaRPr lang="en-US" dirty="0"/>
          </a:p>
        </p:txBody>
      </p:sp>
      <p:sp>
        <p:nvSpPr>
          <p:cNvPr id="251" name="Shape 251"/>
          <p:cNvSpPr txBox="1"/>
          <p:nvPr/>
        </p:nvSpPr>
        <p:spPr>
          <a:xfrm>
            <a:off x="9347200" y="5410200"/>
            <a:ext cx="2387600" cy="11430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6B7579"/>
                </a:solidFill>
              </a:rPr>
              <a:t>Low-fidelity wireframe, not yet implemented</a:t>
            </a:r>
            <a:endParaRPr lang="en-US" sz="1100" dirty="0"/>
          </a:p>
          <a:p>
            <a:pPr marL="0" indent="0" algn="l">
              <a:spcBef>
                <a:spcPts val="400"/>
              </a:spcBef>
              <a:buNone/>
            </a:pPr>
            <a:r>
              <a:rPr lang="en-US" sz="1100" dirty="0">
                <a:solidFill>
                  <a:srgbClr val="6B7579"/>
                </a:solidFill>
              </a:rPr>
              <a:t>Buildings &amp; Meters screen. Full size in Appendix A5.</a:t>
            </a:r>
            <a:endParaRPr lang="en-US" sz="1100" dirty="0"/>
          </a:p>
        </p:txBody>
      </p:sp>
    </p:spTree>
    <p:extLst>
      <p:ext uri="{BB962C8B-B14F-4D97-AF65-F5344CB8AC3E}">
        <p14:creationId xmlns:p14="http://schemas.microsoft.com/office/powerpoint/2010/main" val="3283523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FB808-05D5-09D7-4D5B-D435EBA05AB3}"/>
              </a:ext>
            </a:extLst>
          </p:cNvPr>
          <p:cNvSpPr>
            <a:spLocks noGrp="1"/>
          </p:cNvSpPr>
          <p:nvPr>
            <p:ph type="title"/>
          </p:nvPr>
        </p:nvSpPr>
        <p:spPr/>
        <p:txBody>
          <a:bodyPr/>
          <a:lstStyle/>
          <a:p>
            <a:pPr algn="l"/>
            <a:r>
              <a:rPr lang="en-US" sz="3200" b="1" dirty="0"/>
              <a:t>S2 converts raw kWh into peak, cost, CO2 and anomalies</a:t>
            </a:r>
          </a:p>
        </p:txBody>
      </p:sp>
      <p:sp>
        <p:nvSpPr>
          <p:cNvPr id="200" name="Subsystem bar"/>
          <p:cNvSpPr/>
          <p:nvPr/>
        </p:nvSpPr>
        <p:spPr>
          <a:xfrm>
            <a:off x="457200" y="304800"/>
            <a:ext cx="711200" cy="63500"/>
          </a:xfrm>
          <a:prstGeom prst="rect">
            <a:avLst/>
          </a:prstGeom>
          <a:solidFill>
            <a:srgbClr val="0F7B6C"/>
          </a:solidFill>
          <a:ln>
            <a:noFill/>
          </a:ln>
        </p:spPr>
        <p:txBody>
          <a:bodyPr wrap="square" lIns="50800" tIns="50800" rIns="50800" bIns="50800" rtlCol="0" anchor="t">
            <a:noAutofit/>
          </a:bodyPr>
          <a:lstStyle/>
          <a:p>
            <a:endParaRPr lang="en-US" dirty="0"/>
          </a:p>
        </p:txBody>
      </p:sp>
      <p:sp>
        <p:nvSpPr>
          <p:cNvPr id="201" name="Shape 201"/>
          <p:cNvSpPr txBox="1"/>
          <p:nvPr/>
        </p:nvSpPr>
        <p:spPr>
          <a:xfrm>
            <a:off x="457200" y="1244600"/>
            <a:ext cx="6654800" cy="228600"/>
          </a:xfrm>
          <a:prstGeom prst="rect">
            <a:avLst/>
          </a:prstGeom>
          <a:noFill/>
          <a:ln>
            <a:noFill/>
          </a:ln>
        </p:spPr>
        <p:txBody>
          <a:bodyPr wrap="square" lIns="0" tIns="0" rIns="0" bIns="0" rtlCol="0" anchor="t">
            <a:noAutofit/>
          </a:bodyPr>
          <a:lstStyle/>
          <a:p>
            <a:pPr marL="0" indent="0" algn="l">
              <a:spcBef>
                <a:spcPts val="0"/>
              </a:spcBef>
              <a:buNone/>
            </a:pPr>
            <a:r>
              <a:rPr lang="en-US" sz="1300" b="1" dirty="0">
                <a:solidFill>
                  <a:srgbClr val="0F7B6C"/>
                </a:solidFill>
                <a:latin typeface="+mj-lt"/>
              </a:rPr>
              <a:t>Domain class diagram</a:t>
            </a:r>
            <a:r>
              <a:rPr lang="en-US" sz="1300" dirty="0">
                <a:solidFill>
                  <a:srgbClr val="6B7579"/>
                </a:solidFill>
              </a:rPr>
              <a:t>  ·  5 classes</a:t>
            </a:r>
            <a:endParaRPr lang="en-US" sz="1300" dirty="0"/>
          </a:p>
        </p:txBody>
      </p:sp>
      <p:sp>
        <p:nvSpPr>
          <p:cNvPr id="202" name="Shape 202"/>
          <p:cNvSpPr/>
          <p:nvPr/>
        </p:nvSpPr>
        <p:spPr>
          <a:xfrm>
            <a:off x="457200" y="1651000"/>
            <a:ext cx="1397000" cy="304800"/>
          </a:xfrm>
          <a:prstGeom prst="rect">
            <a:avLst/>
          </a:prstGeom>
          <a:solidFill>
            <a:srgbClr val="2E6F95"/>
          </a:solidFill>
          <a:ln w="9525">
            <a:solidFill>
              <a:srgbClr val="2E6F95"/>
            </a:solidFill>
          </a:ln>
        </p:spPr>
        <p:txBody>
          <a:bodyPr wrap="square" lIns="38100" tIns="12700" rIns="38100" bIns="12700" rtlCol="0" anchor="ctr">
            <a:noAutofit/>
          </a:bodyPr>
          <a:lstStyle/>
          <a:p>
            <a:pPr marL="0" indent="0" algn="ctr">
              <a:spcBef>
                <a:spcPts val="0"/>
              </a:spcBef>
              <a:buNone/>
            </a:pPr>
            <a:r>
              <a:rPr lang="en-US" sz="1050" b="1" dirty="0">
                <a:solidFill>
                  <a:srgbClr val="FFFFFF"/>
                </a:solidFill>
              </a:rPr>
              <a:t>Building (S1)</a:t>
            </a:r>
            <a:endParaRPr lang="en-US" sz="1050" dirty="0"/>
          </a:p>
        </p:txBody>
      </p:sp>
      <p:sp>
        <p:nvSpPr>
          <p:cNvPr id="203" name="Shape 203"/>
          <p:cNvSpPr/>
          <p:nvPr/>
        </p:nvSpPr>
        <p:spPr>
          <a:xfrm>
            <a:off x="2413000" y="1498600"/>
            <a:ext cx="2336800" cy="381000"/>
          </a:xfrm>
          <a:prstGeom prst="rect">
            <a:avLst/>
          </a:prstGeom>
          <a:solidFill>
            <a:srgbClr val="0F7B6C"/>
          </a:solidFill>
          <a:ln w="9525">
            <a:solidFill>
              <a:srgbClr val="0F7B6C"/>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«entity»</a:t>
            </a:r>
            <a:endParaRPr lang="en-US" sz="800" dirty="0"/>
          </a:p>
          <a:p>
            <a:pPr marL="0" indent="0" algn="ctr">
              <a:lnSpc>
                <a:spcPct val="90000"/>
              </a:lnSpc>
              <a:spcBef>
                <a:spcPts val="0"/>
              </a:spcBef>
              <a:buNone/>
            </a:pPr>
            <a:r>
              <a:rPr lang="en-US" sz="1050" b="1" dirty="0">
                <a:solidFill>
                  <a:srgbClr val="FFFFFF"/>
                </a:solidFill>
              </a:rPr>
              <a:t>AnalysisResult</a:t>
            </a:r>
            <a:endParaRPr lang="en-US" sz="1050" dirty="0"/>
          </a:p>
        </p:txBody>
      </p:sp>
      <p:sp>
        <p:nvSpPr>
          <p:cNvPr id="204" name="Shape 204"/>
          <p:cNvSpPr/>
          <p:nvPr/>
        </p:nvSpPr>
        <p:spPr>
          <a:xfrm>
            <a:off x="2413000" y="1879600"/>
            <a:ext cx="2336800" cy="1663700"/>
          </a:xfrm>
          <a:prstGeom prst="rect">
            <a:avLst/>
          </a:prstGeom>
          <a:solidFill>
            <a:srgbClr val="FFFFFF"/>
          </a:solidFill>
          <a:ln w="9525">
            <a:solidFill>
              <a:srgbClr val="0F7B6C"/>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period_start: datetime</a:t>
            </a:r>
            <a:endParaRPr lang="en-US" sz="950" dirty="0"/>
          </a:p>
          <a:p>
            <a:pPr marL="0" indent="0" algn="l">
              <a:lnSpc>
                <a:spcPct val="95000"/>
              </a:lnSpc>
              <a:spcBef>
                <a:spcPts val="0"/>
              </a:spcBef>
              <a:buNone/>
            </a:pPr>
            <a:r>
              <a:rPr lang="en-US" sz="950" dirty="0">
                <a:solidFill>
                  <a:srgbClr val="1F2A2E"/>
                </a:solidFill>
              </a:rPr>
              <a:t>period_end: datetime</a:t>
            </a:r>
            <a:endParaRPr lang="en-US" sz="950" dirty="0"/>
          </a:p>
          <a:p>
            <a:pPr marL="0" indent="0" algn="l">
              <a:lnSpc>
                <a:spcPct val="95000"/>
              </a:lnSpc>
              <a:spcBef>
                <a:spcPts val="0"/>
              </a:spcBef>
              <a:buNone/>
            </a:pPr>
            <a:r>
              <a:rPr lang="en-US" sz="950" dirty="0">
                <a:solidFill>
                  <a:srgbClr val="1F2A2E"/>
                </a:solidFill>
              </a:rPr>
              <a:t>granularity: {DAY, WEEK, MONTH}</a:t>
            </a:r>
            <a:endParaRPr lang="en-US" sz="950" dirty="0"/>
          </a:p>
          <a:p>
            <a:pPr marL="0" indent="0" algn="l">
              <a:lnSpc>
                <a:spcPct val="95000"/>
              </a:lnSpc>
              <a:spcBef>
                <a:spcPts val="0"/>
              </a:spcBef>
              <a:buNone/>
            </a:pPr>
            <a:r>
              <a:rPr lang="en-US" sz="950" dirty="0">
                <a:solidFill>
                  <a:srgbClr val="1F2A2E"/>
                </a:solidFill>
              </a:rPr>
              <a:t>total_kwh: Decimal</a:t>
            </a:r>
            <a:endParaRPr lang="en-US" sz="950" dirty="0"/>
          </a:p>
          <a:p>
            <a:pPr marL="0" indent="0" algn="l">
              <a:lnSpc>
                <a:spcPct val="95000"/>
              </a:lnSpc>
              <a:spcBef>
                <a:spcPts val="0"/>
              </a:spcBef>
              <a:buNone/>
            </a:pPr>
            <a:r>
              <a:rPr lang="en-US" sz="950" dirty="0">
                <a:solidFill>
                  <a:srgbClr val="1F2A2E"/>
                </a:solidFill>
              </a:rPr>
              <a:t>peak_kw: float</a:t>
            </a:r>
            <a:endParaRPr lang="en-US" sz="950" dirty="0"/>
          </a:p>
          <a:p>
            <a:pPr marL="0" indent="0" algn="l">
              <a:lnSpc>
                <a:spcPct val="95000"/>
              </a:lnSpc>
              <a:spcBef>
                <a:spcPts val="0"/>
              </a:spcBef>
              <a:buNone/>
            </a:pPr>
            <a:r>
              <a:rPr lang="en-US" sz="950" dirty="0">
                <a:solidFill>
                  <a:srgbClr val="1F2A2E"/>
                </a:solidFill>
              </a:rPr>
              <a:t>peak_at: datetime</a:t>
            </a:r>
            <a:endParaRPr lang="en-US" sz="950" dirty="0"/>
          </a:p>
          <a:p>
            <a:pPr marL="0" indent="0" algn="l">
              <a:lnSpc>
                <a:spcPct val="95000"/>
              </a:lnSpc>
              <a:spcBef>
                <a:spcPts val="0"/>
              </a:spcBef>
              <a:buNone/>
            </a:pPr>
            <a:r>
              <a:rPr lang="en-US" sz="950" dirty="0">
                <a:solidFill>
                  <a:srgbClr val="1F2A2E"/>
                </a:solidFill>
              </a:rPr>
              <a:t>cost_estimate: Decimal</a:t>
            </a:r>
            <a:endParaRPr lang="en-US" sz="950" dirty="0"/>
          </a:p>
          <a:p>
            <a:pPr marL="0" indent="0" algn="l">
              <a:lnSpc>
                <a:spcPct val="95000"/>
              </a:lnSpc>
              <a:spcBef>
                <a:spcPts val="0"/>
              </a:spcBef>
              <a:buNone/>
            </a:pPr>
            <a:r>
              <a:rPr lang="en-US" sz="950" dirty="0">
                <a:solidFill>
                  <a:srgbClr val="1F2A2E"/>
                </a:solidFill>
              </a:rPr>
              <a:t>co2_kg: float</a:t>
            </a:r>
            <a:endParaRPr lang="en-US" sz="950" dirty="0"/>
          </a:p>
          <a:p>
            <a:pPr marL="0" indent="0" algn="l">
              <a:lnSpc>
                <a:spcPct val="95000"/>
              </a:lnSpc>
              <a:spcBef>
                <a:spcPts val="0"/>
              </a:spcBef>
              <a:buNone/>
            </a:pPr>
            <a:r>
              <a:rPr lang="en-US" sz="950" dirty="0">
                <a:solidFill>
                  <a:srgbClr val="1F2A2E"/>
                </a:solidFill>
              </a:rPr>
              <a:t>efficiency_score: int</a:t>
            </a:r>
            <a:endParaRPr lang="en-US" sz="950" dirty="0"/>
          </a:p>
          <a:p>
            <a:pPr marL="0" indent="0" algn="l">
              <a:lnSpc>
                <a:spcPct val="95000"/>
              </a:lnSpc>
              <a:spcBef>
                <a:spcPts val="0"/>
              </a:spcBef>
              <a:buNone/>
            </a:pPr>
            <a:r>
              <a:rPr lang="en-US" sz="950" dirty="0">
                <a:solidFill>
                  <a:srgbClr val="1F2A2E"/>
                </a:solidFill>
              </a:rPr>
              <a:t>created_at: datetime</a:t>
            </a:r>
            <a:endParaRPr lang="en-US" sz="950" dirty="0"/>
          </a:p>
        </p:txBody>
      </p:sp>
      <p:sp>
        <p:nvSpPr>
          <p:cNvPr id="205" name="Shape 205"/>
          <p:cNvSpPr/>
          <p:nvPr/>
        </p:nvSpPr>
        <p:spPr>
          <a:xfrm>
            <a:off x="2413000" y="3543300"/>
            <a:ext cx="2336800" cy="234950"/>
          </a:xfrm>
          <a:prstGeom prst="rect">
            <a:avLst/>
          </a:prstGeom>
          <a:solidFill>
            <a:srgbClr val="FFFFFF"/>
          </a:solidFill>
          <a:ln w="9525">
            <a:solidFill>
              <a:srgbClr val="0F7B6C"/>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change_vs_previous(): float</a:t>
            </a:r>
            <a:endParaRPr lang="en-US" sz="950" dirty="0"/>
          </a:p>
        </p:txBody>
      </p:sp>
      <p:cxnSp>
        <p:nvCxnSpPr>
          <p:cNvPr id="206" name="Line 206"/>
          <p:cNvCxnSpPr/>
          <p:nvPr/>
        </p:nvCxnSpPr>
        <p:spPr>
          <a:xfrm>
            <a:off x="1854200" y="1803400"/>
            <a:ext cx="558800" cy="0"/>
          </a:xfrm>
          <a:prstGeom prst="line">
            <a:avLst/>
          </a:prstGeom>
          <a:ln w="12700">
            <a:solidFill>
              <a:srgbClr val="6B7579"/>
            </a:solidFill>
            <a:tailEnd type="arrow" w="med" len="med"/>
          </a:ln>
        </p:spPr>
      </p:cxnSp>
      <p:sp>
        <p:nvSpPr>
          <p:cNvPr id="207" name="Shape 207"/>
          <p:cNvSpPr txBox="1"/>
          <p:nvPr/>
        </p:nvSpPr>
        <p:spPr>
          <a:xfrm>
            <a:off x="1879600" y="1625600"/>
            <a:ext cx="254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1</a:t>
            </a:r>
            <a:endParaRPr lang="en-US" sz="900" dirty="0"/>
          </a:p>
        </p:txBody>
      </p:sp>
      <p:sp>
        <p:nvSpPr>
          <p:cNvPr id="208" name="Shape 208"/>
          <p:cNvSpPr txBox="1"/>
          <p:nvPr/>
        </p:nvSpPr>
        <p:spPr>
          <a:xfrm>
            <a:off x="2032000" y="1841500"/>
            <a:ext cx="355600" cy="152400"/>
          </a:xfrm>
          <a:prstGeom prst="rect">
            <a:avLst/>
          </a:prstGeom>
          <a:noFill/>
          <a:ln>
            <a:noFill/>
          </a:ln>
        </p:spPr>
        <p:txBody>
          <a:bodyPr wrap="square" lIns="0" tIns="0" rIns="0" bIns="0" rtlCol="0" anchor="t">
            <a:noAutofit/>
          </a:bodyPr>
          <a:lstStyle/>
          <a:p>
            <a:pPr marL="0" indent="0" algn="r">
              <a:spcBef>
                <a:spcPts val="0"/>
              </a:spcBef>
              <a:buNone/>
            </a:pPr>
            <a:r>
              <a:rPr lang="en-US" sz="900" dirty="0">
                <a:solidFill>
                  <a:srgbClr val="6B7579"/>
                </a:solidFill>
              </a:rPr>
              <a:t>0..*</a:t>
            </a:r>
            <a:endParaRPr lang="en-US" sz="900" dirty="0"/>
          </a:p>
        </p:txBody>
      </p:sp>
      <p:sp>
        <p:nvSpPr>
          <p:cNvPr id="209" name="Shape 209"/>
          <p:cNvSpPr/>
          <p:nvPr/>
        </p:nvSpPr>
        <p:spPr>
          <a:xfrm>
            <a:off x="5257800" y="1498600"/>
            <a:ext cx="1879600" cy="381000"/>
          </a:xfrm>
          <a:prstGeom prst="rect">
            <a:avLst/>
          </a:prstGeom>
          <a:solidFill>
            <a:srgbClr val="0F7B6C"/>
          </a:solidFill>
          <a:ln w="9525">
            <a:solidFill>
              <a:srgbClr val="0F7B6C"/>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«entity»</a:t>
            </a:r>
            <a:endParaRPr lang="en-US" sz="800" dirty="0"/>
          </a:p>
          <a:p>
            <a:pPr marL="0" indent="0" algn="ctr">
              <a:lnSpc>
                <a:spcPct val="90000"/>
              </a:lnSpc>
              <a:spcBef>
                <a:spcPts val="0"/>
              </a:spcBef>
              <a:buNone/>
            </a:pPr>
            <a:r>
              <a:rPr lang="en-US" sz="1050" b="1" dirty="0">
                <a:solidFill>
                  <a:srgbClr val="FFFFFF"/>
                </a:solidFill>
              </a:rPr>
              <a:t>EmissionFactor</a:t>
            </a:r>
            <a:endParaRPr lang="en-US" sz="1050" dirty="0"/>
          </a:p>
        </p:txBody>
      </p:sp>
      <p:sp>
        <p:nvSpPr>
          <p:cNvPr id="210" name="Shape 210"/>
          <p:cNvSpPr/>
          <p:nvPr/>
        </p:nvSpPr>
        <p:spPr>
          <a:xfrm>
            <a:off x="5257800" y="1879600"/>
            <a:ext cx="1879600" cy="711200"/>
          </a:xfrm>
          <a:prstGeom prst="rect">
            <a:avLst/>
          </a:prstGeom>
          <a:solidFill>
            <a:srgbClr val="FFFFFF"/>
          </a:solidFill>
          <a:ln w="9525">
            <a:solidFill>
              <a:srgbClr val="0F7B6C"/>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region: str</a:t>
            </a:r>
            <a:endParaRPr lang="en-US" sz="950" dirty="0"/>
          </a:p>
          <a:p>
            <a:pPr marL="0" indent="0" algn="l">
              <a:lnSpc>
                <a:spcPct val="95000"/>
              </a:lnSpc>
              <a:spcBef>
                <a:spcPts val="0"/>
              </a:spcBef>
              <a:buNone/>
            </a:pPr>
            <a:r>
              <a:rPr lang="en-US" sz="950" dirty="0">
                <a:solidFill>
                  <a:srgbClr val="1F2A2E"/>
                </a:solidFill>
              </a:rPr>
              <a:t>kg_co2_per_kwh: float</a:t>
            </a:r>
            <a:endParaRPr lang="en-US" sz="950" dirty="0"/>
          </a:p>
          <a:p>
            <a:pPr marL="0" indent="0" algn="l">
              <a:lnSpc>
                <a:spcPct val="95000"/>
              </a:lnSpc>
              <a:spcBef>
                <a:spcPts val="0"/>
              </a:spcBef>
              <a:buNone/>
            </a:pPr>
            <a:r>
              <a:rPr lang="en-US" sz="950" dirty="0">
                <a:solidFill>
                  <a:srgbClr val="1F2A2E"/>
                </a:solidFill>
              </a:rPr>
              <a:t>tariff_per_kwh: Decimal</a:t>
            </a:r>
            <a:endParaRPr lang="en-US" sz="950" dirty="0"/>
          </a:p>
          <a:p>
            <a:pPr marL="0" indent="0" algn="l">
              <a:lnSpc>
                <a:spcPct val="95000"/>
              </a:lnSpc>
              <a:spcBef>
                <a:spcPts val="0"/>
              </a:spcBef>
              <a:buNone/>
            </a:pPr>
            <a:r>
              <a:rPr lang="en-US" sz="950" dirty="0">
                <a:solidFill>
                  <a:srgbClr val="1F2A2E"/>
                </a:solidFill>
              </a:rPr>
              <a:t>valid_from: date</a:t>
            </a:r>
            <a:endParaRPr lang="en-US" sz="950" dirty="0"/>
          </a:p>
        </p:txBody>
      </p:sp>
      <p:sp>
        <p:nvSpPr>
          <p:cNvPr id="211" name="Shape 211"/>
          <p:cNvSpPr/>
          <p:nvPr/>
        </p:nvSpPr>
        <p:spPr>
          <a:xfrm>
            <a:off x="5257800" y="2590800"/>
            <a:ext cx="1879600" cy="234950"/>
          </a:xfrm>
          <a:prstGeom prst="rect">
            <a:avLst/>
          </a:prstGeom>
          <a:solidFill>
            <a:srgbClr val="FFFFFF"/>
          </a:solidFill>
          <a:ln w="9525">
            <a:solidFill>
              <a:srgbClr val="0F7B6C"/>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current(region)</a:t>
            </a:r>
            <a:endParaRPr lang="en-US" sz="950" dirty="0"/>
          </a:p>
        </p:txBody>
      </p:sp>
      <p:cxnSp>
        <p:nvCxnSpPr>
          <p:cNvPr id="212" name="Line 212"/>
          <p:cNvCxnSpPr/>
          <p:nvPr/>
        </p:nvCxnSpPr>
        <p:spPr>
          <a:xfrm>
            <a:off x="4749800" y="2184400"/>
            <a:ext cx="508000" cy="0"/>
          </a:xfrm>
          <a:prstGeom prst="line">
            <a:avLst/>
          </a:prstGeom>
          <a:ln w="12700">
            <a:solidFill>
              <a:srgbClr val="6B7579"/>
            </a:solidFill>
            <a:tailEnd type="arrow" w="med" len="med"/>
          </a:ln>
        </p:spPr>
      </p:cxnSp>
      <p:sp>
        <p:nvSpPr>
          <p:cNvPr id="213" name="Shape 213"/>
          <p:cNvSpPr txBox="1"/>
          <p:nvPr/>
        </p:nvSpPr>
        <p:spPr>
          <a:xfrm>
            <a:off x="4775200" y="2006600"/>
            <a:ext cx="381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0..*</a:t>
            </a:r>
            <a:endParaRPr lang="en-US" sz="900" dirty="0"/>
          </a:p>
        </p:txBody>
      </p:sp>
      <p:sp>
        <p:nvSpPr>
          <p:cNvPr id="214" name="Shape 214"/>
          <p:cNvSpPr txBox="1"/>
          <p:nvPr/>
        </p:nvSpPr>
        <p:spPr>
          <a:xfrm>
            <a:off x="5029200" y="2222500"/>
            <a:ext cx="203200" cy="152400"/>
          </a:xfrm>
          <a:prstGeom prst="rect">
            <a:avLst/>
          </a:prstGeom>
          <a:noFill/>
          <a:ln>
            <a:noFill/>
          </a:ln>
        </p:spPr>
        <p:txBody>
          <a:bodyPr wrap="square" lIns="0" tIns="0" rIns="0" bIns="0" rtlCol="0" anchor="t">
            <a:noAutofit/>
          </a:bodyPr>
          <a:lstStyle/>
          <a:p>
            <a:pPr marL="0" indent="0" algn="r">
              <a:spcBef>
                <a:spcPts val="0"/>
              </a:spcBef>
              <a:buNone/>
            </a:pPr>
            <a:r>
              <a:rPr lang="en-US" sz="900" dirty="0">
                <a:solidFill>
                  <a:srgbClr val="6B7579"/>
                </a:solidFill>
              </a:rPr>
              <a:t>1</a:t>
            </a:r>
            <a:endParaRPr lang="en-US" sz="900" dirty="0"/>
          </a:p>
        </p:txBody>
      </p:sp>
      <p:sp>
        <p:nvSpPr>
          <p:cNvPr id="215" name="Shape 215"/>
          <p:cNvSpPr/>
          <p:nvPr/>
        </p:nvSpPr>
        <p:spPr>
          <a:xfrm>
            <a:off x="2413000" y="4210050"/>
            <a:ext cx="2336800" cy="381000"/>
          </a:xfrm>
          <a:prstGeom prst="rect">
            <a:avLst/>
          </a:prstGeom>
          <a:solidFill>
            <a:srgbClr val="0F7B6C"/>
          </a:solidFill>
          <a:ln w="9525">
            <a:solidFill>
              <a:srgbClr val="0F7B6C"/>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«entity»</a:t>
            </a:r>
            <a:endParaRPr lang="en-US" sz="800" dirty="0"/>
          </a:p>
          <a:p>
            <a:pPr marL="0" indent="0" algn="ctr">
              <a:lnSpc>
                <a:spcPct val="90000"/>
              </a:lnSpc>
              <a:spcBef>
                <a:spcPts val="0"/>
              </a:spcBef>
              <a:buNone/>
            </a:pPr>
            <a:r>
              <a:rPr lang="en-US" sz="1050" b="1" dirty="0">
                <a:solidFill>
                  <a:srgbClr val="FFFFFF"/>
                </a:solidFill>
              </a:rPr>
              <a:t>Anomaly</a:t>
            </a:r>
            <a:endParaRPr lang="en-US" sz="1050" dirty="0"/>
          </a:p>
        </p:txBody>
      </p:sp>
      <p:sp>
        <p:nvSpPr>
          <p:cNvPr id="216" name="Shape 216"/>
          <p:cNvSpPr/>
          <p:nvPr/>
        </p:nvSpPr>
        <p:spPr>
          <a:xfrm>
            <a:off x="2413000" y="4591050"/>
            <a:ext cx="2336800" cy="711200"/>
          </a:xfrm>
          <a:prstGeom prst="rect">
            <a:avLst/>
          </a:prstGeom>
          <a:solidFill>
            <a:srgbClr val="FFFFFF"/>
          </a:solidFill>
          <a:ln w="9525">
            <a:solidFill>
              <a:srgbClr val="0F7B6C"/>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detected_at: datetime</a:t>
            </a:r>
            <a:endParaRPr lang="en-US" sz="950" dirty="0"/>
          </a:p>
          <a:p>
            <a:pPr marL="0" indent="0" algn="l">
              <a:lnSpc>
                <a:spcPct val="95000"/>
              </a:lnSpc>
              <a:spcBef>
                <a:spcPts val="0"/>
              </a:spcBef>
              <a:buNone/>
            </a:pPr>
            <a:r>
              <a:rPr lang="en-US" sz="950" dirty="0">
                <a:solidFill>
                  <a:srgbClr val="1F2A2E"/>
                </a:solidFill>
              </a:rPr>
              <a:t>deviation_pct: float</a:t>
            </a:r>
            <a:endParaRPr lang="en-US" sz="950" dirty="0"/>
          </a:p>
          <a:p>
            <a:pPr marL="0" indent="0" algn="l">
              <a:lnSpc>
                <a:spcPct val="95000"/>
              </a:lnSpc>
              <a:spcBef>
                <a:spcPts val="0"/>
              </a:spcBef>
              <a:buNone/>
            </a:pPr>
            <a:r>
              <a:rPr lang="en-US" sz="950" dirty="0">
                <a:solidFill>
                  <a:srgbClr val="1F2A2E"/>
                </a:solidFill>
              </a:rPr>
              <a:t>severity: {LOW, MEDIUM, HIGH}</a:t>
            </a:r>
            <a:endParaRPr lang="en-US" sz="950" dirty="0"/>
          </a:p>
          <a:p>
            <a:pPr marL="0" indent="0" algn="l">
              <a:lnSpc>
                <a:spcPct val="95000"/>
              </a:lnSpc>
              <a:spcBef>
                <a:spcPts val="0"/>
              </a:spcBef>
              <a:buNone/>
            </a:pPr>
            <a:r>
              <a:rPr lang="en-US" sz="950" dirty="0">
                <a:solidFill>
                  <a:srgbClr val="1F2A2E"/>
                </a:solidFill>
              </a:rPr>
              <a:t>description: str</a:t>
            </a:r>
            <a:endParaRPr lang="en-US" sz="950" dirty="0"/>
          </a:p>
        </p:txBody>
      </p:sp>
      <p:sp>
        <p:nvSpPr>
          <p:cNvPr id="217" name="Shape 217"/>
          <p:cNvSpPr/>
          <p:nvPr/>
        </p:nvSpPr>
        <p:spPr>
          <a:xfrm>
            <a:off x="2413000" y="5302250"/>
            <a:ext cx="2336800" cy="234950"/>
          </a:xfrm>
          <a:prstGeom prst="rect">
            <a:avLst/>
          </a:prstGeom>
          <a:solidFill>
            <a:srgbClr val="FFFFFF"/>
          </a:solidFill>
          <a:ln w="9525">
            <a:solidFill>
              <a:srgbClr val="0F7B6C"/>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is_critical(): bool</a:t>
            </a:r>
            <a:endParaRPr lang="en-US" sz="950" dirty="0"/>
          </a:p>
        </p:txBody>
      </p:sp>
      <p:cxnSp>
        <p:nvCxnSpPr>
          <p:cNvPr id="218" name="Line 218"/>
          <p:cNvCxnSpPr/>
          <p:nvPr/>
        </p:nvCxnSpPr>
        <p:spPr>
          <a:xfrm>
            <a:off x="3581400" y="3778250"/>
            <a:ext cx="0" cy="431800"/>
          </a:xfrm>
          <a:prstGeom prst="line">
            <a:avLst/>
          </a:prstGeom>
          <a:ln w="12700">
            <a:solidFill>
              <a:srgbClr val="6B7579"/>
            </a:solidFill>
            <a:headEnd type="diamond" w="med" len="med"/>
          </a:ln>
        </p:spPr>
      </p:cxnSp>
      <p:sp>
        <p:nvSpPr>
          <p:cNvPr id="219" name="Shape 219"/>
          <p:cNvSpPr txBox="1"/>
          <p:nvPr/>
        </p:nvSpPr>
        <p:spPr>
          <a:xfrm>
            <a:off x="3632200" y="3803650"/>
            <a:ext cx="254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1</a:t>
            </a:r>
            <a:endParaRPr lang="en-US" sz="900" dirty="0"/>
          </a:p>
        </p:txBody>
      </p:sp>
      <p:sp>
        <p:nvSpPr>
          <p:cNvPr id="220" name="Shape 220"/>
          <p:cNvSpPr txBox="1"/>
          <p:nvPr/>
        </p:nvSpPr>
        <p:spPr>
          <a:xfrm>
            <a:off x="3632200" y="4032250"/>
            <a:ext cx="381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0..*</a:t>
            </a:r>
            <a:endParaRPr lang="en-US" sz="900" dirty="0"/>
          </a:p>
        </p:txBody>
      </p:sp>
      <p:sp>
        <p:nvSpPr>
          <p:cNvPr id="221" name="Shape 221"/>
          <p:cNvSpPr/>
          <p:nvPr/>
        </p:nvSpPr>
        <p:spPr>
          <a:xfrm>
            <a:off x="5537200" y="4565650"/>
            <a:ext cx="1600200" cy="304800"/>
          </a:xfrm>
          <a:prstGeom prst="rect">
            <a:avLst/>
          </a:prstGeom>
          <a:solidFill>
            <a:srgbClr val="2E6F95"/>
          </a:solidFill>
          <a:ln w="9525">
            <a:solidFill>
              <a:srgbClr val="2E6F95"/>
            </a:solidFill>
          </a:ln>
        </p:spPr>
        <p:txBody>
          <a:bodyPr wrap="square" lIns="38100" tIns="12700" rIns="38100" bIns="12700" rtlCol="0" anchor="ctr">
            <a:noAutofit/>
          </a:bodyPr>
          <a:lstStyle/>
          <a:p>
            <a:pPr marL="0" indent="0" algn="ctr">
              <a:spcBef>
                <a:spcPts val="0"/>
              </a:spcBef>
              <a:buNone/>
            </a:pPr>
            <a:r>
              <a:rPr lang="en-US" sz="1050" b="1" dirty="0">
                <a:solidFill>
                  <a:srgbClr val="FFFFFF"/>
                </a:solidFill>
              </a:rPr>
              <a:t>EnergyReading (S1)</a:t>
            </a:r>
            <a:endParaRPr lang="en-US" sz="1050" dirty="0"/>
          </a:p>
        </p:txBody>
      </p:sp>
      <p:cxnSp>
        <p:nvCxnSpPr>
          <p:cNvPr id="222" name="Line 222"/>
          <p:cNvCxnSpPr/>
          <p:nvPr/>
        </p:nvCxnSpPr>
        <p:spPr>
          <a:xfrm>
            <a:off x="4749800" y="4718050"/>
            <a:ext cx="787400" cy="0"/>
          </a:xfrm>
          <a:prstGeom prst="line">
            <a:avLst/>
          </a:prstGeom>
          <a:ln w="12700">
            <a:solidFill>
              <a:srgbClr val="6B7579"/>
            </a:solidFill>
            <a:tailEnd type="arrow" w="med" len="med"/>
          </a:ln>
        </p:spPr>
      </p:cxnSp>
      <p:sp>
        <p:nvSpPr>
          <p:cNvPr id="223" name="Shape 223"/>
          <p:cNvSpPr txBox="1"/>
          <p:nvPr/>
        </p:nvSpPr>
        <p:spPr>
          <a:xfrm>
            <a:off x="4775200" y="4540250"/>
            <a:ext cx="381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0..*</a:t>
            </a:r>
            <a:endParaRPr lang="en-US" sz="900" dirty="0"/>
          </a:p>
        </p:txBody>
      </p:sp>
      <p:sp>
        <p:nvSpPr>
          <p:cNvPr id="224" name="Shape 224"/>
          <p:cNvSpPr txBox="1"/>
          <p:nvPr/>
        </p:nvSpPr>
        <p:spPr>
          <a:xfrm>
            <a:off x="5308600" y="4756150"/>
            <a:ext cx="203200" cy="152400"/>
          </a:xfrm>
          <a:prstGeom prst="rect">
            <a:avLst/>
          </a:prstGeom>
          <a:noFill/>
          <a:ln>
            <a:noFill/>
          </a:ln>
        </p:spPr>
        <p:txBody>
          <a:bodyPr wrap="square" lIns="0" tIns="0" rIns="0" bIns="0" rtlCol="0" anchor="t">
            <a:noAutofit/>
          </a:bodyPr>
          <a:lstStyle/>
          <a:p>
            <a:pPr marL="0" indent="0" algn="r">
              <a:spcBef>
                <a:spcPts val="0"/>
              </a:spcBef>
              <a:buNone/>
            </a:pPr>
            <a:r>
              <a:rPr lang="en-US" sz="900" dirty="0">
                <a:solidFill>
                  <a:srgbClr val="6B7579"/>
                </a:solidFill>
              </a:rPr>
              <a:t>1</a:t>
            </a:r>
            <a:endParaRPr lang="en-US" sz="900" dirty="0"/>
          </a:p>
        </p:txBody>
      </p:sp>
      <p:sp>
        <p:nvSpPr>
          <p:cNvPr id="225" name="Shape 225"/>
          <p:cNvSpPr/>
          <p:nvPr/>
        </p:nvSpPr>
        <p:spPr>
          <a:xfrm>
            <a:off x="457200" y="4108450"/>
            <a:ext cx="1778000" cy="381000"/>
          </a:xfrm>
          <a:prstGeom prst="rect">
            <a:avLst/>
          </a:prstGeom>
          <a:solidFill>
            <a:srgbClr val="0F7B6C"/>
          </a:solidFill>
          <a:ln w="9525">
            <a:solidFill>
              <a:srgbClr val="0F7B6C"/>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«service»</a:t>
            </a:r>
            <a:endParaRPr lang="en-US" sz="800" dirty="0"/>
          </a:p>
          <a:p>
            <a:pPr marL="0" indent="0" algn="ctr">
              <a:lnSpc>
                <a:spcPct val="90000"/>
              </a:lnSpc>
              <a:spcBef>
                <a:spcPts val="0"/>
              </a:spcBef>
              <a:buNone/>
            </a:pPr>
            <a:r>
              <a:rPr lang="en-US" sz="1050" b="1" dirty="0">
                <a:solidFill>
                  <a:srgbClr val="FFFFFF"/>
                </a:solidFill>
              </a:rPr>
              <a:t>AnalysisEngine</a:t>
            </a:r>
            <a:endParaRPr lang="en-US" sz="1050" dirty="0"/>
          </a:p>
        </p:txBody>
      </p:sp>
      <p:sp>
        <p:nvSpPr>
          <p:cNvPr id="226" name="Shape 226"/>
          <p:cNvSpPr/>
          <p:nvPr/>
        </p:nvSpPr>
        <p:spPr>
          <a:xfrm>
            <a:off x="457200" y="4489450"/>
            <a:ext cx="1778000" cy="234950"/>
          </a:xfrm>
          <a:prstGeom prst="rect">
            <a:avLst/>
          </a:prstGeom>
          <a:solidFill>
            <a:srgbClr val="FFFFFF"/>
          </a:solidFill>
          <a:ln w="9525">
            <a:solidFill>
              <a:srgbClr val="0F7B6C"/>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schedule: daily 02:00</a:t>
            </a:r>
            <a:endParaRPr lang="en-US" sz="950" dirty="0"/>
          </a:p>
        </p:txBody>
      </p:sp>
      <p:sp>
        <p:nvSpPr>
          <p:cNvPr id="227" name="Shape 227"/>
          <p:cNvSpPr/>
          <p:nvPr/>
        </p:nvSpPr>
        <p:spPr>
          <a:xfrm>
            <a:off x="457200" y="4724400"/>
            <a:ext cx="1778000" cy="234950"/>
          </a:xfrm>
          <a:prstGeom prst="rect">
            <a:avLst/>
          </a:prstGeom>
          <a:solidFill>
            <a:srgbClr val="FFFFFF"/>
          </a:solidFill>
          <a:ln w="9525">
            <a:solidFill>
              <a:srgbClr val="0F7B6C"/>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run(building, period)</a:t>
            </a:r>
            <a:endParaRPr lang="en-US" sz="950" dirty="0"/>
          </a:p>
        </p:txBody>
      </p:sp>
      <p:cxnSp>
        <p:nvCxnSpPr>
          <p:cNvPr id="228" name="Line 228"/>
          <p:cNvCxnSpPr/>
          <p:nvPr/>
        </p:nvCxnSpPr>
        <p:spPr>
          <a:xfrm flipV="1">
            <a:off x="1270000" y="3175000"/>
            <a:ext cx="0" cy="933450"/>
          </a:xfrm>
          <a:prstGeom prst="line">
            <a:avLst/>
          </a:prstGeom>
          <a:ln w="12700">
            <a:solidFill>
              <a:srgbClr val="6B7579"/>
            </a:solidFill>
            <a:prstDash val="dash"/>
          </a:ln>
        </p:spPr>
      </p:cxnSp>
      <p:cxnSp>
        <p:nvCxnSpPr>
          <p:cNvPr id="229" name="Line 229"/>
          <p:cNvCxnSpPr/>
          <p:nvPr/>
        </p:nvCxnSpPr>
        <p:spPr>
          <a:xfrm>
            <a:off x="1270000" y="3175000"/>
            <a:ext cx="1143000" cy="0"/>
          </a:xfrm>
          <a:prstGeom prst="line">
            <a:avLst/>
          </a:prstGeom>
          <a:ln w="12700">
            <a:solidFill>
              <a:srgbClr val="6B7579"/>
            </a:solidFill>
            <a:prstDash val="dash"/>
            <a:tailEnd type="arrow" w="med" len="med"/>
          </a:ln>
        </p:spPr>
      </p:cxnSp>
      <p:sp>
        <p:nvSpPr>
          <p:cNvPr id="230" name="Shape 230"/>
          <p:cNvSpPr txBox="1"/>
          <p:nvPr/>
        </p:nvSpPr>
        <p:spPr>
          <a:xfrm>
            <a:off x="1320800" y="2997200"/>
            <a:ext cx="762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«create»</a:t>
            </a:r>
            <a:endParaRPr lang="en-US" sz="900" dirty="0"/>
          </a:p>
        </p:txBody>
      </p:sp>
      <p:sp>
        <p:nvSpPr>
          <p:cNvPr id="231" name="Shape 231"/>
          <p:cNvSpPr/>
          <p:nvPr/>
        </p:nvSpPr>
        <p:spPr>
          <a:xfrm>
            <a:off x="457200" y="5340350"/>
            <a:ext cx="1905000" cy="381000"/>
          </a:xfrm>
          <a:prstGeom prst="rect">
            <a:avLst/>
          </a:prstGeom>
          <a:solidFill>
            <a:srgbClr val="0F7B6C"/>
          </a:solidFill>
          <a:ln w="9525">
            <a:solidFill>
              <a:srgbClr val="0F7B6C"/>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«service»</a:t>
            </a:r>
            <a:endParaRPr lang="en-US" sz="800" dirty="0"/>
          </a:p>
          <a:p>
            <a:pPr marL="0" indent="0" algn="ctr">
              <a:lnSpc>
                <a:spcPct val="90000"/>
              </a:lnSpc>
              <a:spcBef>
                <a:spcPts val="0"/>
              </a:spcBef>
              <a:buNone/>
            </a:pPr>
            <a:r>
              <a:rPr lang="en-US" sz="1050" b="1" dirty="0">
                <a:solidFill>
                  <a:srgbClr val="FFFFFF"/>
                </a:solidFill>
              </a:rPr>
              <a:t>AnomalyDetector</a:t>
            </a:r>
            <a:endParaRPr lang="en-US" sz="1050" dirty="0"/>
          </a:p>
        </p:txBody>
      </p:sp>
      <p:sp>
        <p:nvSpPr>
          <p:cNvPr id="232" name="Shape 232"/>
          <p:cNvSpPr/>
          <p:nvPr/>
        </p:nvSpPr>
        <p:spPr>
          <a:xfrm>
            <a:off x="457200" y="5721350"/>
            <a:ext cx="1905000" cy="234950"/>
          </a:xfrm>
          <a:prstGeom prst="rect">
            <a:avLst/>
          </a:prstGeom>
          <a:solidFill>
            <a:srgbClr val="FFFFFF"/>
          </a:solidFill>
          <a:ln w="9525">
            <a:solidFill>
              <a:srgbClr val="0F7B6C"/>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threshold_pct: float = 30</a:t>
            </a:r>
            <a:endParaRPr lang="en-US" sz="950" dirty="0"/>
          </a:p>
        </p:txBody>
      </p:sp>
      <p:sp>
        <p:nvSpPr>
          <p:cNvPr id="233" name="Shape 233"/>
          <p:cNvSpPr/>
          <p:nvPr/>
        </p:nvSpPr>
        <p:spPr>
          <a:xfrm>
            <a:off x="457200" y="5956300"/>
            <a:ext cx="1905000" cy="234950"/>
          </a:xfrm>
          <a:prstGeom prst="rect">
            <a:avLst/>
          </a:prstGeom>
          <a:solidFill>
            <a:srgbClr val="FFFFFF"/>
          </a:solidFill>
          <a:ln w="9525">
            <a:solidFill>
              <a:srgbClr val="0F7B6C"/>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detect(readings): list[Anomaly]</a:t>
            </a:r>
            <a:endParaRPr lang="en-US" sz="950" dirty="0"/>
          </a:p>
        </p:txBody>
      </p:sp>
      <p:cxnSp>
        <p:nvCxnSpPr>
          <p:cNvPr id="234" name="Line 234"/>
          <p:cNvCxnSpPr/>
          <p:nvPr/>
        </p:nvCxnSpPr>
        <p:spPr>
          <a:xfrm>
            <a:off x="1270000" y="4959350"/>
            <a:ext cx="0" cy="381000"/>
          </a:xfrm>
          <a:prstGeom prst="line">
            <a:avLst/>
          </a:prstGeom>
          <a:ln w="12700">
            <a:solidFill>
              <a:srgbClr val="6B7579"/>
            </a:solidFill>
            <a:prstDash val="dash"/>
            <a:tailEnd type="arrow" w="med" len="med"/>
          </a:ln>
        </p:spPr>
      </p:cxnSp>
      <p:sp>
        <p:nvSpPr>
          <p:cNvPr id="235" name="Shape 235"/>
          <p:cNvSpPr txBox="1"/>
          <p:nvPr/>
        </p:nvSpPr>
        <p:spPr>
          <a:xfrm>
            <a:off x="1320800" y="5060950"/>
            <a:ext cx="508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«use»</a:t>
            </a:r>
            <a:endParaRPr lang="en-US" sz="900" dirty="0"/>
          </a:p>
        </p:txBody>
      </p:sp>
      <p:cxnSp>
        <p:nvCxnSpPr>
          <p:cNvPr id="236" name="Line 236"/>
          <p:cNvCxnSpPr/>
          <p:nvPr/>
        </p:nvCxnSpPr>
        <p:spPr>
          <a:xfrm>
            <a:off x="2362200" y="5949950"/>
            <a:ext cx="1219200" cy="0"/>
          </a:xfrm>
          <a:prstGeom prst="line">
            <a:avLst/>
          </a:prstGeom>
          <a:ln w="12700">
            <a:solidFill>
              <a:srgbClr val="6B7579"/>
            </a:solidFill>
            <a:prstDash val="dash"/>
          </a:ln>
        </p:spPr>
      </p:cxnSp>
      <p:cxnSp>
        <p:nvCxnSpPr>
          <p:cNvPr id="237" name="Line 237"/>
          <p:cNvCxnSpPr/>
          <p:nvPr/>
        </p:nvCxnSpPr>
        <p:spPr>
          <a:xfrm flipV="1">
            <a:off x="3581400" y="5537200"/>
            <a:ext cx="0" cy="412750"/>
          </a:xfrm>
          <a:prstGeom prst="line">
            <a:avLst/>
          </a:prstGeom>
          <a:ln w="12700">
            <a:solidFill>
              <a:srgbClr val="6B7579"/>
            </a:solidFill>
            <a:prstDash val="dash"/>
            <a:tailEnd type="arrow" w="med" len="med"/>
          </a:ln>
        </p:spPr>
      </p:cxnSp>
      <p:sp>
        <p:nvSpPr>
          <p:cNvPr id="238" name="Shape 238"/>
          <p:cNvSpPr txBox="1"/>
          <p:nvPr/>
        </p:nvSpPr>
        <p:spPr>
          <a:xfrm>
            <a:off x="2540000" y="5772150"/>
            <a:ext cx="762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«create»</a:t>
            </a:r>
            <a:endParaRPr lang="en-US" sz="900" dirty="0"/>
          </a:p>
        </p:txBody>
      </p:sp>
      <p:sp>
        <p:nvSpPr>
          <p:cNvPr id="239" name="Shape 239"/>
          <p:cNvSpPr txBox="1"/>
          <p:nvPr/>
        </p:nvSpPr>
        <p:spPr>
          <a:xfrm>
            <a:off x="457200" y="6426200"/>
            <a:ext cx="6654800" cy="1778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 composition    → navigable association    - - &gt; dependency    name-only box = class owned by another subsystem</a:t>
            </a:r>
            <a:endParaRPr lang="en-US" sz="900" dirty="0"/>
          </a:p>
        </p:txBody>
      </p:sp>
      <p:sp>
        <p:nvSpPr>
          <p:cNvPr id="240" name="Shape 240"/>
          <p:cNvSpPr txBox="1"/>
          <p:nvPr/>
        </p:nvSpPr>
        <p:spPr>
          <a:xfrm>
            <a:off x="7416800" y="1244600"/>
            <a:ext cx="4318000" cy="228600"/>
          </a:xfrm>
          <a:prstGeom prst="rect">
            <a:avLst/>
          </a:prstGeom>
          <a:noFill/>
          <a:ln>
            <a:noFill/>
          </a:ln>
        </p:spPr>
        <p:txBody>
          <a:bodyPr wrap="square" lIns="0" tIns="0" rIns="0" bIns="0" rtlCol="0" anchor="t">
            <a:noAutofit/>
          </a:bodyPr>
          <a:lstStyle/>
          <a:p>
            <a:pPr marL="0" indent="0" algn="l">
              <a:spcBef>
                <a:spcPts val="0"/>
              </a:spcBef>
              <a:buNone/>
            </a:pPr>
            <a:r>
              <a:rPr lang="en-US" sz="1300" b="1" dirty="0">
                <a:solidFill>
                  <a:srgbClr val="0F7B6C"/>
                </a:solidFill>
                <a:latin typeface="+mj-lt"/>
              </a:rPr>
              <a:t>Requirements</a:t>
            </a:r>
            <a:endParaRPr lang="en-US" sz="1300" dirty="0"/>
          </a:p>
        </p:txBody>
      </p:sp>
      <p:sp>
        <p:nvSpPr>
          <p:cNvPr id="241" name="Shape 241"/>
          <p:cNvSpPr txBox="1"/>
          <p:nvPr/>
        </p:nvSpPr>
        <p:spPr>
          <a:xfrm>
            <a:off x="7416800" y="1485900"/>
            <a:ext cx="4318000" cy="254000"/>
          </a:xfrm>
          <a:prstGeom prst="rect">
            <a:avLst/>
          </a:prstGeom>
          <a:noFill/>
          <a:ln>
            <a:noFill/>
          </a:ln>
        </p:spPr>
        <p:txBody>
          <a:bodyPr wrap="square" lIns="0" tIns="0" rIns="0" bIns="0" rtlCol="0" anchor="t">
            <a:noAutofit/>
          </a:bodyPr>
          <a:lstStyle/>
          <a:p>
            <a:pPr marL="0" indent="0" algn="l">
              <a:spcBef>
                <a:spcPts val="0"/>
              </a:spcBef>
              <a:buNone/>
            </a:pPr>
            <a:r>
              <a:rPr lang="en-US" sz="1200" dirty="0">
                <a:solidFill>
                  <a:srgbClr val="6B7579"/>
                </a:solidFill>
              </a:rPr>
              <a:t>10 functional / 10 non-functional, Appendix A2</a:t>
            </a:r>
            <a:endParaRPr lang="en-US" sz="1200" dirty="0"/>
          </a:p>
        </p:txBody>
      </p:sp>
      <p:sp>
        <p:nvSpPr>
          <p:cNvPr id="242" name="Shape 242"/>
          <p:cNvSpPr txBox="1"/>
          <p:nvPr/>
        </p:nvSpPr>
        <p:spPr>
          <a:xfrm>
            <a:off x="7416800" y="1778000"/>
            <a:ext cx="4318000" cy="1016000"/>
          </a:xfrm>
          <a:prstGeom prst="rect">
            <a:avLst/>
          </a:prstGeom>
          <a:noFill/>
          <a:ln>
            <a:noFill/>
          </a:ln>
        </p:spPr>
        <p:txBody>
          <a:bodyPr wrap="square" lIns="0" tIns="0" rIns="0" bIns="0" rtlCol="0" anchor="t">
            <a:noAutofit/>
          </a:bodyPr>
          <a:lstStyle/>
          <a:p>
            <a:pPr marL="0" indent="0" algn="l">
              <a:lnSpc>
                <a:spcPct val="95000"/>
              </a:lnSpc>
              <a:spcBef>
                <a:spcPts val="0"/>
              </a:spcBef>
              <a:buNone/>
            </a:pPr>
            <a:r>
              <a:rPr lang="en-US" sz="1300" b="1" dirty="0">
                <a:solidFill>
                  <a:srgbClr val="0F7B6C"/>
                </a:solidFill>
              </a:rPr>
              <a:t>FR5* </a:t>
            </a:r>
            <a:r>
              <a:rPr lang="en-US" sz="1300" dirty="0">
                <a:solidFill>
                  <a:srgbClr val="1F2A2E"/>
                </a:solidFill>
              </a:rPr>
              <a:t>Convert kWh to kg CO2 with the region's emission factor.</a:t>
            </a:r>
            <a:endParaRPr lang="en-US" sz="1300" dirty="0"/>
          </a:p>
          <a:p>
            <a:pPr marL="0" indent="0" algn="l">
              <a:lnSpc>
                <a:spcPct val="95000"/>
              </a:lnSpc>
              <a:spcBef>
                <a:spcPts val="500"/>
              </a:spcBef>
              <a:buNone/>
            </a:pPr>
            <a:r>
              <a:rPr lang="en-US" sz="1300" b="1" dirty="0">
                <a:solidFill>
                  <a:srgbClr val="0F7B6C"/>
                </a:solidFill>
              </a:rPr>
              <a:t>NFR1* </a:t>
            </a:r>
            <a:r>
              <a:rPr lang="en-US" sz="1300" dirty="0">
                <a:solidFill>
                  <a:srgbClr val="1F2A2E"/>
                </a:solidFill>
              </a:rPr>
              <a:t>Analyse 30 days of 1-minute data in under 5 s.</a:t>
            </a:r>
            <a:endParaRPr lang="en-US" sz="1300" dirty="0"/>
          </a:p>
        </p:txBody>
      </p:sp>
      <p:sp>
        <p:nvSpPr>
          <p:cNvPr id="243" name="Shape 243"/>
          <p:cNvSpPr/>
          <p:nvPr/>
        </p:nvSpPr>
        <p:spPr>
          <a:xfrm>
            <a:off x="7416800" y="2895600"/>
            <a:ext cx="4318000" cy="2032000"/>
          </a:xfrm>
          <a:prstGeom prst="rect">
            <a:avLst/>
          </a:prstGeom>
          <a:solidFill>
            <a:srgbClr val="FFFFFF"/>
          </a:solidFill>
          <a:ln w="9525">
            <a:solidFill>
              <a:srgbClr val="E0E3E0"/>
            </a:solidFill>
          </a:ln>
        </p:spPr>
        <p:txBody>
          <a:bodyPr wrap="square" lIns="50800" tIns="50800" rIns="50800" bIns="50800" rtlCol="0" anchor="t">
            <a:noAutofit/>
          </a:bodyPr>
          <a:lstStyle/>
          <a:p>
            <a:endParaRPr lang="en-US" dirty="0"/>
          </a:p>
        </p:txBody>
      </p:sp>
      <p:sp>
        <p:nvSpPr>
          <p:cNvPr id="244" name="Shape 244"/>
          <p:cNvSpPr/>
          <p:nvPr/>
        </p:nvSpPr>
        <p:spPr>
          <a:xfrm>
            <a:off x="7416800" y="2895600"/>
            <a:ext cx="50800" cy="2032000"/>
          </a:xfrm>
          <a:prstGeom prst="rect">
            <a:avLst/>
          </a:prstGeom>
          <a:solidFill>
            <a:srgbClr val="0F7B6C"/>
          </a:solidFill>
          <a:ln>
            <a:noFill/>
          </a:ln>
        </p:spPr>
        <p:txBody>
          <a:bodyPr wrap="square" lIns="50800" tIns="50800" rIns="50800" bIns="50800" rtlCol="0" anchor="t">
            <a:noAutofit/>
          </a:bodyPr>
          <a:lstStyle/>
          <a:p>
            <a:endParaRPr lang="en-US" dirty="0"/>
          </a:p>
        </p:txBody>
      </p:sp>
      <p:sp>
        <p:nvSpPr>
          <p:cNvPr id="245" name="Shape 245"/>
          <p:cNvSpPr txBox="1"/>
          <p:nvPr/>
        </p:nvSpPr>
        <p:spPr>
          <a:xfrm>
            <a:off x="7594600" y="2997200"/>
            <a:ext cx="4013200" cy="1879600"/>
          </a:xfrm>
          <a:prstGeom prst="rect">
            <a:avLst/>
          </a:prstGeom>
          <a:noFill/>
          <a:ln>
            <a:noFill/>
          </a:ln>
        </p:spPr>
        <p:txBody>
          <a:bodyPr wrap="square" lIns="0" tIns="0" rIns="0" bIns="0" rtlCol="0" anchor="t">
            <a:noAutofit/>
          </a:bodyPr>
          <a:lstStyle/>
          <a:p>
            <a:pPr marL="0" indent="0" algn="l">
              <a:spcBef>
                <a:spcPts val="0"/>
              </a:spcBef>
              <a:spcAft>
                <a:spcPts val="200"/>
              </a:spcAft>
              <a:buNone/>
            </a:pPr>
            <a:r>
              <a:rPr lang="en-US" sz="1300" b="1" dirty="0">
                <a:solidFill>
                  <a:srgbClr val="0F7B6C"/>
                </a:solidFill>
                <a:latin typeface="+mj-lt"/>
              </a:rPr>
              <a:t>Data</a:t>
            </a:r>
            <a:endParaRPr lang="en-US" sz="1300" dirty="0"/>
          </a:p>
          <a:p>
            <a:pPr marL="0" indent="0" algn="l">
              <a:lnSpc>
                <a:spcPct val="95000"/>
              </a:lnSpc>
              <a:spcBef>
                <a:spcPts val="200"/>
              </a:spcBef>
              <a:buNone/>
            </a:pPr>
            <a:r>
              <a:rPr lang="en-US" sz="1100" b="1" dirty="0">
                <a:solidFill>
                  <a:srgbClr val="1F2A2E"/>
                </a:solidFill>
              </a:rPr>
              <a:t>Receives: </a:t>
            </a:r>
            <a:r>
              <a:rPr lang="en-US" sz="1100" dirty="0">
                <a:solidFill>
                  <a:srgbClr val="1F2A2E"/>
                </a:solidFill>
              </a:rPr>
              <a:t>EnergyReading from S1, read-only</a:t>
            </a:r>
            <a:endParaRPr lang="en-US" sz="1100" dirty="0"/>
          </a:p>
          <a:p>
            <a:pPr marL="0" indent="0" algn="l">
              <a:lnSpc>
                <a:spcPct val="95000"/>
              </a:lnSpc>
              <a:spcBef>
                <a:spcPts val="200"/>
              </a:spcBef>
              <a:buNone/>
            </a:pPr>
            <a:r>
              <a:rPr lang="en-US" sz="1100" b="1" dirty="0">
                <a:solidFill>
                  <a:srgbClr val="1F2A2E"/>
                </a:solidFill>
              </a:rPr>
              <a:t>Creates: </a:t>
            </a:r>
            <a:r>
              <a:rPr lang="en-US" sz="1100" dirty="0">
                <a:solidFill>
                  <a:srgbClr val="1F2A2E"/>
                </a:solidFill>
              </a:rPr>
              <a:t>AnalysisResult, Anomaly; manages EmissionFactor</a:t>
            </a:r>
            <a:endParaRPr lang="en-US" sz="1100" dirty="0"/>
          </a:p>
          <a:p>
            <a:pPr marL="0" indent="0" algn="l">
              <a:lnSpc>
                <a:spcPct val="95000"/>
              </a:lnSpc>
              <a:spcBef>
                <a:spcPts val="200"/>
              </a:spcBef>
              <a:buNone/>
            </a:pPr>
            <a:r>
              <a:rPr lang="en-US" sz="1100" b="1" dirty="0">
                <a:solidFill>
                  <a:srgbClr val="1F2A2E"/>
                </a:solidFill>
              </a:rPr>
              <a:t>Stored in: </a:t>
            </a:r>
            <a:r>
              <a:rPr lang="en-US" sz="1100" dirty="0">
                <a:solidFill>
                  <a:srgbClr val="1F2A2E"/>
                </a:solidFill>
              </a:rPr>
              <a:t>analysis app tables in SQLite; one AnalysisResult per run, nothing saved from failed runs</a:t>
            </a:r>
            <a:endParaRPr lang="en-US" sz="1100" dirty="0"/>
          </a:p>
          <a:p>
            <a:pPr marL="0" indent="0" algn="l">
              <a:spcBef>
                <a:spcPts val="300"/>
              </a:spcBef>
              <a:buNone/>
            </a:pPr>
            <a:r>
              <a:rPr lang="en-US" sz="1100" b="1" dirty="0">
                <a:solidFill>
                  <a:srgbClr val="1F2A2E"/>
                </a:solidFill>
              </a:rPr>
              <a:t>Endpoints:</a:t>
            </a:r>
            <a:endParaRPr lang="en-US" sz="1100" dirty="0"/>
          </a:p>
          <a:p>
            <a:pPr marL="0" indent="0" algn="l">
              <a:lnSpc>
                <a:spcPct val="95000"/>
              </a:lnSpc>
              <a:spcBef>
                <a:spcPts val="50"/>
              </a:spcBef>
              <a:buNone/>
            </a:pPr>
            <a:r>
              <a:rPr lang="en-US" sz="950" dirty="0">
                <a:solidFill>
                  <a:srgbClr val="1F2A2E"/>
                </a:solidFill>
                <a:latin typeface="Consolas"/>
              </a:rPr>
              <a:t>POST /api/analysis/run/</a:t>
            </a:r>
            <a:endParaRPr lang="en-US" sz="950" dirty="0"/>
          </a:p>
          <a:p>
            <a:pPr marL="0" indent="0" algn="l">
              <a:lnSpc>
                <a:spcPct val="95000"/>
              </a:lnSpc>
              <a:spcBef>
                <a:spcPts val="50"/>
              </a:spcBef>
              <a:buNone/>
            </a:pPr>
            <a:r>
              <a:rPr lang="en-US" sz="950" dirty="0">
                <a:solidFill>
                  <a:srgbClr val="1F2A2E"/>
                </a:solidFill>
                <a:latin typeface="Consolas"/>
              </a:rPr>
              <a:t>GET  /api/buildings/{id}/analysis/latest/</a:t>
            </a:r>
            <a:endParaRPr lang="en-US" sz="950" dirty="0"/>
          </a:p>
          <a:p>
            <a:pPr marL="0" indent="0" algn="l">
              <a:lnSpc>
                <a:spcPct val="95000"/>
              </a:lnSpc>
              <a:spcBef>
                <a:spcPts val="50"/>
              </a:spcBef>
              <a:buNone/>
            </a:pPr>
            <a:r>
              <a:rPr lang="en-US" sz="950" dirty="0">
                <a:solidFill>
                  <a:srgbClr val="1F2A2E"/>
                </a:solidFill>
                <a:latin typeface="Consolas"/>
              </a:rPr>
              <a:t>GET  /api/analysis/{id}/anomalies/</a:t>
            </a:r>
            <a:endParaRPr lang="en-US" sz="950" dirty="0"/>
          </a:p>
        </p:txBody>
      </p:sp>
      <p:sp>
        <p:nvSpPr>
          <p:cNvPr id="246" name="Shape 246"/>
          <p:cNvSpPr/>
          <p:nvPr/>
        </p:nvSpPr>
        <p:spPr>
          <a:xfrm>
            <a:off x="7416800" y="5080000"/>
            <a:ext cx="1778000" cy="1524000"/>
          </a:xfrm>
          <a:prstGeom prst="rect">
            <a:avLst/>
          </a:prstGeom>
          <a:solidFill>
            <a:srgbClr val="EDEFEC"/>
          </a:solidFill>
          <a:ln w="9525">
            <a:solidFill>
              <a:srgbClr val="A9B1B3"/>
            </a:solidFill>
          </a:ln>
        </p:spPr>
        <p:txBody>
          <a:bodyPr wrap="square" lIns="50800" tIns="50800" rIns="50800" bIns="50800" rtlCol="0" anchor="t">
            <a:noAutofit/>
          </a:bodyPr>
          <a:lstStyle/>
          <a:p>
            <a:endParaRPr lang="en-US" dirty="0"/>
          </a:p>
        </p:txBody>
      </p:sp>
      <p:sp>
        <p:nvSpPr>
          <p:cNvPr id="247" name="Shape 247"/>
          <p:cNvSpPr/>
          <p:nvPr/>
        </p:nvSpPr>
        <p:spPr>
          <a:xfrm>
            <a:off x="7493000" y="5156200"/>
            <a:ext cx="368300" cy="177800"/>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sp>
        <p:nvSpPr>
          <p:cNvPr id="248" name="Shape 248"/>
          <p:cNvSpPr/>
          <p:nvPr/>
        </p:nvSpPr>
        <p:spPr>
          <a:xfrm>
            <a:off x="7899400" y="5156200"/>
            <a:ext cx="368300" cy="177800"/>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sp>
        <p:nvSpPr>
          <p:cNvPr id="249" name="Shape 249"/>
          <p:cNvSpPr/>
          <p:nvPr/>
        </p:nvSpPr>
        <p:spPr>
          <a:xfrm>
            <a:off x="8305800" y="5156200"/>
            <a:ext cx="368300" cy="177800"/>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sp>
        <p:nvSpPr>
          <p:cNvPr id="250" name="Shape 250"/>
          <p:cNvSpPr/>
          <p:nvPr/>
        </p:nvSpPr>
        <p:spPr>
          <a:xfrm>
            <a:off x="8712200" y="5156200"/>
            <a:ext cx="368300" cy="177800"/>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sp>
        <p:nvSpPr>
          <p:cNvPr id="251" name="Shape 251"/>
          <p:cNvSpPr/>
          <p:nvPr/>
        </p:nvSpPr>
        <p:spPr>
          <a:xfrm>
            <a:off x="7493000" y="5384800"/>
            <a:ext cx="1007872" cy="1143000"/>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cxnSp>
        <p:nvCxnSpPr>
          <p:cNvPr id="252" name="Line 252"/>
          <p:cNvCxnSpPr/>
          <p:nvPr/>
        </p:nvCxnSpPr>
        <p:spPr>
          <a:xfrm flipV="1">
            <a:off x="7569200" y="6248400"/>
            <a:ext cx="304800" cy="177800"/>
          </a:xfrm>
          <a:prstGeom prst="line">
            <a:avLst/>
          </a:prstGeom>
          <a:ln w="15875">
            <a:solidFill>
              <a:srgbClr val="0F7B6C"/>
            </a:solidFill>
          </a:ln>
        </p:spPr>
      </p:cxnSp>
      <p:cxnSp>
        <p:nvCxnSpPr>
          <p:cNvPr id="253" name="Line 253"/>
          <p:cNvCxnSpPr/>
          <p:nvPr/>
        </p:nvCxnSpPr>
        <p:spPr>
          <a:xfrm>
            <a:off x="7874000" y="6248400"/>
            <a:ext cx="279400" cy="101600"/>
          </a:xfrm>
          <a:prstGeom prst="line">
            <a:avLst/>
          </a:prstGeom>
          <a:ln w="15875">
            <a:solidFill>
              <a:srgbClr val="0F7B6C"/>
            </a:solidFill>
          </a:ln>
        </p:spPr>
      </p:cxnSp>
      <p:cxnSp>
        <p:nvCxnSpPr>
          <p:cNvPr id="254" name="Line 254"/>
          <p:cNvCxnSpPr/>
          <p:nvPr/>
        </p:nvCxnSpPr>
        <p:spPr>
          <a:xfrm flipV="1">
            <a:off x="8153400" y="6096000"/>
            <a:ext cx="279400" cy="254000"/>
          </a:xfrm>
          <a:prstGeom prst="line">
            <a:avLst/>
          </a:prstGeom>
          <a:ln w="15875">
            <a:solidFill>
              <a:srgbClr val="0F7B6C"/>
            </a:solidFill>
          </a:ln>
        </p:spPr>
      </p:cxnSp>
      <p:sp>
        <p:nvSpPr>
          <p:cNvPr id="255" name="Shape 255"/>
          <p:cNvSpPr/>
          <p:nvPr/>
        </p:nvSpPr>
        <p:spPr>
          <a:xfrm>
            <a:off x="8551672" y="5384800"/>
            <a:ext cx="566928" cy="762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56" name="Shape 256"/>
          <p:cNvSpPr/>
          <p:nvPr/>
        </p:nvSpPr>
        <p:spPr>
          <a:xfrm>
            <a:off x="8551672" y="5511800"/>
            <a:ext cx="566928" cy="762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57" name="Shape 257"/>
          <p:cNvSpPr/>
          <p:nvPr/>
        </p:nvSpPr>
        <p:spPr>
          <a:xfrm>
            <a:off x="8551672" y="5638800"/>
            <a:ext cx="566928" cy="762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58" name="Shape 258"/>
          <p:cNvSpPr/>
          <p:nvPr/>
        </p:nvSpPr>
        <p:spPr>
          <a:xfrm>
            <a:off x="8551672" y="5765800"/>
            <a:ext cx="566928" cy="762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59" name="Shape 259"/>
          <p:cNvSpPr txBox="1"/>
          <p:nvPr/>
        </p:nvSpPr>
        <p:spPr>
          <a:xfrm>
            <a:off x="9347200" y="5130800"/>
            <a:ext cx="2387600" cy="14224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6B7579"/>
                </a:solidFill>
              </a:rPr>
              <a:t>Low-fidelity wireframe, not yet implemented</a:t>
            </a:r>
            <a:endParaRPr lang="en-US" sz="1100" dirty="0"/>
          </a:p>
          <a:p>
            <a:pPr marL="0" indent="0" algn="l">
              <a:spcBef>
                <a:spcPts val="400"/>
              </a:spcBef>
              <a:buNone/>
            </a:pPr>
            <a:r>
              <a:rPr lang="en-US" sz="1100" dirty="0">
                <a:solidFill>
                  <a:srgbClr val="6B7579"/>
                </a:solidFill>
              </a:rPr>
              <a:t>Analytics screen. Full size in Appendix A6.</a:t>
            </a:r>
            <a:endParaRPr lang="en-US" sz="1100" dirty="0"/>
          </a:p>
        </p:txBody>
      </p:sp>
    </p:spTree>
    <p:extLst>
      <p:ext uri="{BB962C8B-B14F-4D97-AF65-F5344CB8AC3E}">
        <p14:creationId xmlns:p14="http://schemas.microsoft.com/office/powerpoint/2010/main" val="2226379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B6F42-9058-6FD0-856B-F0E7C14A86DB}"/>
              </a:ext>
            </a:extLst>
          </p:cNvPr>
          <p:cNvSpPr>
            <a:spLocks noGrp="1"/>
          </p:cNvSpPr>
          <p:nvPr>
            <p:ph type="title"/>
          </p:nvPr>
        </p:nvSpPr>
        <p:spPr/>
        <p:txBody>
          <a:bodyPr/>
          <a:lstStyle/>
          <a:p>
            <a:pPr algn="l"/>
            <a:r>
              <a:rPr lang="en-US" sz="3200" b="1" dirty="0"/>
              <a:t>S3 turns each analysis into 3–5 checked AI saving tips</a:t>
            </a:r>
          </a:p>
        </p:txBody>
      </p:sp>
      <p:sp>
        <p:nvSpPr>
          <p:cNvPr id="200" name="Subsystem bar"/>
          <p:cNvSpPr/>
          <p:nvPr/>
        </p:nvSpPr>
        <p:spPr>
          <a:xfrm>
            <a:off x="457200" y="304800"/>
            <a:ext cx="711200" cy="63500"/>
          </a:xfrm>
          <a:prstGeom prst="rect">
            <a:avLst/>
          </a:prstGeom>
          <a:solidFill>
            <a:srgbClr val="7A5BA6"/>
          </a:solidFill>
          <a:ln>
            <a:noFill/>
          </a:ln>
        </p:spPr>
        <p:txBody>
          <a:bodyPr wrap="square" lIns="50800" tIns="50800" rIns="50800" bIns="50800" rtlCol="0" anchor="t">
            <a:noAutofit/>
          </a:bodyPr>
          <a:lstStyle/>
          <a:p>
            <a:endParaRPr lang="en-US" dirty="0"/>
          </a:p>
        </p:txBody>
      </p:sp>
      <p:sp>
        <p:nvSpPr>
          <p:cNvPr id="201" name="Shape 201"/>
          <p:cNvSpPr txBox="1"/>
          <p:nvPr/>
        </p:nvSpPr>
        <p:spPr>
          <a:xfrm>
            <a:off x="457200" y="1244600"/>
            <a:ext cx="6654800" cy="228600"/>
          </a:xfrm>
          <a:prstGeom prst="rect">
            <a:avLst/>
          </a:prstGeom>
          <a:noFill/>
          <a:ln>
            <a:noFill/>
          </a:ln>
        </p:spPr>
        <p:txBody>
          <a:bodyPr wrap="square" lIns="0" tIns="0" rIns="0" bIns="0" rtlCol="0" anchor="t">
            <a:noAutofit/>
          </a:bodyPr>
          <a:lstStyle/>
          <a:p>
            <a:pPr marL="0" indent="0" algn="l">
              <a:spcBef>
                <a:spcPts val="0"/>
              </a:spcBef>
              <a:buNone/>
            </a:pPr>
            <a:r>
              <a:rPr lang="en-US" sz="1300" b="1" dirty="0">
                <a:solidFill>
                  <a:srgbClr val="7A5BA6"/>
                </a:solidFill>
                <a:latin typeface="+mj-lt"/>
              </a:rPr>
              <a:t>Domain class diagram</a:t>
            </a:r>
            <a:r>
              <a:rPr lang="en-US" sz="1300" dirty="0">
                <a:solidFill>
                  <a:srgbClr val="6B7579"/>
                </a:solidFill>
              </a:rPr>
              <a:t>  ·  7 classes + 1 interface</a:t>
            </a:r>
            <a:endParaRPr lang="en-US" sz="1300" dirty="0"/>
          </a:p>
        </p:txBody>
      </p:sp>
      <p:sp>
        <p:nvSpPr>
          <p:cNvPr id="202" name="Shape 202"/>
          <p:cNvSpPr/>
          <p:nvPr/>
        </p:nvSpPr>
        <p:spPr>
          <a:xfrm>
            <a:off x="457200" y="1574800"/>
            <a:ext cx="1473200" cy="304800"/>
          </a:xfrm>
          <a:prstGeom prst="rect">
            <a:avLst/>
          </a:prstGeom>
          <a:solidFill>
            <a:srgbClr val="0F7B6C"/>
          </a:solidFill>
          <a:ln w="9525">
            <a:solidFill>
              <a:srgbClr val="0F7B6C"/>
            </a:solidFill>
          </a:ln>
        </p:spPr>
        <p:txBody>
          <a:bodyPr wrap="square" lIns="38100" tIns="12700" rIns="38100" bIns="12700" rtlCol="0" anchor="ctr">
            <a:noAutofit/>
          </a:bodyPr>
          <a:lstStyle/>
          <a:p>
            <a:pPr marL="0" indent="0" algn="ctr">
              <a:spcBef>
                <a:spcPts val="0"/>
              </a:spcBef>
              <a:buNone/>
            </a:pPr>
            <a:r>
              <a:rPr lang="en-US" sz="1050" b="1" dirty="0">
                <a:solidFill>
                  <a:srgbClr val="FFFFFF"/>
                </a:solidFill>
              </a:rPr>
              <a:t>AnalysisResult (S2)</a:t>
            </a:r>
            <a:endParaRPr lang="en-US" sz="1050" dirty="0"/>
          </a:p>
        </p:txBody>
      </p:sp>
      <p:sp>
        <p:nvSpPr>
          <p:cNvPr id="203" name="Shape 203"/>
          <p:cNvSpPr/>
          <p:nvPr/>
        </p:nvSpPr>
        <p:spPr>
          <a:xfrm>
            <a:off x="2413000" y="1498600"/>
            <a:ext cx="2286000" cy="381000"/>
          </a:xfrm>
          <a:prstGeom prst="rect">
            <a:avLst/>
          </a:prstGeom>
          <a:solidFill>
            <a:srgbClr val="7A5BA6"/>
          </a:solidFill>
          <a:ln w="9525">
            <a:solidFill>
              <a:srgbClr val="7A5BA6"/>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«entity»</a:t>
            </a:r>
            <a:endParaRPr lang="en-US" sz="800" dirty="0"/>
          </a:p>
          <a:p>
            <a:pPr marL="0" indent="0" algn="ctr">
              <a:lnSpc>
                <a:spcPct val="90000"/>
              </a:lnSpc>
              <a:spcBef>
                <a:spcPts val="0"/>
              </a:spcBef>
              <a:buNone/>
            </a:pPr>
            <a:r>
              <a:rPr lang="en-US" sz="1050" b="1" dirty="0">
                <a:solidFill>
                  <a:srgbClr val="FFFFFF"/>
                </a:solidFill>
              </a:rPr>
              <a:t>AIRecommendation</a:t>
            </a:r>
            <a:endParaRPr lang="en-US" sz="1050" dirty="0"/>
          </a:p>
        </p:txBody>
      </p:sp>
      <p:sp>
        <p:nvSpPr>
          <p:cNvPr id="204" name="Shape 204"/>
          <p:cNvSpPr/>
          <p:nvPr/>
        </p:nvSpPr>
        <p:spPr>
          <a:xfrm>
            <a:off x="2413000" y="1879600"/>
            <a:ext cx="2286000" cy="166370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title: str</a:t>
            </a:r>
            <a:endParaRPr lang="en-US" sz="950" dirty="0"/>
          </a:p>
          <a:p>
            <a:pPr marL="0" indent="0" algn="l">
              <a:lnSpc>
                <a:spcPct val="95000"/>
              </a:lnSpc>
              <a:spcBef>
                <a:spcPts val="0"/>
              </a:spcBef>
              <a:buNone/>
            </a:pPr>
            <a:r>
              <a:rPr lang="en-US" sz="950" dirty="0">
                <a:solidFill>
                  <a:srgbClr val="1F2A2E"/>
                </a:solidFill>
              </a:rPr>
              <a:t>description: str</a:t>
            </a:r>
            <a:endParaRPr lang="en-US" sz="950" dirty="0"/>
          </a:p>
          <a:p>
            <a:pPr marL="0" indent="0" algn="l">
              <a:lnSpc>
                <a:spcPct val="95000"/>
              </a:lnSpc>
              <a:spcBef>
                <a:spcPts val="0"/>
              </a:spcBef>
              <a:buNone/>
            </a:pPr>
            <a:r>
              <a:rPr lang="en-US" sz="950" dirty="0">
                <a:solidFill>
                  <a:srgbClr val="1F2A2E"/>
                </a:solidFill>
              </a:rPr>
              <a:t>category: str</a:t>
            </a:r>
            <a:endParaRPr lang="en-US" sz="950" dirty="0"/>
          </a:p>
          <a:p>
            <a:pPr marL="0" indent="0" algn="l">
              <a:lnSpc>
                <a:spcPct val="95000"/>
              </a:lnSpc>
              <a:spcBef>
                <a:spcPts val="0"/>
              </a:spcBef>
              <a:buNone/>
            </a:pPr>
            <a:r>
              <a:rPr lang="en-US" sz="950" dirty="0">
                <a:solidFill>
                  <a:srgbClr val="1F2A2E"/>
                </a:solidFill>
              </a:rPr>
              <a:t>est_saving_kwh: float</a:t>
            </a:r>
            <a:endParaRPr lang="en-US" sz="950" dirty="0"/>
          </a:p>
          <a:p>
            <a:pPr marL="0" indent="0" algn="l">
              <a:lnSpc>
                <a:spcPct val="95000"/>
              </a:lnSpc>
              <a:spcBef>
                <a:spcPts val="0"/>
              </a:spcBef>
              <a:buNone/>
            </a:pPr>
            <a:r>
              <a:rPr lang="en-US" sz="950" dirty="0">
                <a:solidFill>
                  <a:srgbClr val="1F2A2E"/>
                </a:solidFill>
              </a:rPr>
              <a:t>est_saving_pct: float</a:t>
            </a:r>
            <a:endParaRPr lang="en-US" sz="950" dirty="0"/>
          </a:p>
          <a:p>
            <a:pPr marL="0" indent="0" algn="l">
              <a:lnSpc>
                <a:spcPct val="95000"/>
              </a:lnSpc>
              <a:spcBef>
                <a:spcPts val="0"/>
              </a:spcBef>
              <a:buNone/>
            </a:pPr>
            <a:r>
              <a:rPr lang="en-US" sz="950" dirty="0">
                <a:solidFill>
                  <a:srgbClr val="1F2A2E"/>
                </a:solidFill>
              </a:rPr>
              <a:t>priority: {LOW, MEDIUM, HIGH}</a:t>
            </a:r>
            <a:endParaRPr lang="en-US" sz="950" dirty="0"/>
          </a:p>
          <a:p>
            <a:pPr marL="0" indent="0" algn="l">
              <a:lnSpc>
                <a:spcPct val="95000"/>
              </a:lnSpc>
              <a:spcBef>
                <a:spcPts val="0"/>
              </a:spcBef>
              <a:buNone/>
            </a:pPr>
            <a:r>
              <a:rPr lang="en-US" sz="950" dirty="0">
                <a:solidFill>
                  <a:srgbClr val="1F2A2E"/>
                </a:solidFill>
              </a:rPr>
              <a:t>status: {NEW, ACCEPTED,</a:t>
            </a:r>
            <a:endParaRPr lang="en-US" sz="950" dirty="0"/>
          </a:p>
          <a:p>
            <a:pPr marL="0" indent="0" algn="l">
              <a:lnSpc>
                <a:spcPct val="95000"/>
              </a:lnSpc>
              <a:spcBef>
                <a:spcPts val="0"/>
              </a:spcBef>
              <a:buNone/>
            </a:pPr>
            <a:r>
              <a:rPr lang="en-US" sz="950" dirty="0">
                <a:solidFill>
                  <a:srgbClr val="1F2A2E"/>
                </a:solidFill>
              </a:rPr>
              <a:t>   DISMISSED, IMPLEMENTED}</a:t>
            </a:r>
            <a:endParaRPr lang="en-US" sz="950" dirty="0"/>
          </a:p>
          <a:p>
            <a:pPr marL="0" indent="0" algn="l">
              <a:lnSpc>
                <a:spcPct val="95000"/>
              </a:lnSpc>
              <a:spcBef>
                <a:spcPts val="0"/>
              </a:spcBef>
              <a:buNone/>
            </a:pPr>
            <a:r>
              <a:rPr lang="en-US" sz="950" dirty="0">
                <a:solidFill>
                  <a:srgbClr val="1F2A2E"/>
                </a:solidFill>
              </a:rPr>
              <a:t>is_fallback: bool</a:t>
            </a:r>
            <a:endParaRPr lang="en-US" sz="950" dirty="0"/>
          </a:p>
          <a:p>
            <a:pPr marL="0" indent="0" algn="l">
              <a:lnSpc>
                <a:spcPct val="95000"/>
              </a:lnSpc>
              <a:spcBef>
                <a:spcPts val="0"/>
              </a:spcBef>
              <a:buNone/>
            </a:pPr>
            <a:r>
              <a:rPr lang="en-US" sz="950" dirty="0">
                <a:solidFill>
                  <a:srgbClr val="1F2A2E"/>
                </a:solidFill>
              </a:rPr>
              <a:t>created_at: datetime</a:t>
            </a:r>
            <a:endParaRPr lang="en-US" sz="950" dirty="0"/>
          </a:p>
        </p:txBody>
      </p:sp>
      <p:sp>
        <p:nvSpPr>
          <p:cNvPr id="205" name="Shape 205"/>
          <p:cNvSpPr/>
          <p:nvPr/>
        </p:nvSpPr>
        <p:spPr>
          <a:xfrm>
            <a:off x="2413000" y="3543300"/>
            <a:ext cx="2286000" cy="23495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set_status(status)</a:t>
            </a:r>
            <a:endParaRPr lang="en-US" sz="950" dirty="0"/>
          </a:p>
        </p:txBody>
      </p:sp>
      <p:cxnSp>
        <p:nvCxnSpPr>
          <p:cNvPr id="206" name="Line 206"/>
          <p:cNvCxnSpPr/>
          <p:nvPr/>
        </p:nvCxnSpPr>
        <p:spPr>
          <a:xfrm>
            <a:off x="1930400" y="1727200"/>
            <a:ext cx="482600" cy="0"/>
          </a:xfrm>
          <a:prstGeom prst="line">
            <a:avLst/>
          </a:prstGeom>
          <a:ln w="12700">
            <a:solidFill>
              <a:srgbClr val="6B7579"/>
            </a:solidFill>
            <a:tailEnd type="arrow" w="med" len="med"/>
          </a:ln>
        </p:spPr>
      </p:cxnSp>
      <p:sp>
        <p:nvSpPr>
          <p:cNvPr id="207" name="Shape 207"/>
          <p:cNvSpPr txBox="1"/>
          <p:nvPr/>
        </p:nvSpPr>
        <p:spPr>
          <a:xfrm>
            <a:off x="1955800" y="1549400"/>
            <a:ext cx="254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1</a:t>
            </a:r>
            <a:endParaRPr lang="en-US" sz="900" dirty="0"/>
          </a:p>
        </p:txBody>
      </p:sp>
      <p:sp>
        <p:nvSpPr>
          <p:cNvPr id="208" name="Shape 208"/>
          <p:cNvSpPr txBox="1"/>
          <p:nvPr/>
        </p:nvSpPr>
        <p:spPr>
          <a:xfrm>
            <a:off x="2006600" y="1765300"/>
            <a:ext cx="355600" cy="152400"/>
          </a:xfrm>
          <a:prstGeom prst="rect">
            <a:avLst/>
          </a:prstGeom>
          <a:noFill/>
          <a:ln>
            <a:noFill/>
          </a:ln>
        </p:spPr>
        <p:txBody>
          <a:bodyPr wrap="square" lIns="0" tIns="0" rIns="0" bIns="0" rtlCol="0" anchor="t">
            <a:noAutofit/>
          </a:bodyPr>
          <a:lstStyle/>
          <a:p>
            <a:pPr marL="0" indent="0" algn="r">
              <a:spcBef>
                <a:spcPts val="0"/>
              </a:spcBef>
              <a:buNone/>
            </a:pPr>
            <a:r>
              <a:rPr lang="en-US" sz="900" dirty="0">
                <a:solidFill>
                  <a:srgbClr val="6B7579"/>
                </a:solidFill>
              </a:rPr>
              <a:t>0..*</a:t>
            </a:r>
            <a:endParaRPr lang="en-US" sz="900" dirty="0"/>
          </a:p>
        </p:txBody>
      </p:sp>
      <p:sp>
        <p:nvSpPr>
          <p:cNvPr id="209" name="Shape 209"/>
          <p:cNvSpPr/>
          <p:nvPr/>
        </p:nvSpPr>
        <p:spPr>
          <a:xfrm>
            <a:off x="5232400" y="1498600"/>
            <a:ext cx="1905000" cy="381000"/>
          </a:xfrm>
          <a:prstGeom prst="rect">
            <a:avLst/>
          </a:prstGeom>
          <a:solidFill>
            <a:srgbClr val="7A5BA6"/>
          </a:solidFill>
          <a:ln w="9525">
            <a:solidFill>
              <a:srgbClr val="7A5BA6"/>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«entity»</a:t>
            </a:r>
            <a:endParaRPr lang="en-US" sz="800" dirty="0"/>
          </a:p>
          <a:p>
            <a:pPr marL="0" indent="0" algn="ctr">
              <a:lnSpc>
                <a:spcPct val="90000"/>
              </a:lnSpc>
              <a:spcBef>
                <a:spcPts val="0"/>
              </a:spcBef>
              <a:buNone/>
            </a:pPr>
            <a:r>
              <a:rPr lang="en-US" sz="1050" b="1" dirty="0">
                <a:solidFill>
                  <a:srgbClr val="FFFFFF"/>
                </a:solidFill>
              </a:rPr>
              <a:t>LLMRequestLog</a:t>
            </a:r>
            <a:endParaRPr lang="en-US" sz="1050" dirty="0"/>
          </a:p>
        </p:txBody>
      </p:sp>
      <p:sp>
        <p:nvSpPr>
          <p:cNvPr id="210" name="Shape 210"/>
          <p:cNvSpPr/>
          <p:nvPr/>
        </p:nvSpPr>
        <p:spPr>
          <a:xfrm>
            <a:off x="5232400" y="1879600"/>
            <a:ext cx="1905000" cy="86995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model_name: str</a:t>
            </a:r>
            <a:endParaRPr lang="en-US" sz="950" dirty="0"/>
          </a:p>
          <a:p>
            <a:pPr marL="0" indent="0" algn="l">
              <a:lnSpc>
                <a:spcPct val="95000"/>
              </a:lnSpc>
              <a:spcBef>
                <a:spcPts val="0"/>
              </a:spcBef>
              <a:buNone/>
            </a:pPr>
            <a:r>
              <a:rPr lang="en-US" sz="950" dirty="0">
                <a:solidFill>
                  <a:srgbClr val="1F2A2E"/>
                </a:solidFill>
              </a:rPr>
              <a:t>prompt_hash: str</a:t>
            </a:r>
            <a:endParaRPr lang="en-US" sz="950" dirty="0"/>
          </a:p>
          <a:p>
            <a:pPr marL="0" indent="0" algn="l">
              <a:lnSpc>
                <a:spcPct val="95000"/>
              </a:lnSpc>
              <a:spcBef>
                <a:spcPts val="0"/>
              </a:spcBef>
              <a:buNone/>
            </a:pPr>
            <a:r>
              <a:rPr lang="en-US" sz="950" dirty="0">
                <a:solidFill>
                  <a:srgbClr val="1F2A2E"/>
                </a:solidFill>
              </a:rPr>
              <a:t>tokens_used: int</a:t>
            </a:r>
            <a:endParaRPr lang="en-US" sz="950" dirty="0"/>
          </a:p>
          <a:p>
            <a:pPr marL="0" indent="0" algn="l">
              <a:lnSpc>
                <a:spcPct val="95000"/>
              </a:lnSpc>
              <a:spcBef>
                <a:spcPts val="0"/>
              </a:spcBef>
              <a:buNone/>
            </a:pPr>
            <a:r>
              <a:rPr lang="en-US" sz="950" dirty="0">
                <a:solidFill>
                  <a:srgbClr val="1F2A2E"/>
                </a:solidFill>
              </a:rPr>
              <a:t>latency_ms: int</a:t>
            </a:r>
            <a:endParaRPr lang="en-US" sz="950" dirty="0"/>
          </a:p>
          <a:p>
            <a:pPr marL="0" indent="0" algn="l">
              <a:lnSpc>
                <a:spcPct val="95000"/>
              </a:lnSpc>
              <a:spcBef>
                <a:spcPts val="0"/>
              </a:spcBef>
              <a:buNone/>
            </a:pPr>
            <a:r>
              <a:rPr lang="en-US" sz="950" dirty="0">
                <a:solidFill>
                  <a:srgbClr val="1F2A2E"/>
                </a:solidFill>
              </a:rPr>
              <a:t>status: str</a:t>
            </a:r>
            <a:endParaRPr lang="en-US" sz="950" dirty="0"/>
          </a:p>
        </p:txBody>
      </p:sp>
      <p:sp>
        <p:nvSpPr>
          <p:cNvPr id="211" name="Shape 211"/>
          <p:cNvSpPr/>
          <p:nvPr/>
        </p:nvSpPr>
        <p:spPr>
          <a:xfrm>
            <a:off x="5232400" y="2749550"/>
            <a:ext cx="1905000" cy="23495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record(response)</a:t>
            </a:r>
            <a:endParaRPr lang="en-US" sz="950" dirty="0"/>
          </a:p>
        </p:txBody>
      </p:sp>
      <p:cxnSp>
        <p:nvCxnSpPr>
          <p:cNvPr id="212" name="Line 212"/>
          <p:cNvCxnSpPr/>
          <p:nvPr/>
        </p:nvCxnSpPr>
        <p:spPr>
          <a:xfrm flipH="1">
            <a:off x="4699000" y="2032000"/>
            <a:ext cx="533400" cy="0"/>
          </a:xfrm>
          <a:prstGeom prst="line">
            <a:avLst/>
          </a:prstGeom>
          <a:ln w="12700">
            <a:solidFill>
              <a:srgbClr val="6B7579"/>
            </a:solidFill>
            <a:tailEnd type="arrow" w="med" len="med"/>
          </a:ln>
        </p:spPr>
      </p:cxnSp>
      <p:sp>
        <p:nvSpPr>
          <p:cNvPr id="213" name="Shape 213"/>
          <p:cNvSpPr txBox="1"/>
          <p:nvPr/>
        </p:nvSpPr>
        <p:spPr>
          <a:xfrm>
            <a:off x="5003800" y="1854200"/>
            <a:ext cx="203200" cy="152400"/>
          </a:xfrm>
          <a:prstGeom prst="rect">
            <a:avLst/>
          </a:prstGeom>
          <a:noFill/>
          <a:ln>
            <a:noFill/>
          </a:ln>
        </p:spPr>
        <p:txBody>
          <a:bodyPr wrap="square" lIns="0" tIns="0" rIns="0" bIns="0" rtlCol="0" anchor="t">
            <a:noAutofit/>
          </a:bodyPr>
          <a:lstStyle/>
          <a:p>
            <a:pPr marL="0" indent="0" algn="r">
              <a:spcBef>
                <a:spcPts val="0"/>
              </a:spcBef>
              <a:buNone/>
            </a:pPr>
            <a:r>
              <a:rPr lang="en-US" sz="900" dirty="0">
                <a:solidFill>
                  <a:srgbClr val="6B7579"/>
                </a:solidFill>
              </a:rPr>
              <a:t>1</a:t>
            </a:r>
            <a:endParaRPr lang="en-US" sz="900" dirty="0"/>
          </a:p>
        </p:txBody>
      </p:sp>
      <p:sp>
        <p:nvSpPr>
          <p:cNvPr id="214" name="Shape 214"/>
          <p:cNvSpPr txBox="1"/>
          <p:nvPr/>
        </p:nvSpPr>
        <p:spPr>
          <a:xfrm>
            <a:off x="4737100" y="2070100"/>
            <a:ext cx="381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0..*</a:t>
            </a:r>
            <a:endParaRPr lang="en-US" sz="900" dirty="0"/>
          </a:p>
        </p:txBody>
      </p:sp>
      <p:sp>
        <p:nvSpPr>
          <p:cNvPr id="215" name="Shape 215"/>
          <p:cNvSpPr/>
          <p:nvPr/>
        </p:nvSpPr>
        <p:spPr>
          <a:xfrm>
            <a:off x="2413000" y="4210050"/>
            <a:ext cx="2286000" cy="381000"/>
          </a:xfrm>
          <a:prstGeom prst="rect">
            <a:avLst/>
          </a:prstGeom>
          <a:solidFill>
            <a:srgbClr val="7A5BA6"/>
          </a:solidFill>
          <a:ln w="9525">
            <a:solidFill>
              <a:srgbClr val="7A5BA6"/>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«entity»</a:t>
            </a:r>
            <a:endParaRPr lang="en-US" sz="800" dirty="0"/>
          </a:p>
          <a:p>
            <a:pPr marL="0" indent="0" algn="ctr">
              <a:lnSpc>
                <a:spcPct val="90000"/>
              </a:lnSpc>
              <a:spcBef>
                <a:spcPts val="0"/>
              </a:spcBef>
              <a:buNone/>
            </a:pPr>
            <a:r>
              <a:rPr lang="en-US" sz="1050" b="1" dirty="0">
                <a:solidFill>
                  <a:srgbClr val="FFFFFF"/>
                </a:solidFill>
              </a:rPr>
              <a:t>RecommendationFeedback</a:t>
            </a:r>
            <a:endParaRPr lang="en-US" sz="1050" dirty="0"/>
          </a:p>
        </p:txBody>
      </p:sp>
      <p:sp>
        <p:nvSpPr>
          <p:cNvPr id="216" name="Shape 216"/>
          <p:cNvSpPr/>
          <p:nvPr/>
        </p:nvSpPr>
        <p:spPr>
          <a:xfrm>
            <a:off x="2413000" y="4591050"/>
            <a:ext cx="2286000" cy="39370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rating: int (1–5)</a:t>
            </a:r>
            <a:endParaRPr lang="en-US" sz="950" dirty="0"/>
          </a:p>
          <a:p>
            <a:pPr marL="0" indent="0" algn="l">
              <a:lnSpc>
                <a:spcPct val="95000"/>
              </a:lnSpc>
              <a:spcBef>
                <a:spcPts val="0"/>
              </a:spcBef>
              <a:buNone/>
            </a:pPr>
            <a:r>
              <a:rPr lang="en-US" sz="950" dirty="0">
                <a:solidFill>
                  <a:srgbClr val="1F2A2E"/>
                </a:solidFill>
              </a:rPr>
              <a:t>comment: str</a:t>
            </a:r>
            <a:endParaRPr lang="en-US" sz="950" dirty="0"/>
          </a:p>
        </p:txBody>
      </p:sp>
      <p:sp>
        <p:nvSpPr>
          <p:cNvPr id="217" name="Shape 217"/>
          <p:cNvSpPr/>
          <p:nvPr/>
        </p:nvSpPr>
        <p:spPr>
          <a:xfrm>
            <a:off x="2413000" y="4984750"/>
            <a:ext cx="2286000" cy="23495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is_positive(): bool</a:t>
            </a:r>
            <a:endParaRPr lang="en-US" sz="950" dirty="0"/>
          </a:p>
        </p:txBody>
      </p:sp>
      <p:cxnSp>
        <p:nvCxnSpPr>
          <p:cNvPr id="218" name="Line 218"/>
          <p:cNvCxnSpPr/>
          <p:nvPr/>
        </p:nvCxnSpPr>
        <p:spPr>
          <a:xfrm>
            <a:off x="3556000" y="3778250"/>
            <a:ext cx="0" cy="431800"/>
          </a:xfrm>
          <a:prstGeom prst="line">
            <a:avLst/>
          </a:prstGeom>
          <a:ln w="12700">
            <a:solidFill>
              <a:srgbClr val="6B7579"/>
            </a:solidFill>
            <a:headEnd type="diamond" w="med" len="med"/>
          </a:ln>
        </p:spPr>
      </p:cxnSp>
      <p:sp>
        <p:nvSpPr>
          <p:cNvPr id="219" name="Shape 219"/>
          <p:cNvSpPr txBox="1"/>
          <p:nvPr/>
        </p:nvSpPr>
        <p:spPr>
          <a:xfrm>
            <a:off x="3606800" y="3790950"/>
            <a:ext cx="254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1</a:t>
            </a:r>
            <a:endParaRPr lang="en-US" sz="900" dirty="0"/>
          </a:p>
        </p:txBody>
      </p:sp>
      <p:sp>
        <p:nvSpPr>
          <p:cNvPr id="220" name="Shape 220"/>
          <p:cNvSpPr txBox="1"/>
          <p:nvPr/>
        </p:nvSpPr>
        <p:spPr>
          <a:xfrm>
            <a:off x="3606800" y="4044950"/>
            <a:ext cx="381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0..*</a:t>
            </a:r>
            <a:endParaRPr lang="en-US" sz="900" dirty="0"/>
          </a:p>
        </p:txBody>
      </p:sp>
      <p:sp>
        <p:nvSpPr>
          <p:cNvPr id="221" name="Shape 221"/>
          <p:cNvSpPr/>
          <p:nvPr/>
        </p:nvSpPr>
        <p:spPr>
          <a:xfrm>
            <a:off x="457200" y="4591050"/>
            <a:ext cx="1397000" cy="304800"/>
          </a:xfrm>
          <a:prstGeom prst="rect">
            <a:avLst/>
          </a:prstGeom>
          <a:solidFill>
            <a:srgbClr val="C9822B"/>
          </a:solidFill>
          <a:ln w="9525">
            <a:solidFill>
              <a:srgbClr val="C9822B"/>
            </a:solidFill>
          </a:ln>
        </p:spPr>
        <p:txBody>
          <a:bodyPr wrap="square" lIns="38100" tIns="12700" rIns="38100" bIns="12700" rtlCol="0" anchor="ctr">
            <a:noAutofit/>
          </a:bodyPr>
          <a:lstStyle/>
          <a:p>
            <a:pPr marL="0" indent="0" algn="ctr">
              <a:spcBef>
                <a:spcPts val="0"/>
              </a:spcBef>
              <a:buNone/>
            </a:pPr>
            <a:r>
              <a:rPr lang="en-US" sz="1050" b="1" dirty="0">
                <a:solidFill>
                  <a:srgbClr val="FFFFFF"/>
                </a:solidFill>
              </a:rPr>
              <a:t>User (S4)</a:t>
            </a:r>
            <a:endParaRPr lang="en-US" sz="1050" dirty="0"/>
          </a:p>
        </p:txBody>
      </p:sp>
      <p:cxnSp>
        <p:nvCxnSpPr>
          <p:cNvPr id="222" name="Line 222"/>
          <p:cNvCxnSpPr/>
          <p:nvPr/>
        </p:nvCxnSpPr>
        <p:spPr>
          <a:xfrm>
            <a:off x="1854200" y="4743450"/>
            <a:ext cx="558800" cy="0"/>
          </a:xfrm>
          <a:prstGeom prst="line">
            <a:avLst/>
          </a:prstGeom>
          <a:ln w="12700">
            <a:solidFill>
              <a:srgbClr val="6B7579"/>
            </a:solidFill>
            <a:tailEnd type="arrow" w="med" len="med"/>
          </a:ln>
        </p:spPr>
      </p:cxnSp>
      <p:sp>
        <p:nvSpPr>
          <p:cNvPr id="223" name="Shape 223"/>
          <p:cNvSpPr txBox="1"/>
          <p:nvPr/>
        </p:nvSpPr>
        <p:spPr>
          <a:xfrm>
            <a:off x="1879600" y="4565650"/>
            <a:ext cx="254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1</a:t>
            </a:r>
            <a:endParaRPr lang="en-US" sz="900" dirty="0"/>
          </a:p>
        </p:txBody>
      </p:sp>
      <p:sp>
        <p:nvSpPr>
          <p:cNvPr id="224" name="Shape 224"/>
          <p:cNvSpPr txBox="1"/>
          <p:nvPr/>
        </p:nvSpPr>
        <p:spPr>
          <a:xfrm>
            <a:off x="2032000" y="4781550"/>
            <a:ext cx="355600" cy="152400"/>
          </a:xfrm>
          <a:prstGeom prst="rect">
            <a:avLst/>
          </a:prstGeom>
          <a:noFill/>
          <a:ln>
            <a:noFill/>
          </a:ln>
        </p:spPr>
        <p:txBody>
          <a:bodyPr wrap="square" lIns="0" tIns="0" rIns="0" bIns="0" rtlCol="0" anchor="t">
            <a:noAutofit/>
          </a:bodyPr>
          <a:lstStyle/>
          <a:p>
            <a:pPr marL="0" indent="0" algn="r">
              <a:spcBef>
                <a:spcPts val="0"/>
              </a:spcBef>
              <a:buNone/>
            </a:pPr>
            <a:r>
              <a:rPr lang="en-US" sz="900" dirty="0">
                <a:solidFill>
                  <a:srgbClr val="6B7579"/>
                </a:solidFill>
              </a:rPr>
              <a:t>0..*</a:t>
            </a:r>
            <a:endParaRPr lang="en-US" sz="900" dirty="0"/>
          </a:p>
        </p:txBody>
      </p:sp>
      <p:sp>
        <p:nvSpPr>
          <p:cNvPr id="225" name="Shape 225"/>
          <p:cNvSpPr/>
          <p:nvPr/>
        </p:nvSpPr>
        <p:spPr>
          <a:xfrm>
            <a:off x="5232400" y="3213100"/>
            <a:ext cx="1905000" cy="381000"/>
          </a:xfrm>
          <a:prstGeom prst="rect">
            <a:avLst/>
          </a:prstGeom>
          <a:solidFill>
            <a:srgbClr val="7A5BA6"/>
          </a:solidFill>
          <a:ln w="9525">
            <a:solidFill>
              <a:srgbClr val="7A5BA6"/>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«service»</a:t>
            </a:r>
            <a:endParaRPr lang="en-US" sz="800" dirty="0"/>
          </a:p>
          <a:p>
            <a:pPr marL="0" indent="0" algn="ctr">
              <a:lnSpc>
                <a:spcPct val="90000"/>
              </a:lnSpc>
              <a:spcBef>
                <a:spcPts val="0"/>
              </a:spcBef>
              <a:buNone/>
            </a:pPr>
            <a:r>
              <a:rPr lang="en-US" sz="1050" b="1" dirty="0">
                <a:solidFill>
                  <a:srgbClr val="FFFFFF"/>
                </a:solidFill>
              </a:rPr>
              <a:t>CoachService</a:t>
            </a:r>
            <a:endParaRPr lang="en-US" sz="1050" dirty="0"/>
          </a:p>
        </p:txBody>
      </p:sp>
      <p:sp>
        <p:nvSpPr>
          <p:cNvPr id="226" name="Shape 226"/>
          <p:cNvSpPr/>
          <p:nvPr/>
        </p:nvSpPr>
        <p:spPr>
          <a:xfrm>
            <a:off x="5232400" y="3594100"/>
            <a:ext cx="1905000" cy="23495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daily_call_limit: int = 50</a:t>
            </a:r>
            <a:endParaRPr lang="en-US" sz="950" dirty="0"/>
          </a:p>
        </p:txBody>
      </p:sp>
      <p:sp>
        <p:nvSpPr>
          <p:cNvPr id="227" name="Shape 227"/>
          <p:cNvSpPr/>
          <p:nvPr/>
        </p:nvSpPr>
        <p:spPr>
          <a:xfrm>
            <a:off x="5232400" y="3829050"/>
            <a:ext cx="1905000" cy="23495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generate(analysis)</a:t>
            </a:r>
            <a:endParaRPr lang="en-US" sz="950" dirty="0"/>
          </a:p>
        </p:txBody>
      </p:sp>
      <p:sp>
        <p:nvSpPr>
          <p:cNvPr id="228" name="Shape 228"/>
          <p:cNvSpPr/>
          <p:nvPr/>
        </p:nvSpPr>
        <p:spPr>
          <a:xfrm>
            <a:off x="5232400" y="4343400"/>
            <a:ext cx="1905000" cy="381000"/>
          </a:xfrm>
          <a:prstGeom prst="rect">
            <a:avLst/>
          </a:prstGeom>
          <a:solidFill>
            <a:srgbClr val="7A5BA6"/>
          </a:solidFill>
          <a:ln w="9525">
            <a:solidFill>
              <a:srgbClr val="7A5BA6"/>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«interface»</a:t>
            </a:r>
            <a:endParaRPr lang="en-US" sz="800" dirty="0"/>
          </a:p>
          <a:p>
            <a:pPr marL="0" indent="0" algn="ctr">
              <a:lnSpc>
                <a:spcPct val="90000"/>
              </a:lnSpc>
              <a:spcBef>
                <a:spcPts val="0"/>
              </a:spcBef>
              <a:buNone/>
            </a:pPr>
            <a:r>
              <a:rPr lang="en-US" sz="1050" b="1" dirty="0">
                <a:solidFill>
                  <a:srgbClr val="FFFFFF"/>
                </a:solidFill>
              </a:rPr>
              <a:t>LLMClient</a:t>
            </a:r>
            <a:endParaRPr lang="en-US" sz="1050" dirty="0"/>
          </a:p>
        </p:txBody>
      </p:sp>
      <p:sp>
        <p:nvSpPr>
          <p:cNvPr id="229" name="Shape 229"/>
          <p:cNvSpPr/>
          <p:nvPr/>
        </p:nvSpPr>
        <p:spPr>
          <a:xfrm>
            <a:off x="5232400" y="4724400"/>
            <a:ext cx="1905000" cy="23495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 </a:t>
            </a:r>
            <a:endParaRPr lang="en-US" sz="950" dirty="0"/>
          </a:p>
        </p:txBody>
      </p:sp>
      <p:sp>
        <p:nvSpPr>
          <p:cNvPr id="230" name="Shape 230"/>
          <p:cNvSpPr/>
          <p:nvPr/>
        </p:nvSpPr>
        <p:spPr>
          <a:xfrm>
            <a:off x="5232400" y="4959350"/>
            <a:ext cx="1905000" cy="23495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complete(prompt): str</a:t>
            </a:r>
            <a:endParaRPr lang="en-US" sz="950" dirty="0"/>
          </a:p>
        </p:txBody>
      </p:sp>
      <p:cxnSp>
        <p:nvCxnSpPr>
          <p:cNvPr id="231" name="Line 231"/>
          <p:cNvCxnSpPr/>
          <p:nvPr/>
        </p:nvCxnSpPr>
        <p:spPr>
          <a:xfrm>
            <a:off x="6184900" y="4064000"/>
            <a:ext cx="0" cy="279400"/>
          </a:xfrm>
          <a:prstGeom prst="line">
            <a:avLst/>
          </a:prstGeom>
          <a:ln w="12700">
            <a:solidFill>
              <a:srgbClr val="6B7579"/>
            </a:solidFill>
            <a:prstDash val="dash"/>
            <a:tailEnd type="arrow" w="med" len="med"/>
          </a:ln>
        </p:spPr>
      </p:cxnSp>
      <p:sp>
        <p:nvSpPr>
          <p:cNvPr id="232" name="Shape 232"/>
          <p:cNvSpPr txBox="1"/>
          <p:nvPr/>
        </p:nvSpPr>
        <p:spPr>
          <a:xfrm>
            <a:off x="6235700" y="4127500"/>
            <a:ext cx="508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«use»</a:t>
            </a:r>
            <a:endParaRPr lang="en-US" sz="900" dirty="0"/>
          </a:p>
        </p:txBody>
      </p:sp>
      <p:sp>
        <p:nvSpPr>
          <p:cNvPr id="233" name="Shape 233"/>
          <p:cNvSpPr/>
          <p:nvPr/>
        </p:nvSpPr>
        <p:spPr>
          <a:xfrm>
            <a:off x="5232400" y="5473700"/>
            <a:ext cx="1905000" cy="381000"/>
          </a:xfrm>
          <a:prstGeom prst="rect">
            <a:avLst/>
          </a:prstGeom>
          <a:solidFill>
            <a:srgbClr val="7A5BA6"/>
          </a:solidFill>
          <a:ln w="9525">
            <a:solidFill>
              <a:srgbClr val="7A5BA6"/>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«service»</a:t>
            </a:r>
            <a:endParaRPr lang="en-US" sz="800" dirty="0"/>
          </a:p>
          <a:p>
            <a:pPr marL="0" indent="0" algn="ctr">
              <a:lnSpc>
                <a:spcPct val="90000"/>
              </a:lnSpc>
              <a:spcBef>
                <a:spcPts val="0"/>
              </a:spcBef>
              <a:buNone/>
            </a:pPr>
            <a:r>
              <a:rPr lang="en-US" sz="1050" b="1" dirty="0">
                <a:solidFill>
                  <a:srgbClr val="FFFFFF"/>
                </a:solidFill>
              </a:rPr>
              <a:t>OpenAIClient</a:t>
            </a:r>
            <a:endParaRPr lang="en-US" sz="1050" dirty="0"/>
          </a:p>
        </p:txBody>
      </p:sp>
      <p:sp>
        <p:nvSpPr>
          <p:cNvPr id="234" name="Shape 234"/>
          <p:cNvSpPr/>
          <p:nvPr/>
        </p:nvSpPr>
        <p:spPr>
          <a:xfrm>
            <a:off x="5232400" y="5854700"/>
            <a:ext cx="1905000" cy="23495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model: str</a:t>
            </a:r>
            <a:endParaRPr lang="en-US" sz="950" dirty="0"/>
          </a:p>
        </p:txBody>
      </p:sp>
      <p:sp>
        <p:nvSpPr>
          <p:cNvPr id="235" name="Shape 235"/>
          <p:cNvSpPr/>
          <p:nvPr/>
        </p:nvSpPr>
        <p:spPr>
          <a:xfrm>
            <a:off x="5232400" y="6089650"/>
            <a:ext cx="1905000" cy="23495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complete(prompt): str</a:t>
            </a:r>
            <a:endParaRPr lang="en-US" sz="950" dirty="0"/>
          </a:p>
        </p:txBody>
      </p:sp>
      <p:cxnSp>
        <p:nvCxnSpPr>
          <p:cNvPr id="236" name="Line 236"/>
          <p:cNvCxnSpPr/>
          <p:nvPr/>
        </p:nvCxnSpPr>
        <p:spPr>
          <a:xfrm flipV="1">
            <a:off x="6184900" y="5194300"/>
            <a:ext cx="0" cy="279400"/>
          </a:xfrm>
          <a:prstGeom prst="line">
            <a:avLst/>
          </a:prstGeom>
          <a:ln w="12700">
            <a:solidFill>
              <a:srgbClr val="6B7579"/>
            </a:solidFill>
            <a:prstDash val="dash"/>
            <a:tailEnd type="triangle" w="med" len="med"/>
          </a:ln>
        </p:spPr>
      </p:cxnSp>
      <p:sp>
        <p:nvSpPr>
          <p:cNvPr id="237" name="Shape 237"/>
          <p:cNvSpPr txBox="1"/>
          <p:nvPr/>
        </p:nvSpPr>
        <p:spPr>
          <a:xfrm>
            <a:off x="6235700" y="5257800"/>
            <a:ext cx="889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«implements»</a:t>
            </a:r>
            <a:endParaRPr lang="en-US" sz="900" dirty="0"/>
          </a:p>
        </p:txBody>
      </p:sp>
      <p:sp>
        <p:nvSpPr>
          <p:cNvPr id="238" name="Shape 238"/>
          <p:cNvSpPr/>
          <p:nvPr/>
        </p:nvSpPr>
        <p:spPr>
          <a:xfrm>
            <a:off x="457200" y="5473700"/>
            <a:ext cx="1905000" cy="381000"/>
          </a:xfrm>
          <a:prstGeom prst="rect">
            <a:avLst/>
          </a:prstGeom>
          <a:solidFill>
            <a:srgbClr val="7A5BA6"/>
          </a:solidFill>
          <a:ln w="9525">
            <a:solidFill>
              <a:srgbClr val="7A5BA6"/>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«service»</a:t>
            </a:r>
            <a:endParaRPr lang="en-US" sz="800" dirty="0"/>
          </a:p>
          <a:p>
            <a:pPr marL="0" indent="0" algn="ctr">
              <a:lnSpc>
                <a:spcPct val="90000"/>
              </a:lnSpc>
              <a:spcBef>
                <a:spcPts val="0"/>
              </a:spcBef>
              <a:buNone/>
            </a:pPr>
            <a:r>
              <a:rPr lang="en-US" sz="1050" b="1" dirty="0">
                <a:solidFill>
                  <a:srgbClr val="FFFFFF"/>
                </a:solidFill>
              </a:rPr>
              <a:t>PromptBuilder</a:t>
            </a:r>
            <a:endParaRPr lang="en-US" sz="1050" dirty="0"/>
          </a:p>
        </p:txBody>
      </p:sp>
      <p:sp>
        <p:nvSpPr>
          <p:cNvPr id="239" name="Shape 239"/>
          <p:cNvSpPr/>
          <p:nvPr/>
        </p:nvSpPr>
        <p:spPr>
          <a:xfrm>
            <a:off x="457200" y="5854700"/>
            <a:ext cx="1905000" cy="23495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template_version: str</a:t>
            </a:r>
            <a:endParaRPr lang="en-US" sz="950" dirty="0"/>
          </a:p>
        </p:txBody>
      </p:sp>
      <p:sp>
        <p:nvSpPr>
          <p:cNvPr id="240" name="Shape 240"/>
          <p:cNvSpPr/>
          <p:nvPr/>
        </p:nvSpPr>
        <p:spPr>
          <a:xfrm>
            <a:off x="457200" y="6089650"/>
            <a:ext cx="1905000" cy="23495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build(metrics): str</a:t>
            </a:r>
            <a:endParaRPr lang="en-US" sz="950" dirty="0"/>
          </a:p>
        </p:txBody>
      </p:sp>
      <p:sp>
        <p:nvSpPr>
          <p:cNvPr id="241" name="Shape 241"/>
          <p:cNvSpPr/>
          <p:nvPr/>
        </p:nvSpPr>
        <p:spPr>
          <a:xfrm>
            <a:off x="2616200" y="5473700"/>
            <a:ext cx="2159000" cy="381000"/>
          </a:xfrm>
          <a:prstGeom prst="rect">
            <a:avLst/>
          </a:prstGeom>
          <a:solidFill>
            <a:srgbClr val="7A5BA6"/>
          </a:solidFill>
          <a:ln w="9525">
            <a:solidFill>
              <a:srgbClr val="7A5BA6"/>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«service»</a:t>
            </a:r>
            <a:endParaRPr lang="en-US" sz="800" dirty="0"/>
          </a:p>
          <a:p>
            <a:pPr marL="0" indent="0" algn="ctr">
              <a:lnSpc>
                <a:spcPct val="90000"/>
              </a:lnSpc>
              <a:spcBef>
                <a:spcPts val="0"/>
              </a:spcBef>
              <a:buNone/>
            </a:pPr>
            <a:r>
              <a:rPr lang="en-US" sz="1050" b="1" dirty="0">
                <a:solidFill>
                  <a:srgbClr val="FFFFFF"/>
                </a:solidFill>
              </a:rPr>
              <a:t>FallbackRuleEngine</a:t>
            </a:r>
            <a:endParaRPr lang="en-US" sz="1050" dirty="0"/>
          </a:p>
        </p:txBody>
      </p:sp>
      <p:sp>
        <p:nvSpPr>
          <p:cNvPr id="242" name="Shape 242"/>
          <p:cNvSpPr/>
          <p:nvPr/>
        </p:nvSpPr>
        <p:spPr>
          <a:xfrm>
            <a:off x="2616200" y="5854700"/>
            <a:ext cx="2159000" cy="23495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rules: list[Rule]</a:t>
            </a:r>
            <a:endParaRPr lang="en-US" sz="950" dirty="0"/>
          </a:p>
        </p:txBody>
      </p:sp>
      <p:sp>
        <p:nvSpPr>
          <p:cNvPr id="243" name="Shape 243"/>
          <p:cNvSpPr/>
          <p:nvPr/>
        </p:nvSpPr>
        <p:spPr>
          <a:xfrm>
            <a:off x="2616200" y="6089650"/>
            <a:ext cx="2159000" cy="234950"/>
          </a:xfrm>
          <a:prstGeom prst="rect">
            <a:avLst/>
          </a:prstGeom>
          <a:solidFill>
            <a:srgbClr val="FFFFFF"/>
          </a:solidFill>
          <a:ln w="9525">
            <a:solidFill>
              <a:srgbClr val="7A5BA6"/>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tips(analysis): list</a:t>
            </a:r>
            <a:endParaRPr lang="en-US" sz="950" dirty="0"/>
          </a:p>
        </p:txBody>
      </p:sp>
      <p:cxnSp>
        <p:nvCxnSpPr>
          <p:cNvPr id="244" name="Line 244"/>
          <p:cNvCxnSpPr/>
          <p:nvPr/>
        </p:nvCxnSpPr>
        <p:spPr>
          <a:xfrm flipH="1">
            <a:off x="5054600" y="3962400"/>
            <a:ext cx="177800" cy="0"/>
          </a:xfrm>
          <a:prstGeom prst="line">
            <a:avLst/>
          </a:prstGeom>
          <a:ln w="12700">
            <a:solidFill>
              <a:srgbClr val="6B7579"/>
            </a:solidFill>
            <a:prstDash val="dash"/>
          </a:ln>
        </p:spPr>
      </p:cxnSp>
      <p:cxnSp>
        <p:nvCxnSpPr>
          <p:cNvPr id="245" name="Line 245"/>
          <p:cNvCxnSpPr/>
          <p:nvPr/>
        </p:nvCxnSpPr>
        <p:spPr>
          <a:xfrm>
            <a:off x="5054600" y="3962400"/>
            <a:ext cx="0" cy="1358900"/>
          </a:xfrm>
          <a:prstGeom prst="line">
            <a:avLst/>
          </a:prstGeom>
          <a:ln w="12700">
            <a:solidFill>
              <a:srgbClr val="6B7579"/>
            </a:solidFill>
            <a:prstDash val="dash"/>
          </a:ln>
        </p:spPr>
      </p:cxnSp>
      <p:cxnSp>
        <p:nvCxnSpPr>
          <p:cNvPr id="246" name="Line 246"/>
          <p:cNvCxnSpPr/>
          <p:nvPr/>
        </p:nvCxnSpPr>
        <p:spPr>
          <a:xfrm flipH="1">
            <a:off x="1409700" y="5321300"/>
            <a:ext cx="3644900" cy="0"/>
          </a:xfrm>
          <a:prstGeom prst="line">
            <a:avLst/>
          </a:prstGeom>
          <a:ln w="12700">
            <a:solidFill>
              <a:srgbClr val="6B7579"/>
            </a:solidFill>
            <a:prstDash val="dash"/>
          </a:ln>
        </p:spPr>
      </p:cxnSp>
      <p:cxnSp>
        <p:nvCxnSpPr>
          <p:cNvPr id="247" name="Line 247"/>
          <p:cNvCxnSpPr/>
          <p:nvPr/>
        </p:nvCxnSpPr>
        <p:spPr>
          <a:xfrm>
            <a:off x="1409700" y="5321300"/>
            <a:ext cx="0" cy="152400"/>
          </a:xfrm>
          <a:prstGeom prst="line">
            <a:avLst/>
          </a:prstGeom>
          <a:ln w="12700">
            <a:solidFill>
              <a:srgbClr val="6B7579"/>
            </a:solidFill>
            <a:prstDash val="dash"/>
            <a:tailEnd type="arrow" w="med" len="med"/>
          </a:ln>
        </p:spPr>
      </p:cxnSp>
      <p:cxnSp>
        <p:nvCxnSpPr>
          <p:cNvPr id="248" name="Line 248"/>
          <p:cNvCxnSpPr/>
          <p:nvPr/>
        </p:nvCxnSpPr>
        <p:spPr>
          <a:xfrm>
            <a:off x="3695700" y="5321300"/>
            <a:ext cx="0" cy="152400"/>
          </a:xfrm>
          <a:prstGeom prst="line">
            <a:avLst/>
          </a:prstGeom>
          <a:ln w="12700">
            <a:solidFill>
              <a:srgbClr val="6B7579"/>
            </a:solidFill>
            <a:prstDash val="dash"/>
            <a:tailEnd type="arrow" w="med" len="med"/>
          </a:ln>
        </p:spPr>
      </p:cxnSp>
      <p:sp>
        <p:nvSpPr>
          <p:cNvPr id="249" name="Shape 249"/>
          <p:cNvSpPr txBox="1"/>
          <p:nvPr/>
        </p:nvSpPr>
        <p:spPr>
          <a:xfrm>
            <a:off x="4711700" y="5130800"/>
            <a:ext cx="3429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«use»</a:t>
            </a:r>
            <a:endParaRPr lang="en-US" sz="900" dirty="0"/>
          </a:p>
        </p:txBody>
      </p:sp>
      <p:sp>
        <p:nvSpPr>
          <p:cNvPr id="250" name="Shape 250"/>
          <p:cNvSpPr txBox="1"/>
          <p:nvPr/>
        </p:nvSpPr>
        <p:spPr>
          <a:xfrm>
            <a:off x="457200" y="6451600"/>
            <a:ext cx="6654800" cy="1778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 composition    → navigable association    - - &gt; dependency    name-only box = class owned by another subsystem</a:t>
            </a:r>
            <a:endParaRPr lang="en-US" sz="900" dirty="0"/>
          </a:p>
        </p:txBody>
      </p:sp>
      <p:sp>
        <p:nvSpPr>
          <p:cNvPr id="251" name="Shape 251"/>
          <p:cNvSpPr txBox="1"/>
          <p:nvPr/>
        </p:nvSpPr>
        <p:spPr>
          <a:xfrm>
            <a:off x="7416800" y="1244600"/>
            <a:ext cx="4318000" cy="228600"/>
          </a:xfrm>
          <a:prstGeom prst="rect">
            <a:avLst/>
          </a:prstGeom>
          <a:noFill/>
          <a:ln>
            <a:noFill/>
          </a:ln>
        </p:spPr>
        <p:txBody>
          <a:bodyPr wrap="square" lIns="0" tIns="0" rIns="0" bIns="0" rtlCol="0" anchor="t">
            <a:noAutofit/>
          </a:bodyPr>
          <a:lstStyle/>
          <a:p>
            <a:pPr marL="0" indent="0" algn="l">
              <a:spcBef>
                <a:spcPts val="0"/>
              </a:spcBef>
              <a:buNone/>
            </a:pPr>
            <a:r>
              <a:rPr lang="en-US" sz="1300" b="1" dirty="0">
                <a:solidFill>
                  <a:srgbClr val="7A5BA6"/>
                </a:solidFill>
                <a:latin typeface="+mj-lt"/>
              </a:rPr>
              <a:t>Requirements</a:t>
            </a:r>
            <a:endParaRPr lang="en-US" sz="1300" dirty="0"/>
          </a:p>
        </p:txBody>
      </p:sp>
      <p:sp>
        <p:nvSpPr>
          <p:cNvPr id="252" name="Shape 252"/>
          <p:cNvSpPr txBox="1"/>
          <p:nvPr/>
        </p:nvSpPr>
        <p:spPr>
          <a:xfrm>
            <a:off x="7416800" y="1485900"/>
            <a:ext cx="4318000" cy="254000"/>
          </a:xfrm>
          <a:prstGeom prst="rect">
            <a:avLst/>
          </a:prstGeom>
          <a:noFill/>
          <a:ln>
            <a:noFill/>
          </a:ln>
        </p:spPr>
        <p:txBody>
          <a:bodyPr wrap="square" lIns="0" tIns="0" rIns="0" bIns="0" rtlCol="0" anchor="t">
            <a:noAutofit/>
          </a:bodyPr>
          <a:lstStyle/>
          <a:p>
            <a:pPr marL="0" indent="0" algn="l">
              <a:spcBef>
                <a:spcPts val="0"/>
              </a:spcBef>
              <a:buNone/>
            </a:pPr>
            <a:r>
              <a:rPr lang="en-US" sz="1200" dirty="0">
                <a:solidFill>
                  <a:srgbClr val="6B7579"/>
                </a:solidFill>
              </a:rPr>
              <a:t>10 functional / 10 non-functional, Appendix A3</a:t>
            </a:r>
            <a:endParaRPr lang="en-US" sz="1200" dirty="0"/>
          </a:p>
        </p:txBody>
      </p:sp>
      <p:sp>
        <p:nvSpPr>
          <p:cNvPr id="253" name="Shape 253"/>
          <p:cNvSpPr txBox="1"/>
          <p:nvPr/>
        </p:nvSpPr>
        <p:spPr>
          <a:xfrm>
            <a:off x="7416800" y="1778000"/>
            <a:ext cx="4318000" cy="1016000"/>
          </a:xfrm>
          <a:prstGeom prst="rect">
            <a:avLst/>
          </a:prstGeom>
          <a:noFill/>
          <a:ln>
            <a:noFill/>
          </a:ln>
        </p:spPr>
        <p:txBody>
          <a:bodyPr wrap="square" lIns="0" tIns="0" rIns="0" bIns="0" rtlCol="0" anchor="t">
            <a:noAutofit/>
          </a:bodyPr>
          <a:lstStyle/>
          <a:p>
            <a:pPr marL="0" indent="0" algn="l">
              <a:lnSpc>
                <a:spcPct val="95000"/>
              </a:lnSpc>
              <a:spcBef>
                <a:spcPts val="0"/>
              </a:spcBef>
              <a:buNone/>
            </a:pPr>
            <a:r>
              <a:rPr lang="en-US" sz="1300" b="1" dirty="0">
                <a:solidFill>
                  <a:srgbClr val="7A5BA6"/>
                </a:solidFill>
              </a:rPr>
              <a:t>FR1* </a:t>
            </a:r>
            <a:r>
              <a:rPr lang="en-US" sz="1300" dirty="0">
                <a:solidFill>
                  <a:srgbClr val="1F2A2E"/>
                </a:solidFill>
              </a:rPr>
              <a:t>Generate 3–5 recommendations per analysis.</a:t>
            </a:r>
            <a:endParaRPr lang="en-US" sz="1300" dirty="0"/>
          </a:p>
          <a:p>
            <a:pPr marL="0" indent="0" algn="l">
              <a:lnSpc>
                <a:spcPct val="95000"/>
              </a:lnSpc>
              <a:spcBef>
                <a:spcPts val="500"/>
              </a:spcBef>
              <a:buNone/>
            </a:pPr>
            <a:r>
              <a:rPr lang="en-US" sz="1300" b="1" dirty="0">
                <a:solidFill>
                  <a:srgbClr val="7A5BA6"/>
                </a:solidFill>
              </a:rPr>
              <a:t>NFR1* </a:t>
            </a:r>
            <a:r>
              <a:rPr lang="en-US" sz="1300" dirty="0">
                <a:solidFill>
                  <a:srgbClr val="1F2A2E"/>
                </a:solidFill>
              </a:rPr>
              <a:t>15 s timeout, then fall back to rule-based tips.</a:t>
            </a:r>
            <a:endParaRPr lang="en-US" sz="1300" dirty="0"/>
          </a:p>
        </p:txBody>
      </p:sp>
      <p:sp>
        <p:nvSpPr>
          <p:cNvPr id="254" name="Shape 254"/>
          <p:cNvSpPr/>
          <p:nvPr/>
        </p:nvSpPr>
        <p:spPr>
          <a:xfrm>
            <a:off x="7416800" y="2895600"/>
            <a:ext cx="4318000" cy="2184400"/>
          </a:xfrm>
          <a:prstGeom prst="rect">
            <a:avLst/>
          </a:prstGeom>
          <a:solidFill>
            <a:srgbClr val="FFFFFF"/>
          </a:solidFill>
          <a:ln w="9525">
            <a:solidFill>
              <a:srgbClr val="E0E3E0"/>
            </a:solidFill>
          </a:ln>
        </p:spPr>
        <p:txBody>
          <a:bodyPr wrap="square" lIns="50800" tIns="50800" rIns="50800" bIns="50800" rtlCol="0" anchor="t">
            <a:noAutofit/>
          </a:bodyPr>
          <a:lstStyle/>
          <a:p>
            <a:endParaRPr lang="en-US" dirty="0"/>
          </a:p>
        </p:txBody>
      </p:sp>
      <p:sp>
        <p:nvSpPr>
          <p:cNvPr id="255" name="Shape 255"/>
          <p:cNvSpPr/>
          <p:nvPr/>
        </p:nvSpPr>
        <p:spPr>
          <a:xfrm>
            <a:off x="7416800" y="2895600"/>
            <a:ext cx="50800" cy="2184400"/>
          </a:xfrm>
          <a:prstGeom prst="rect">
            <a:avLst/>
          </a:prstGeom>
          <a:solidFill>
            <a:srgbClr val="7A5BA6"/>
          </a:solidFill>
          <a:ln>
            <a:noFill/>
          </a:ln>
        </p:spPr>
        <p:txBody>
          <a:bodyPr wrap="square" lIns="50800" tIns="50800" rIns="50800" bIns="50800" rtlCol="0" anchor="t">
            <a:noAutofit/>
          </a:bodyPr>
          <a:lstStyle/>
          <a:p>
            <a:endParaRPr lang="en-US" dirty="0"/>
          </a:p>
        </p:txBody>
      </p:sp>
      <p:sp>
        <p:nvSpPr>
          <p:cNvPr id="256" name="Shape 256"/>
          <p:cNvSpPr txBox="1"/>
          <p:nvPr/>
        </p:nvSpPr>
        <p:spPr>
          <a:xfrm>
            <a:off x="7594600" y="2997200"/>
            <a:ext cx="4013200" cy="2032000"/>
          </a:xfrm>
          <a:prstGeom prst="rect">
            <a:avLst/>
          </a:prstGeom>
          <a:noFill/>
          <a:ln>
            <a:noFill/>
          </a:ln>
        </p:spPr>
        <p:txBody>
          <a:bodyPr wrap="square" lIns="0" tIns="0" rIns="0" bIns="0" rtlCol="0" anchor="t">
            <a:noAutofit/>
          </a:bodyPr>
          <a:lstStyle/>
          <a:p>
            <a:pPr marL="0" indent="0" algn="l">
              <a:spcBef>
                <a:spcPts val="0"/>
              </a:spcBef>
              <a:spcAft>
                <a:spcPts val="200"/>
              </a:spcAft>
              <a:buNone/>
            </a:pPr>
            <a:r>
              <a:rPr lang="en-US" sz="1300" b="1" dirty="0">
                <a:solidFill>
                  <a:srgbClr val="7A5BA6"/>
                </a:solidFill>
                <a:latin typeface="+mj-lt"/>
              </a:rPr>
              <a:t>Data</a:t>
            </a:r>
            <a:endParaRPr lang="en-US" sz="1300" dirty="0"/>
          </a:p>
          <a:p>
            <a:pPr marL="0" indent="0" algn="l">
              <a:lnSpc>
                <a:spcPct val="95000"/>
              </a:lnSpc>
              <a:spcBef>
                <a:spcPts val="200"/>
              </a:spcBef>
              <a:buNone/>
            </a:pPr>
            <a:r>
              <a:rPr lang="en-US" sz="1100" b="1" dirty="0">
                <a:solidFill>
                  <a:srgbClr val="1F2A2E"/>
                </a:solidFill>
              </a:rPr>
              <a:t>Receives: </a:t>
            </a:r>
            <a:r>
              <a:rPr lang="en-US" sz="1100" dirty="0">
                <a:solidFill>
                  <a:srgbClr val="1F2A2E"/>
                </a:solidFill>
              </a:rPr>
              <a:t>AnalysisResult from S2</a:t>
            </a:r>
            <a:endParaRPr lang="en-US" sz="1100" dirty="0"/>
          </a:p>
          <a:p>
            <a:pPr marL="0" indent="0" algn="l">
              <a:lnSpc>
                <a:spcPct val="95000"/>
              </a:lnSpc>
              <a:spcBef>
                <a:spcPts val="200"/>
              </a:spcBef>
              <a:buNone/>
            </a:pPr>
            <a:r>
              <a:rPr lang="en-US" sz="1100" b="1" dirty="0">
                <a:solidFill>
                  <a:srgbClr val="1F2A2E"/>
                </a:solidFill>
              </a:rPr>
              <a:t>Creates: </a:t>
            </a:r>
            <a:r>
              <a:rPr lang="en-US" sz="1100" dirty="0">
                <a:solidFill>
                  <a:srgbClr val="1F2A2E"/>
                </a:solidFill>
              </a:rPr>
              <a:t>AIRecommendation, LLMRequestLog, RecommendationFeedback</a:t>
            </a:r>
            <a:endParaRPr lang="en-US" sz="1100" dirty="0"/>
          </a:p>
          <a:p>
            <a:pPr marL="0" indent="0" algn="l">
              <a:lnSpc>
                <a:spcPct val="95000"/>
              </a:lnSpc>
              <a:spcBef>
                <a:spcPts val="200"/>
              </a:spcBef>
              <a:buNone/>
            </a:pPr>
            <a:r>
              <a:rPr lang="en-US" sz="1100" b="1" dirty="0">
                <a:solidFill>
                  <a:srgbClr val="1F2A2E"/>
                </a:solidFill>
              </a:rPr>
              <a:t>Stored in: </a:t>
            </a:r>
            <a:r>
              <a:rPr lang="en-US" sz="1100" dirty="0">
                <a:solidFill>
                  <a:srgbClr val="1F2A2E"/>
                </a:solidFill>
              </a:rPr>
              <a:t>coach app tables in SQLite; only aggregated metrics are sent to OpenAI, never personal data</a:t>
            </a:r>
            <a:endParaRPr lang="en-US" sz="1100" dirty="0"/>
          </a:p>
          <a:p>
            <a:pPr marL="0" indent="0" algn="l">
              <a:spcBef>
                <a:spcPts val="300"/>
              </a:spcBef>
              <a:buNone/>
            </a:pPr>
            <a:r>
              <a:rPr lang="en-US" sz="1100" b="1" dirty="0">
                <a:solidFill>
                  <a:srgbClr val="1F2A2E"/>
                </a:solidFill>
              </a:rPr>
              <a:t>Endpoints:</a:t>
            </a:r>
            <a:endParaRPr lang="en-US" sz="1100" dirty="0"/>
          </a:p>
          <a:p>
            <a:pPr marL="0" indent="0" algn="l">
              <a:lnSpc>
                <a:spcPct val="95000"/>
              </a:lnSpc>
              <a:spcBef>
                <a:spcPts val="50"/>
              </a:spcBef>
              <a:buNone/>
            </a:pPr>
            <a:r>
              <a:rPr lang="en-US" sz="950" dirty="0">
                <a:solidFill>
                  <a:srgbClr val="1F2A2E"/>
                </a:solidFill>
                <a:latin typeface="Consolas"/>
              </a:rPr>
              <a:t>POST  /api/recommendations/generate/</a:t>
            </a:r>
            <a:endParaRPr lang="en-US" sz="950" dirty="0"/>
          </a:p>
          <a:p>
            <a:pPr marL="0" indent="0" algn="l">
              <a:lnSpc>
                <a:spcPct val="95000"/>
              </a:lnSpc>
              <a:spcBef>
                <a:spcPts val="50"/>
              </a:spcBef>
              <a:buNone/>
            </a:pPr>
            <a:r>
              <a:rPr lang="en-US" sz="950" dirty="0">
                <a:solidFill>
                  <a:srgbClr val="1F2A2E"/>
                </a:solidFill>
                <a:latin typeface="Consolas"/>
              </a:rPr>
              <a:t>GET   /api/buildings/{id}/recommendations/</a:t>
            </a:r>
            <a:endParaRPr lang="en-US" sz="950" dirty="0"/>
          </a:p>
          <a:p>
            <a:pPr marL="0" indent="0" algn="l">
              <a:lnSpc>
                <a:spcPct val="95000"/>
              </a:lnSpc>
              <a:spcBef>
                <a:spcPts val="50"/>
              </a:spcBef>
              <a:buNone/>
            </a:pPr>
            <a:r>
              <a:rPr lang="en-US" sz="950" dirty="0">
                <a:solidFill>
                  <a:srgbClr val="1F2A2E"/>
                </a:solidFill>
                <a:latin typeface="Consolas"/>
              </a:rPr>
              <a:t>PATCH /api/recommendations/{id}/</a:t>
            </a:r>
            <a:endParaRPr lang="en-US" sz="950" dirty="0"/>
          </a:p>
          <a:p>
            <a:pPr marL="0" indent="0" algn="l">
              <a:lnSpc>
                <a:spcPct val="95000"/>
              </a:lnSpc>
              <a:spcBef>
                <a:spcPts val="50"/>
              </a:spcBef>
              <a:buNone/>
            </a:pPr>
            <a:r>
              <a:rPr lang="en-US" sz="950" dirty="0">
                <a:solidFill>
                  <a:srgbClr val="1F2A2E"/>
                </a:solidFill>
                <a:latin typeface="Consolas"/>
              </a:rPr>
              <a:t>POST  /api/recommendations/{id}/feedback/</a:t>
            </a:r>
            <a:endParaRPr lang="en-US" sz="950" dirty="0"/>
          </a:p>
        </p:txBody>
      </p:sp>
      <p:sp>
        <p:nvSpPr>
          <p:cNvPr id="257" name="Shape 257"/>
          <p:cNvSpPr/>
          <p:nvPr/>
        </p:nvSpPr>
        <p:spPr>
          <a:xfrm>
            <a:off x="7416800" y="5232400"/>
            <a:ext cx="1778000" cy="1371600"/>
          </a:xfrm>
          <a:prstGeom prst="rect">
            <a:avLst/>
          </a:prstGeom>
          <a:solidFill>
            <a:srgbClr val="EDEFEC"/>
          </a:solidFill>
          <a:ln w="9525">
            <a:solidFill>
              <a:srgbClr val="A9B1B3"/>
            </a:solidFill>
          </a:ln>
        </p:spPr>
        <p:txBody>
          <a:bodyPr wrap="square" lIns="50800" tIns="50800" rIns="50800" bIns="50800" rtlCol="0" anchor="t">
            <a:noAutofit/>
          </a:bodyPr>
          <a:lstStyle/>
          <a:p>
            <a:endParaRPr lang="en-US" dirty="0"/>
          </a:p>
        </p:txBody>
      </p:sp>
      <p:sp>
        <p:nvSpPr>
          <p:cNvPr id="258" name="Shape 258"/>
          <p:cNvSpPr/>
          <p:nvPr/>
        </p:nvSpPr>
        <p:spPr>
          <a:xfrm>
            <a:off x="7493000" y="5308600"/>
            <a:ext cx="1625600" cy="101600"/>
          </a:xfrm>
          <a:prstGeom prst="rect">
            <a:avLst/>
          </a:prstGeom>
          <a:solidFill>
            <a:srgbClr val="EADFF2"/>
          </a:solidFill>
          <a:ln>
            <a:noFill/>
          </a:ln>
        </p:spPr>
        <p:txBody>
          <a:bodyPr wrap="square" lIns="50800" tIns="50800" rIns="50800" bIns="50800" rtlCol="0" anchor="t">
            <a:noAutofit/>
          </a:bodyPr>
          <a:lstStyle/>
          <a:p>
            <a:endParaRPr lang="en-US" dirty="0"/>
          </a:p>
        </p:txBody>
      </p:sp>
      <p:sp>
        <p:nvSpPr>
          <p:cNvPr id="259" name="Shape 259"/>
          <p:cNvSpPr/>
          <p:nvPr/>
        </p:nvSpPr>
        <p:spPr>
          <a:xfrm>
            <a:off x="7493000" y="5461000"/>
            <a:ext cx="1625600" cy="317500"/>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sp>
        <p:nvSpPr>
          <p:cNvPr id="260" name="Shape 260"/>
          <p:cNvSpPr/>
          <p:nvPr/>
        </p:nvSpPr>
        <p:spPr>
          <a:xfrm>
            <a:off x="7543800" y="5499100"/>
            <a:ext cx="812800" cy="508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61" name="Shape 261"/>
          <p:cNvSpPr/>
          <p:nvPr/>
        </p:nvSpPr>
        <p:spPr>
          <a:xfrm>
            <a:off x="8788400" y="5499100"/>
            <a:ext cx="279400" cy="63500"/>
          </a:xfrm>
          <a:prstGeom prst="rect">
            <a:avLst/>
          </a:prstGeom>
          <a:solidFill>
            <a:srgbClr val="7A5BA6"/>
          </a:solidFill>
          <a:ln>
            <a:noFill/>
          </a:ln>
        </p:spPr>
        <p:txBody>
          <a:bodyPr wrap="square" lIns="50800" tIns="50800" rIns="50800" bIns="50800" rtlCol="0" anchor="t">
            <a:noAutofit/>
          </a:bodyPr>
          <a:lstStyle/>
          <a:p>
            <a:endParaRPr lang="en-US" dirty="0"/>
          </a:p>
        </p:txBody>
      </p:sp>
      <p:sp>
        <p:nvSpPr>
          <p:cNvPr id="262" name="Shape 262"/>
          <p:cNvSpPr/>
          <p:nvPr/>
        </p:nvSpPr>
        <p:spPr>
          <a:xfrm>
            <a:off x="7543800" y="5689600"/>
            <a:ext cx="228600" cy="50800"/>
          </a:xfrm>
          <a:prstGeom prst="rect">
            <a:avLst/>
          </a:prstGeom>
          <a:solidFill>
            <a:srgbClr val="A9B1B3"/>
          </a:solidFill>
          <a:ln>
            <a:noFill/>
          </a:ln>
        </p:spPr>
        <p:txBody>
          <a:bodyPr wrap="square" lIns="50800" tIns="50800" rIns="50800" bIns="50800" rtlCol="0" anchor="t">
            <a:noAutofit/>
          </a:bodyPr>
          <a:lstStyle/>
          <a:p>
            <a:endParaRPr lang="en-US" dirty="0"/>
          </a:p>
        </p:txBody>
      </p:sp>
      <p:sp>
        <p:nvSpPr>
          <p:cNvPr id="263" name="Shape 263"/>
          <p:cNvSpPr/>
          <p:nvPr/>
        </p:nvSpPr>
        <p:spPr>
          <a:xfrm>
            <a:off x="7810500" y="5689600"/>
            <a:ext cx="228600" cy="50800"/>
          </a:xfrm>
          <a:prstGeom prst="rect">
            <a:avLst/>
          </a:prstGeom>
          <a:solidFill>
            <a:srgbClr val="A9B1B3"/>
          </a:solidFill>
          <a:ln>
            <a:noFill/>
          </a:ln>
        </p:spPr>
        <p:txBody>
          <a:bodyPr wrap="square" lIns="50800" tIns="50800" rIns="50800" bIns="50800" rtlCol="0" anchor="t">
            <a:noAutofit/>
          </a:bodyPr>
          <a:lstStyle/>
          <a:p>
            <a:endParaRPr lang="en-US" dirty="0"/>
          </a:p>
        </p:txBody>
      </p:sp>
      <p:sp>
        <p:nvSpPr>
          <p:cNvPr id="264" name="Shape 264"/>
          <p:cNvSpPr/>
          <p:nvPr/>
        </p:nvSpPr>
        <p:spPr>
          <a:xfrm>
            <a:off x="7493000" y="5816600"/>
            <a:ext cx="1625600" cy="317500"/>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sp>
        <p:nvSpPr>
          <p:cNvPr id="265" name="Shape 265"/>
          <p:cNvSpPr/>
          <p:nvPr/>
        </p:nvSpPr>
        <p:spPr>
          <a:xfrm>
            <a:off x="7543800" y="5854700"/>
            <a:ext cx="812800" cy="508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66" name="Shape 266"/>
          <p:cNvSpPr/>
          <p:nvPr/>
        </p:nvSpPr>
        <p:spPr>
          <a:xfrm>
            <a:off x="8788400" y="5854700"/>
            <a:ext cx="279400" cy="63500"/>
          </a:xfrm>
          <a:prstGeom prst="rect">
            <a:avLst/>
          </a:prstGeom>
          <a:solidFill>
            <a:srgbClr val="7A5BA6"/>
          </a:solidFill>
          <a:ln>
            <a:noFill/>
          </a:ln>
        </p:spPr>
        <p:txBody>
          <a:bodyPr wrap="square" lIns="50800" tIns="50800" rIns="50800" bIns="50800" rtlCol="0" anchor="t">
            <a:noAutofit/>
          </a:bodyPr>
          <a:lstStyle/>
          <a:p>
            <a:endParaRPr lang="en-US" dirty="0"/>
          </a:p>
        </p:txBody>
      </p:sp>
      <p:sp>
        <p:nvSpPr>
          <p:cNvPr id="267" name="Shape 267"/>
          <p:cNvSpPr/>
          <p:nvPr/>
        </p:nvSpPr>
        <p:spPr>
          <a:xfrm>
            <a:off x="7543800" y="6045200"/>
            <a:ext cx="228600" cy="50800"/>
          </a:xfrm>
          <a:prstGeom prst="rect">
            <a:avLst/>
          </a:prstGeom>
          <a:solidFill>
            <a:srgbClr val="A9B1B3"/>
          </a:solidFill>
          <a:ln>
            <a:noFill/>
          </a:ln>
        </p:spPr>
        <p:txBody>
          <a:bodyPr wrap="square" lIns="50800" tIns="50800" rIns="50800" bIns="50800" rtlCol="0" anchor="t">
            <a:noAutofit/>
          </a:bodyPr>
          <a:lstStyle/>
          <a:p>
            <a:endParaRPr lang="en-US" dirty="0"/>
          </a:p>
        </p:txBody>
      </p:sp>
      <p:sp>
        <p:nvSpPr>
          <p:cNvPr id="268" name="Shape 268"/>
          <p:cNvSpPr/>
          <p:nvPr/>
        </p:nvSpPr>
        <p:spPr>
          <a:xfrm>
            <a:off x="7810500" y="6045200"/>
            <a:ext cx="228600" cy="50800"/>
          </a:xfrm>
          <a:prstGeom prst="rect">
            <a:avLst/>
          </a:prstGeom>
          <a:solidFill>
            <a:srgbClr val="A9B1B3"/>
          </a:solidFill>
          <a:ln>
            <a:noFill/>
          </a:ln>
        </p:spPr>
        <p:txBody>
          <a:bodyPr wrap="square" lIns="50800" tIns="50800" rIns="50800" bIns="50800" rtlCol="0" anchor="t">
            <a:noAutofit/>
          </a:bodyPr>
          <a:lstStyle/>
          <a:p>
            <a:endParaRPr lang="en-US" dirty="0"/>
          </a:p>
        </p:txBody>
      </p:sp>
      <p:sp>
        <p:nvSpPr>
          <p:cNvPr id="269" name="Shape 269"/>
          <p:cNvSpPr/>
          <p:nvPr/>
        </p:nvSpPr>
        <p:spPr>
          <a:xfrm>
            <a:off x="7493000" y="6172200"/>
            <a:ext cx="1625600" cy="317500"/>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sp>
        <p:nvSpPr>
          <p:cNvPr id="270" name="Shape 270"/>
          <p:cNvSpPr/>
          <p:nvPr/>
        </p:nvSpPr>
        <p:spPr>
          <a:xfrm>
            <a:off x="7543800" y="6210300"/>
            <a:ext cx="812800" cy="508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71" name="Shape 271"/>
          <p:cNvSpPr/>
          <p:nvPr/>
        </p:nvSpPr>
        <p:spPr>
          <a:xfrm>
            <a:off x="8788400" y="6210300"/>
            <a:ext cx="279400" cy="63500"/>
          </a:xfrm>
          <a:prstGeom prst="rect">
            <a:avLst/>
          </a:prstGeom>
          <a:solidFill>
            <a:srgbClr val="7A5BA6"/>
          </a:solidFill>
          <a:ln>
            <a:noFill/>
          </a:ln>
        </p:spPr>
        <p:txBody>
          <a:bodyPr wrap="square" lIns="50800" tIns="50800" rIns="50800" bIns="50800" rtlCol="0" anchor="t">
            <a:noAutofit/>
          </a:bodyPr>
          <a:lstStyle/>
          <a:p>
            <a:endParaRPr lang="en-US" dirty="0"/>
          </a:p>
        </p:txBody>
      </p:sp>
      <p:sp>
        <p:nvSpPr>
          <p:cNvPr id="272" name="Shape 272"/>
          <p:cNvSpPr/>
          <p:nvPr/>
        </p:nvSpPr>
        <p:spPr>
          <a:xfrm>
            <a:off x="7543800" y="6400800"/>
            <a:ext cx="228600" cy="50800"/>
          </a:xfrm>
          <a:prstGeom prst="rect">
            <a:avLst/>
          </a:prstGeom>
          <a:solidFill>
            <a:srgbClr val="A9B1B3"/>
          </a:solidFill>
          <a:ln>
            <a:noFill/>
          </a:ln>
        </p:spPr>
        <p:txBody>
          <a:bodyPr wrap="square" lIns="50800" tIns="50800" rIns="50800" bIns="50800" rtlCol="0" anchor="t">
            <a:noAutofit/>
          </a:bodyPr>
          <a:lstStyle/>
          <a:p>
            <a:endParaRPr lang="en-US" dirty="0"/>
          </a:p>
        </p:txBody>
      </p:sp>
      <p:sp>
        <p:nvSpPr>
          <p:cNvPr id="273" name="Shape 273"/>
          <p:cNvSpPr/>
          <p:nvPr/>
        </p:nvSpPr>
        <p:spPr>
          <a:xfrm>
            <a:off x="7810500" y="6400800"/>
            <a:ext cx="228600" cy="50800"/>
          </a:xfrm>
          <a:prstGeom prst="rect">
            <a:avLst/>
          </a:prstGeom>
          <a:solidFill>
            <a:srgbClr val="A9B1B3"/>
          </a:solidFill>
          <a:ln>
            <a:noFill/>
          </a:ln>
        </p:spPr>
        <p:txBody>
          <a:bodyPr wrap="square" lIns="50800" tIns="50800" rIns="50800" bIns="50800" rtlCol="0" anchor="t">
            <a:noAutofit/>
          </a:bodyPr>
          <a:lstStyle/>
          <a:p>
            <a:endParaRPr lang="en-US" dirty="0"/>
          </a:p>
        </p:txBody>
      </p:sp>
      <p:sp>
        <p:nvSpPr>
          <p:cNvPr id="274" name="Shape 274"/>
          <p:cNvSpPr txBox="1"/>
          <p:nvPr/>
        </p:nvSpPr>
        <p:spPr>
          <a:xfrm>
            <a:off x="9347200" y="5283200"/>
            <a:ext cx="2387600" cy="12700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6B7579"/>
                </a:solidFill>
              </a:rPr>
              <a:t>Low-fidelity wireframe, not yet implemented</a:t>
            </a:r>
            <a:endParaRPr lang="en-US" sz="1100" dirty="0"/>
          </a:p>
          <a:p>
            <a:pPr marL="0" indent="0" algn="l">
              <a:spcBef>
                <a:spcPts val="400"/>
              </a:spcBef>
              <a:buNone/>
            </a:pPr>
            <a:r>
              <a:rPr lang="en-US" sz="1100" dirty="0">
                <a:solidFill>
                  <a:srgbClr val="6B7579"/>
                </a:solidFill>
              </a:rPr>
              <a:t>Recommendations screen. Full size in Appendix A7.</a:t>
            </a:r>
            <a:endParaRPr lang="en-US" sz="1100" dirty="0"/>
          </a:p>
        </p:txBody>
      </p:sp>
    </p:spTree>
    <p:extLst>
      <p:ext uri="{BB962C8B-B14F-4D97-AF65-F5344CB8AC3E}">
        <p14:creationId xmlns:p14="http://schemas.microsoft.com/office/powerpoint/2010/main" val="3806247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E9F43-1E43-5A80-7A3E-C489C53B4557}"/>
              </a:ext>
            </a:extLst>
          </p:cNvPr>
          <p:cNvSpPr>
            <a:spLocks noGrp="1"/>
          </p:cNvSpPr>
          <p:nvPr>
            <p:ph type="title"/>
          </p:nvPr>
        </p:nvSpPr>
        <p:spPr/>
        <p:txBody>
          <a:bodyPr/>
          <a:lstStyle/>
          <a:p>
            <a:pPr algn="l"/>
            <a:r>
              <a:rPr lang="en-US" sz="3200" b="1" dirty="0"/>
              <a:t>S4 shows live kW, kWh, CO2 and top tips on one dashboard</a:t>
            </a:r>
          </a:p>
        </p:txBody>
      </p:sp>
      <p:sp>
        <p:nvSpPr>
          <p:cNvPr id="200" name="Subsystem bar"/>
          <p:cNvSpPr/>
          <p:nvPr/>
        </p:nvSpPr>
        <p:spPr>
          <a:xfrm>
            <a:off x="457200" y="304800"/>
            <a:ext cx="711200" cy="63500"/>
          </a:xfrm>
          <a:prstGeom prst="rect">
            <a:avLst/>
          </a:prstGeom>
          <a:solidFill>
            <a:srgbClr val="C9822B"/>
          </a:solidFill>
          <a:ln>
            <a:noFill/>
          </a:ln>
        </p:spPr>
        <p:txBody>
          <a:bodyPr wrap="square" lIns="50800" tIns="50800" rIns="50800" bIns="50800" rtlCol="0" anchor="t">
            <a:noAutofit/>
          </a:bodyPr>
          <a:lstStyle/>
          <a:p>
            <a:endParaRPr lang="en-US" dirty="0"/>
          </a:p>
        </p:txBody>
      </p:sp>
      <p:sp>
        <p:nvSpPr>
          <p:cNvPr id="201" name="Shape 201"/>
          <p:cNvSpPr txBox="1"/>
          <p:nvPr/>
        </p:nvSpPr>
        <p:spPr>
          <a:xfrm>
            <a:off x="457200" y="1244600"/>
            <a:ext cx="6654800" cy="228600"/>
          </a:xfrm>
          <a:prstGeom prst="rect">
            <a:avLst/>
          </a:prstGeom>
          <a:noFill/>
          <a:ln>
            <a:noFill/>
          </a:ln>
        </p:spPr>
        <p:txBody>
          <a:bodyPr wrap="square" lIns="0" tIns="0" rIns="0" bIns="0" rtlCol="0" anchor="t">
            <a:noAutofit/>
          </a:bodyPr>
          <a:lstStyle/>
          <a:p>
            <a:pPr marL="0" indent="0" algn="l">
              <a:spcBef>
                <a:spcPts val="0"/>
              </a:spcBef>
              <a:buNone/>
            </a:pPr>
            <a:r>
              <a:rPr lang="en-US" sz="1300" b="1" dirty="0">
                <a:solidFill>
                  <a:srgbClr val="C9822B"/>
                </a:solidFill>
                <a:latin typeface="+mj-lt"/>
              </a:rPr>
              <a:t>Domain class diagram</a:t>
            </a:r>
            <a:r>
              <a:rPr lang="en-US" sz="1300" dirty="0">
                <a:solidFill>
                  <a:srgbClr val="6B7579"/>
                </a:solidFill>
              </a:rPr>
              <a:t>  ·  7 classes</a:t>
            </a:r>
            <a:endParaRPr lang="en-US" sz="1300" dirty="0"/>
          </a:p>
        </p:txBody>
      </p:sp>
      <p:sp>
        <p:nvSpPr>
          <p:cNvPr id="202" name="Shape 202"/>
          <p:cNvSpPr/>
          <p:nvPr/>
        </p:nvSpPr>
        <p:spPr>
          <a:xfrm>
            <a:off x="457200" y="1549400"/>
            <a:ext cx="2032000" cy="381000"/>
          </a:xfrm>
          <a:prstGeom prst="rect">
            <a:avLst/>
          </a:prstGeom>
          <a:solidFill>
            <a:srgbClr val="C9822B"/>
          </a:solidFill>
          <a:ln w="9525">
            <a:solidFill>
              <a:srgbClr val="C9822B"/>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«entity»</a:t>
            </a:r>
            <a:endParaRPr lang="en-US" sz="800" dirty="0"/>
          </a:p>
          <a:p>
            <a:pPr marL="0" indent="0" algn="ctr">
              <a:lnSpc>
                <a:spcPct val="90000"/>
              </a:lnSpc>
              <a:spcBef>
                <a:spcPts val="0"/>
              </a:spcBef>
              <a:buNone/>
            </a:pPr>
            <a:r>
              <a:rPr lang="en-US" sz="1050" b="1" dirty="0">
                <a:solidFill>
                  <a:srgbClr val="FFFFFF"/>
                </a:solidFill>
              </a:rPr>
              <a:t>User</a:t>
            </a:r>
            <a:endParaRPr lang="en-US" sz="1050" dirty="0"/>
          </a:p>
        </p:txBody>
      </p:sp>
      <p:sp>
        <p:nvSpPr>
          <p:cNvPr id="203" name="Shape 203"/>
          <p:cNvSpPr/>
          <p:nvPr/>
        </p:nvSpPr>
        <p:spPr>
          <a:xfrm>
            <a:off x="457200" y="1930400"/>
            <a:ext cx="2032000" cy="552450"/>
          </a:xfrm>
          <a:prstGeom prst="rect">
            <a:avLst/>
          </a:prstGeom>
          <a:solidFill>
            <a:srgbClr val="FFFFFF"/>
          </a:solidFill>
          <a:ln w="9525">
            <a:solidFill>
              <a:srgbClr val="C9822B"/>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email: str</a:t>
            </a:r>
            <a:endParaRPr lang="en-US" sz="950" dirty="0"/>
          </a:p>
          <a:p>
            <a:pPr marL="0" indent="0" algn="l">
              <a:lnSpc>
                <a:spcPct val="95000"/>
              </a:lnSpc>
              <a:spcBef>
                <a:spcPts val="0"/>
              </a:spcBef>
              <a:buNone/>
            </a:pPr>
            <a:r>
              <a:rPr lang="en-US" sz="950" dirty="0">
                <a:solidFill>
                  <a:srgbClr val="1F2A2E"/>
                </a:solidFill>
              </a:rPr>
              <a:t>password_hash: str</a:t>
            </a:r>
            <a:endParaRPr lang="en-US" sz="950" dirty="0"/>
          </a:p>
          <a:p>
            <a:pPr marL="0" indent="0" algn="l">
              <a:lnSpc>
                <a:spcPct val="95000"/>
              </a:lnSpc>
              <a:spcBef>
                <a:spcPts val="0"/>
              </a:spcBef>
              <a:buNone/>
            </a:pPr>
            <a:r>
              <a:rPr lang="en-US" sz="950" dirty="0">
                <a:solidFill>
                  <a:srgbClr val="1F2A2E"/>
                </a:solidFill>
              </a:rPr>
              <a:t>role: {OWNER, ADMIN}</a:t>
            </a:r>
            <a:endParaRPr lang="en-US" sz="950" dirty="0"/>
          </a:p>
        </p:txBody>
      </p:sp>
      <p:sp>
        <p:nvSpPr>
          <p:cNvPr id="204" name="Shape 204"/>
          <p:cNvSpPr/>
          <p:nvPr/>
        </p:nvSpPr>
        <p:spPr>
          <a:xfrm>
            <a:off x="457200" y="2482850"/>
            <a:ext cx="2032000" cy="234950"/>
          </a:xfrm>
          <a:prstGeom prst="rect">
            <a:avLst/>
          </a:prstGeom>
          <a:solidFill>
            <a:srgbClr val="FFFFFF"/>
          </a:solidFill>
          <a:ln w="9525">
            <a:solidFill>
              <a:srgbClr val="C9822B"/>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check_password(raw): bool</a:t>
            </a:r>
            <a:endParaRPr lang="en-US" sz="950" dirty="0"/>
          </a:p>
        </p:txBody>
      </p:sp>
      <p:sp>
        <p:nvSpPr>
          <p:cNvPr id="205" name="Shape 205"/>
          <p:cNvSpPr/>
          <p:nvPr/>
        </p:nvSpPr>
        <p:spPr>
          <a:xfrm>
            <a:off x="3048000" y="1549400"/>
            <a:ext cx="2184400" cy="381000"/>
          </a:xfrm>
          <a:prstGeom prst="rect">
            <a:avLst/>
          </a:prstGeom>
          <a:solidFill>
            <a:srgbClr val="C9822B"/>
          </a:solidFill>
          <a:ln w="9525">
            <a:solidFill>
              <a:srgbClr val="C9822B"/>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«entity»</a:t>
            </a:r>
            <a:endParaRPr lang="en-US" sz="800" dirty="0"/>
          </a:p>
          <a:p>
            <a:pPr marL="0" indent="0" algn="ctr">
              <a:lnSpc>
                <a:spcPct val="90000"/>
              </a:lnSpc>
              <a:spcBef>
                <a:spcPts val="0"/>
              </a:spcBef>
              <a:buNone/>
            </a:pPr>
            <a:r>
              <a:rPr lang="en-US" sz="1050" b="1" dirty="0">
                <a:solidFill>
                  <a:srgbClr val="FFFFFF"/>
                </a:solidFill>
              </a:rPr>
              <a:t>UserPreferences</a:t>
            </a:r>
            <a:endParaRPr lang="en-US" sz="1050" dirty="0"/>
          </a:p>
        </p:txBody>
      </p:sp>
      <p:sp>
        <p:nvSpPr>
          <p:cNvPr id="206" name="Shape 206"/>
          <p:cNvSpPr/>
          <p:nvPr/>
        </p:nvSpPr>
        <p:spPr>
          <a:xfrm>
            <a:off x="3048000" y="1930400"/>
            <a:ext cx="2184400" cy="711200"/>
          </a:xfrm>
          <a:prstGeom prst="rect">
            <a:avLst/>
          </a:prstGeom>
          <a:solidFill>
            <a:srgbClr val="FFFFFF"/>
          </a:solidFill>
          <a:ln w="9525">
            <a:solidFill>
              <a:srgbClr val="C9822B"/>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display_unit: str</a:t>
            </a:r>
            <a:endParaRPr lang="en-US" sz="950" dirty="0"/>
          </a:p>
          <a:p>
            <a:pPr marL="0" indent="0" algn="l">
              <a:lnSpc>
                <a:spcPct val="95000"/>
              </a:lnSpc>
              <a:spcBef>
                <a:spcPts val="0"/>
              </a:spcBef>
              <a:buNone/>
            </a:pPr>
            <a:r>
              <a:rPr lang="en-US" sz="950" dirty="0">
                <a:solidFill>
                  <a:srgbClr val="1F2A2E"/>
                </a:solidFill>
              </a:rPr>
              <a:t>theme: {LIGHT, DARK}</a:t>
            </a:r>
            <a:endParaRPr lang="en-US" sz="950" dirty="0"/>
          </a:p>
          <a:p>
            <a:pPr marL="0" indent="0" algn="l">
              <a:lnSpc>
                <a:spcPct val="95000"/>
              </a:lnSpc>
              <a:spcBef>
                <a:spcPts val="0"/>
              </a:spcBef>
              <a:buNone/>
            </a:pPr>
            <a:r>
              <a:rPr lang="en-US" sz="950" dirty="0">
                <a:solidFill>
                  <a:srgbClr val="1F2A2E"/>
                </a:solidFill>
              </a:rPr>
              <a:t>default_building_id: int</a:t>
            </a:r>
            <a:endParaRPr lang="en-US" sz="950" dirty="0"/>
          </a:p>
          <a:p>
            <a:pPr marL="0" indent="0" algn="l">
              <a:lnSpc>
                <a:spcPct val="95000"/>
              </a:lnSpc>
              <a:spcBef>
                <a:spcPts val="0"/>
              </a:spcBef>
              <a:buNone/>
            </a:pPr>
            <a:r>
              <a:rPr lang="en-US" sz="950" dirty="0">
                <a:solidFill>
                  <a:srgbClr val="1F2A2E"/>
                </a:solidFill>
              </a:rPr>
              <a:t>alert_threshold_kw: float</a:t>
            </a:r>
            <a:endParaRPr lang="en-US" sz="950" dirty="0"/>
          </a:p>
        </p:txBody>
      </p:sp>
      <p:sp>
        <p:nvSpPr>
          <p:cNvPr id="207" name="Shape 207"/>
          <p:cNvSpPr/>
          <p:nvPr/>
        </p:nvSpPr>
        <p:spPr>
          <a:xfrm>
            <a:off x="3048000" y="2641600"/>
            <a:ext cx="2184400" cy="234950"/>
          </a:xfrm>
          <a:prstGeom prst="rect">
            <a:avLst/>
          </a:prstGeom>
          <a:solidFill>
            <a:srgbClr val="FFFFFF"/>
          </a:solidFill>
          <a:ln w="9525">
            <a:solidFill>
              <a:srgbClr val="C9822B"/>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reset()</a:t>
            </a:r>
            <a:endParaRPr lang="en-US" sz="950" dirty="0"/>
          </a:p>
        </p:txBody>
      </p:sp>
      <p:cxnSp>
        <p:nvCxnSpPr>
          <p:cNvPr id="208" name="Line 208"/>
          <p:cNvCxnSpPr/>
          <p:nvPr/>
        </p:nvCxnSpPr>
        <p:spPr>
          <a:xfrm>
            <a:off x="2489200" y="2032000"/>
            <a:ext cx="558800" cy="0"/>
          </a:xfrm>
          <a:prstGeom prst="line">
            <a:avLst/>
          </a:prstGeom>
          <a:ln w="12700">
            <a:solidFill>
              <a:srgbClr val="6B7579"/>
            </a:solidFill>
            <a:headEnd type="diamond" w="med" len="med"/>
          </a:ln>
        </p:spPr>
      </p:cxnSp>
      <p:sp>
        <p:nvSpPr>
          <p:cNvPr id="209" name="Shape 209"/>
          <p:cNvSpPr txBox="1"/>
          <p:nvPr/>
        </p:nvSpPr>
        <p:spPr>
          <a:xfrm>
            <a:off x="2540000" y="1854200"/>
            <a:ext cx="254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1</a:t>
            </a:r>
            <a:endParaRPr lang="en-US" sz="900" dirty="0"/>
          </a:p>
        </p:txBody>
      </p:sp>
      <p:sp>
        <p:nvSpPr>
          <p:cNvPr id="210" name="Shape 210"/>
          <p:cNvSpPr txBox="1"/>
          <p:nvPr/>
        </p:nvSpPr>
        <p:spPr>
          <a:xfrm>
            <a:off x="2717800" y="2070100"/>
            <a:ext cx="279400" cy="152400"/>
          </a:xfrm>
          <a:prstGeom prst="rect">
            <a:avLst/>
          </a:prstGeom>
          <a:noFill/>
          <a:ln>
            <a:noFill/>
          </a:ln>
        </p:spPr>
        <p:txBody>
          <a:bodyPr wrap="square" lIns="0" tIns="0" rIns="0" bIns="0" rtlCol="0" anchor="t">
            <a:noAutofit/>
          </a:bodyPr>
          <a:lstStyle/>
          <a:p>
            <a:pPr marL="0" indent="0" algn="r">
              <a:spcBef>
                <a:spcPts val="0"/>
              </a:spcBef>
              <a:buNone/>
            </a:pPr>
            <a:r>
              <a:rPr lang="en-US" sz="900" dirty="0">
                <a:solidFill>
                  <a:srgbClr val="6B7579"/>
                </a:solidFill>
              </a:rPr>
              <a:t>1</a:t>
            </a:r>
            <a:endParaRPr lang="en-US" sz="900" dirty="0"/>
          </a:p>
        </p:txBody>
      </p:sp>
      <p:sp>
        <p:nvSpPr>
          <p:cNvPr id="211" name="Shape 211"/>
          <p:cNvSpPr/>
          <p:nvPr/>
        </p:nvSpPr>
        <p:spPr>
          <a:xfrm>
            <a:off x="457200" y="3098800"/>
            <a:ext cx="2032000" cy="381000"/>
          </a:xfrm>
          <a:prstGeom prst="rect">
            <a:avLst/>
          </a:prstGeom>
          <a:solidFill>
            <a:srgbClr val="C9822B"/>
          </a:solidFill>
          <a:ln w="9525">
            <a:solidFill>
              <a:srgbClr val="C9822B"/>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«entity»</a:t>
            </a:r>
            <a:endParaRPr lang="en-US" sz="800" dirty="0"/>
          </a:p>
          <a:p>
            <a:pPr marL="0" indent="0" algn="ctr">
              <a:lnSpc>
                <a:spcPct val="90000"/>
              </a:lnSpc>
              <a:spcBef>
                <a:spcPts val="0"/>
              </a:spcBef>
              <a:buNone/>
            </a:pPr>
            <a:r>
              <a:rPr lang="en-US" sz="1050" b="1" dirty="0">
                <a:solidFill>
                  <a:srgbClr val="FFFFFF"/>
                </a:solidFill>
              </a:rPr>
              <a:t>Notification</a:t>
            </a:r>
            <a:endParaRPr lang="en-US" sz="1050" dirty="0"/>
          </a:p>
        </p:txBody>
      </p:sp>
      <p:sp>
        <p:nvSpPr>
          <p:cNvPr id="212" name="Shape 212"/>
          <p:cNvSpPr/>
          <p:nvPr/>
        </p:nvSpPr>
        <p:spPr>
          <a:xfrm>
            <a:off x="457200" y="3479800"/>
            <a:ext cx="2032000" cy="552450"/>
          </a:xfrm>
          <a:prstGeom prst="rect">
            <a:avLst/>
          </a:prstGeom>
          <a:solidFill>
            <a:srgbClr val="FFFFFF"/>
          </a:solidFill>
          <a:ln w="9525">
            <a:solidFill>
              <a:srgbClr val="C9822B"/>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message: str</a:t>
            </a:r>
            <a:endParaRPr lang="en-US" sz="950" dirty="0"/>
          </a:p>
          <a:p>
            <a:pPr marL="0" indent="0" algn="l">
              <a:lnSpc>
                <a:spcPct val="95000"/>
              </a:lnSpc>
              <a:spcBef>
                <a:spcPts val="0"/>
              </a:spcBef>
              <a:buNone/>
            </a:pPr>
            <a:r>
              <a:rPr lang="en-US" sz="950" dirty="0">
                <a:solidFill>
                  <a:srgbClr val="1F2A2E"/>
                </a:solidFill>
              </a:rPr>
              <a:t>is_read: bool</a:t>
            </a:r>
            <a:endParaRPr lang="en-US" sz="950" dirty="0"/>
          </a:p>
          <a:p>
            <a:pPr marL="0" indent="0" algn="l">
              <a:lnSpc>
                <a:spcPct val="95000"/>
              </a:lnSpc>
              <a:spcBef>
                <a:spcPts val="0"/>
              </a:spcBef>
              <a:buNone/>
            </a:pPr>
            <a:r>
              <a:rPr lang="en-US" sz="950" dirty="0">
                <a:solidFill>
                  <a:srgbClr val="1F2A2E"/>
                </a:solidFill>
              </a:rPr>
              <a:t>created_at: datetime</a:t>
            </a:r>
            <a:endParaRPr lang="en-US" sz="950" dirty="0"/>
          </a:p>
        </p:txBody>
      </p:sp>
      <p:sp>
        <p:nvSpPr>
          <p:cNvPr id="213" name="Shape 213"/>
          <p:cNvSpPr/>
          <p:nvPr/>
        </p:nvSpPr>
        <p:spPr>
          <a:xfrm>
            <a:off x="457200" y="4032250"/>
            <a:ext cx="2032000" cy="234950"/>
          </a:xfrm>
          <a:prstGeom prst="rect">
            <a:avLst/>
          </a:prstGeom>
          <a:solidFill>
            <a:srgbClr val="FFFFFF"/>
          </a:solidFill>
          <a:ln w="9525">
            <a:solidFill>
              <a:srgbClr val="C9822B"/>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mark_read()</a:t>
            </a:r>
            <a:endParaRPr lang="en-US" sz="950" dirty="0"/>
          </a:p>
        </p:txBody>
      </p:sp>
      <p:cxnSp>
        <p:nvCxnSpPr>
          <p:cNvPr id="214" name="Line 214"/>
          <p:cNvCxnSpPr/>
          <p:nvPr/>
        </p:nvCxnSpPr>
        <p:spPr>
          <a:xfrm>
            <a:off x="1473200" y="2717800"/>
            <a:ext cx="0" cy="381000"/>
          </a:xfrm>
          <a:prstGeom prst="line">
            <a:avLst/>
          </a:prstGeom>
          <a:ln w="12700">
            <a:solidFill>
              <a:srgbClr val="6B7579"/>
            </a:solidFill>
            <a:tailEnd type="arrow" w="med" len="med"/>
          </a:ln>
        </p:spPr>
      </p:cxnSp>
      <p:sp>
        <p:nvSpPr>
          <p:cNvPr id="215" name="Shape 215"/>
          <p:cNvSpPr txBox="1"/>
          <p:nvPr/>
        </p:nvSpPr>
        <p:spPr>
          <a:xfrm>
            <a:off x="1524000" y="2730500"/>
            <a:ext cx="254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1</a:t>
            </a:r>
            <a:endParaRPr lang="en-US" sz="900" dirty="0"/>
          </a:p>
        </p:txBody>
      </p:sp>
      <p:sp>
        <p:nvSpPr>
          <p:cNvPr id="216" name="Shape 216"/>
          <p:cNvSpPr txBox="1"/>
          <p:nvPr/>
        </p:nvSpPr>
        <p:spPr>
          <a:xfrm>
            <a:off x="1524000" y="2933700"/>
            <a:ext cx="381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0..*</a:t>
            </a:r>
            <a:endParaRPr lang="en-US" sz="900" dirty="0"/>
          </a:p>
        </p:txBody>
      </p:sp>
      <p:sp>
        <p:nvSpPr>
          <p:cNvPr id="217" name="Shape 217"/>
          <p:cNvSpPr/>
          <p:nvPr/>
        </p:nvSpPr>
        <p:spPr>
          <a:xfrm>
            <a:off x="3175000" y="3479800"/>
            <a:ext cx="1524000" cy="304800"/>
          </a:xfrm>
          <a:prstGeom prst="rect">
            <a:avLst/>
          </a:prstGeom>
          <a:solidFill>
            <a:srgbClr val="0F7B6C"/>
          </a:solidFill>
          <a:ln w="9525">
            <a:solidFill>
              <a:srgbClr val="0F7B6C"/>
            </a:solidFill>
          </a:ln>
        </p:spPr>
        <p:txBody>
          <a:bodyPr wrap="square" lIns="38100" tIns="12700" rIns="38100" bIns="12700" rtlCol="0" anchor="ctr">
            <a:noAutofit/>
          </a:bodyPr>
          <a:lstStyle/>
          <a:p>
            <a:pPr marL="0" indent="0" algn="ctr">
              <a:spcBef>
                <a:spcPts val="0"/>
              </a:spcBef>
              <a:buNone/>
            </a:pPr>
            <a:r>
              <a:rPr lang="en-US" sz="1050" b="1" dirty="0">
                <a:solidFill>
                  <a:srgbClr val="FFFFFF"/>
                </a:solidFill>
              </a:rPr>
              <a:t>Anomaly (S2)</a:t>
            </a:r>
            <a:endParaRPr lang="en-US" sz="1050" dirty="0"/>
          </a:p>
        </p:txBody>
      </p:sp>
      <p:cxnSp>
        <p:nvCxnSpPr>
          <p:cNvPr id="218" name="Line 218"/>
          <p:cNvCxnSpPr/>
          <p:nvPr/>
        </p:nvCxnSpPr>
        <p:spPr>
          <a:xfrm>
            <a:off x="2489200" y="3632200"/>
            <a:ext cx="685800" cy="0"/>
          </a:xfrm>
          <a:prstGeom prst="line">
            <a:avLst/>
          </a:prstGeom>
          <a:ln w="12700">
            <a:solidFill>
              <a:srgbClr val="6B7579"/>
            </a:solidFill>
            <a:tailEnd type="arrow" w="med" len="med"/>
          </a:ln>
        </p:spPr>
      </p:cxnSp>
      <p:sp>
        <p:nvSpPr>
          <p:cNvPr id="219" name="Shape 219"/>
          <p:cNvSpPr txBox="1"/>
          <p:nvPr/>
        </p:nvSpPr>
        <p:spPr>
          <a:xfrm>
            <a:off x="2514600" y="3454400"/>
            <a:ext cx="381000" cy="1524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0..*</a:t>
            </a:r>
            <a:endParaRPr lang="en-US" sz="900" dirty="0"/>
          </a:p>
        </p:txBody>
      </p:sp>
      <p:sp>
        <p:nvSpPr>
          <p:cNvPr id="220" name="Shape 220"/>
          <p:cNvSpPr txBox="1"/>
          <p:nvPr/>
        </p:nvSpPr>
        <p:spPr>
          <a:xfrm>
            <a:off x="2819400" y="3670300"/>
            <a:ext cx="330200" cy="152400"/>
          </a:xfrm>
          <a:prstGeom prst="rect">
            <a:avLst/>
          </a:prstGeom>
          <a:noFill/>
          <a:ln>
            <a:noFill/>
          </a:ln>
        </p:spPr>
        <p:txBody>
          <a:bodyPr wrap="square" lIns="0" tIns="0" rIns="0" bIns="0" rtlCol="0" anchor="t">
            <a:noAutofit/>
          </a:bodyPr>
          <a:lstStyle/>
          <a:p>
            <a:pPr marL="0" indent="0" algn="r">
              <a:spcBef>
                <a:spcPts val="0"/>
              </a:spcBef>
              <a:buNone/>
            </a:pPr>
            <a:r>
              <a:rPr lang="en-US" sz="900" dirty="0">
                <a:solidFill>
                  <a:srgbClr val="6B7579"/>
                </a:solidFill>
              </a:rPr>
              <a:t>0..1</a:t>
            </a:r>
            <a:endParaRPr lang="en-US" sz="900" dirty="0"/>
          </a:p>
        </p:txBody>
      </p:sp>
      <p:cxnSp>
        <p:nvCxnSpPr>
          <p:cNvPr id="221" name="Line 221"/>
          <p:cNvCxnSpPr/>
          <p:nvPr/>
        </p:nvCxnSpPr>
        <p:spPr>
          <a:xfrm>
            <a:off x="457200" y="4394200"/>
            <a:ext cx="6680200" cy="0"/>
          </a:xfrm>
          <a:prstGeom prst="line">
            <a:avLst/>
          </a:prstGeom>
          <a:ln w="9525">
            <a:solidFill>
              <a:srgbClr val="A9B1B3"/>
            </a:solidFill>
            <a:prstDash val="dash"/>
          </a:ln>
        </p:spPr>
      </p:cxnSp>
      <p:sp>
        <p:nvSpPr>
          <p:cNvPr id="222" name="Shape 222"/>
          <p:cNvSpPr txBox="1"/>
          <p:nvPr/>
        </p:nvSpPr>
        <p:spPr>
          <a:xfrm>
            <a:off x="5461000" y="4203700"/>
            <a:ext cx="1676400" cy="152400"/>
          </a:xfrm>
          <a:prstGeom prst="rect">
            <a:avLst/>
          </a:prstGeom>
          <a:noFill/>
          <a:ln>
            <a:noFill/>
          </a:ln>
        </p:spPr>
        <p:txBody>
          <a:bodyPr wrap="square" lIns="0" tIns="0" rIns="0" bIns="0" rtlCol="0" anchor="t">
            <a:noAutofit/>
          </a:bodyPr>
          <a:lstStyle/>
          <a:p>
            <a:pPr marL="0" indent="0" algn="r">
              <a:spcBef>
                <a:spcPts val="0"/>
              </a:spcBef>
              <a:buNone/>
            </a:pPr>
            <a:r>
              <a:rPr lang="en-US" sz="950" dirty="0">
                <a:solidFill>
                  <a:srgbClr val="6B7579"/>
                </a:solidFill>
              </a:rPr>
              <a:t>Django accounts app</a:t>
            </a:r>
            <a:endParaRPr lang="en-US" sz="950" dirty="0"/>
          </a:p>
        </p:txBody>
      </p:sp>
      <p:sp>
        <p:nvSpPr>
          <p:cNvPr id="223" name="Shape 223"/>
          <p:cNvSpPr txBox="1"/>
          <p:nvPr/>
        </p:nvSpPr>
        <p:spPr>
          <a:xfrm>
            <a:off x="5461000" y="4432300"/>
            <a:ext cx="1676400" cy="152400"/>
          </a:xfrm>
          <a:prstGeom prst="rect">
            <a:avLst/>
          </a:prstGeom>
          <a:noFill/>
          <a:ln>
            <a:noFill/>
          </a:ln>
        </p:spPr>
        <p:txBody>
          <a:bodyPr wrap="square" lIns="0" tIns="0" rIns="0" bIns="0" rtlCol="0" anchor="t">
            <a:noAutofit/>
          </a:bodyPr>
          <a:lstStyle/>
          <a:p>
            <a:pPr marL="0" indent="0" algn="r">
              <a:spcBef>
                <a:spcPts val="0"/>
              </a:spcBef>
              <a:buNone/>
            </a:pPr>
            <a:r>
              <a:rPr lang="en-US" sz="950" dirty="0">
                <a:solidFill>
                  <a:srgbClr val="6B7579"/>
                </a:solidFill>
              </a:rPr>
              <a:t>React frontend</a:t>
            </a:r>
            <a:endParaRPr lang="en-US" sz="950" dirty="0"/>
          </a:p>
        </p:txBody>
      </p:sp>
      <p:sp>
        <p:nvSpPr>
          <p:cNvPr id="224" name="Shape 224"/>
          <p:cNvSpPr/>
          <p:nvPr/>
        </p:nvSpPr>
        <p:spPr>
          <a:xfrm>
            <a:off x="457200" y="4546600"/>
            <a:ext cx="2032000" cy="381000"/>
          </a:xfrm>
          <a:prstGeom prst="rect">
            <a:avLst/>
          </a:prstGeom>
          <a:solidFill>
            <a:srgbClr val="C9822B"/>
          </a:solidFill>
          <a:ln w="9525">
            <a:solidFill>
              <a:srgbClr val="C9822B"/>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«frontend»</a:t>
            </a:r>
            <a:endParaRPr lang="en-US" sz="800" dirty="0"/>
          </a:p>
          <a:p>
            <a:pPr marL="0" indent="0" algn="ctr">
              <a:lnSpc>
                <a:spcPct val="90000"/>
              </a:lnSpc>
              <a:spcBef>
                <a:spcPts val="0"/>
              </a:spcBef>
              <a:buNone/>
            </a:pPr>
            <a:r>
              <a:rPr lang="en-US" sz="1050" b="1" dirty="0">
                <a:solidFill>
                  <a:srgbClr val="FFFFFF"/>
                </a:solidFill>
              </a:rPr>
              <a:t>ConsumptionChart</a:t>
            </a:r>
            <a:endParaRPr lang="en-US" sz="1050" dirty="0"/>
          </a:p>
        </p:txBody>
      </p:sp>
      <p:sp>
        <p:nvSpPr>
          <p:cNvPr id="225" name="Shape 225"/>
          <p:cNvSpPr/>
          <p:nvPr/>
        </p:nvSpPr>
        <p:spPr>
          <a:xfrm>
            <a:off x="457200" y="4927600"/>
            <a:ext cx="2032000" cy="234950"/>
          </a:xfrm>
          <a:prstGeom prst="rect">
            <a:avLst/>
          </a:prstGeom>
          <a:solidFill>
            <a:srgbClr val="FFFFFF"/>
          </a:solidFill>
          <a:ln w="9525">
            <a:solidFill>
              <a:srgbClr val="C9822B"/>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refresh_s: int = 60</a:t>
            </a:r>
            <a:endParaRPr lang="en-US" sz="950" dirty="0"/>
          </a:p>
        </p:txBody>
      </p:sp>
      <p:sp>
        <p:nvSpPr>
          <p:cNvPr id="226" name="Shape 226"/>
          <p:cNvSpPr/>
          <p:nvPr/>
        </p:nvSpPr>
        <p:spPr>
          <a:xfrm>
            <a:off x="457200" y="5162550"/>
            <a:ext cx="2032000" cy="234950"/>
          </a:xfrm>
          <a:prstGeom prst="rect">
            <a:avLst/>
          </a:prstGeom>
          <a:solidFill>
            <a:srgbClr val="FFFFFF"/>
          </a:solidFill>
          <a:ln w="9525">
            <a:solidFill>
              <a:srgbClr val="C9822B"/>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render(series)</a:t>
            </a:r>
            <a:endParaRPr lang="en-US" sz="950" dirty="0"/>
          </a:p>
        </p:txBody>
      </p:sp>
      <p:sp>
        <p:nvSpPr>
          <p:cNvPr id="227" name="Shape 227"/>
          <p:cNvSpPr/>
          <p:nvPr/>
        </p:nvSpPr>
        <p:spPr>
          <a:xfrm>
            <a:off x="457200" y="5524500"/>
            <a:ext cx="2032000" cy="381000"/>
          </a:xfrm>
          <a:prstGeom prst="rect">
            <a:avLst/>
          </a:prstGeom>
          <a:solidFill>
            <a:srgbClr val="C9822B"/>
          </a:solidFill>
          <a:ln w="9525">
            <a:solidFill>
              <a:srgbClr val="C9822B"/>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«frontend»</a:t>
            </a:r>
            <a:endParaRPr lang="en-US" sz="800" dirty="0"/>
          </a:p>
          <a:p>
            <a:pPr marL="0" indent="0" algn="ctr">
              <a:lnSpc>
                <a:spcPct val="90000"/>
              </a:lnSpc>
              <a:spcBef>
                <a:spcPts val="0"/>
              </a:spcBef>
              <a:buNone/>
            </a:pPr>
            <a:r>
              <a:rPr lang="en-US" sz="1050" b="1" dirty="0">
                <a:solidFill>
                  <a:srgbClr val="FFFFFF"/>
                </a:solidFill>
              </a:rPr>
              <a:t>RecommendationPanel</a:t>
            </a:r>
            <a:endParaRPr lang="en-US" sz="1050" dirty="0"/>
          </a:p>
        </p:txBody>
      </p:sp>
      <p:sp>
        <p:nvSpPr>
          <p:cNvPr id="228" name="Shape 228"/>
          <p:cNvSpPr/>
          <p:nvPr/>
        </p:nvSpPr>
        <p:spPr>
          <a:xfrm>
            <a:off x="457200" y="5905500"/>
            <a:ext cx="2032000" cy="234950"/>
          </a:xfrm>
          <a:prstGeom prst="rect">
            <a:avLst/>
          </a:prstGeom>
          <a:solidFill>
            <a:srgbClr val="FFFFFF"/>
          </a:solidFill>
          <a:ln w="9525">
            <a:solidFill>
              <a:srgbClr val="C9822B"/>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items: list</a:t>
            </a:r>
            <a:endParaRPr lang="en-US" sz="950" dirty="0"/>
          </a:p>
        </p:txBody>
      </p:sp>
      <p:sp>
        <p:nvSpPr>
          <p:cNvPr id="229" name="Shape 229"/>
          <p:cNvSpPr/>
          <p:nvPr/>
        </p:nvSpPr>
        <p:spPr>
          <a:xfrm>
            <a:off x="457200" y="6140450"/>
            <a:ext cx="2032000" cy="234950"/>
          </a:xfrm>
          <a:prstGeom prst="rect">
            <a:avLst/>
          </a:prstGeom>
          <a:solidFill>
            <a:srgbClr val="FFFFFF"/>
          </a:solidFill>
          <a:ln w="9525">
            <a:solidFill>
              <a:srgbClr val="C9822B"/>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onAccept(id) · onDismiss(id)</a:t>
            </a:r>
            <a:endParaRPr lang="en-US" sz="950" dirty="0"/>
          </a:p>
        </p:txBody>
      </p:sp>
      <p:sp>
        <p:nvSpPr>
          <p:cNvPr id="230" name="Shape 230"/>
          <p:cNvSpPr/>
          <p:nvPr/>
        </p:nvSpPr>
        <p:spPr>
          <a:xfrm>
            <a:off x="3048000" y="4826000"/>
            <a:ext cx="1905000" cy="381000"/>
          </a:xfrm>
          <a:prstGeom prst="rect">
            <a:avLst/>
          </a:prstGeom>
          <a:solidFill>
            <a:srgbClr val="C9822B"/>
          </a:solidFill>
          <a:ln w="9525">
            <a:solidFill>
              <a:srgbClr val="C9822B"/>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«frontend»</a:t>
            </a:r>
            <a:endParaRPr lang="en-US" sz="800" dirty="0"/>
          </a:p>
          <a:p>
            <a:pPr marL="0" indent="0" algn="ctr">
              <a:lnSpc>
                <a:spcPct val="90000"/>
              </a:lnSpc>
              <a:spcBef>
                <a:spcPts val="0"/>
              </a:spcBef>
              <a:buNone/>
            </a:pPr>
            <a:r>
              <a:rPr lang="en-US" sz="1050" b="1" dirty="0">
                <a:solidFill>
                  <a:srgbClr val="FFFFFF"/>
                </a:solidFill>
              </a:rPr>
              <a:t>DashboardPage</a:t>
            </a:r>
            <a:endParaRPr lang="en-US" sz="1050" dirty="0"/>
          </a:p>
        </p:txBody>
      </p:sp>
      <p:sp>
        <p:nvSpPr>
          <p:cNvPr id="231" name="Shape 231"/>
          <p:cNvSpPr/>
          <p:nvPr/>
        </p:nvSpPr>
        <p:spPr>
          <a:xfrm>
            <a:off x="3048000" y="5207000"/>
            <a:ext cx="1905000" cy="393700"/>
          </a:xfrm>
          <a:prstGeom prst="rect">
            <a:avLst/>
          </a:prstGeom>
          <a:solidFill>
            <a:srgbClr val="FFFFFF"/>
          </a:solidFill>
          <a:ln w="9525">
            <a:solidFill>
              <a:srgbClr val="C9822B"/>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building_id: int</a:t>
            </a:r>
            <a:endParaRPr lang="en-US" sz="950" dirty="0"/>
          </a:p>
          <a:p>
            <a:pPr marL="0" indent="0" algn="l">
              <a:lnSpc>
                <a:spcPct val="95000"/>
              </a:lnSpc>
              <a:spcBef>
                <a:spcPts val="0"/>
              </a:spcBef>
              <a:buNone/>
            </a:pPr>
            <a:r>
              <a:rPr lang="en-US" sz="950" dirty="0">
                <a:solidFill>
                  <a:srgbClr val="1F2A2E"/>
                </a:solidFill>
              </a:rPr>
              <a:t>period: {DAY, WEEK, MONTH}</a:t>
            </a:r>
            <a:endParaRPr lang="en-US" sz="950" dirty="0"/>
          </a:p>
        </p:txBody>
      </p:sp>
      <p:sp>
        <p:nvSpPr>
          <p:cNvPr id="232" name="Shape 232"/>
          <p:cNvSpPr/>
          <p:nvPr/>
        </p:nvSpPr>
        <p:spPr>
          <a:xfrm>
            <a:off x="3048000" y="5600700"/>
            <a:ext cx="1905000" cy="234950"/>
          </a:xfrm>
          <a:prstGeom prst="rect">
            <a:avLst/>
          </a:prstGeom>
          <a:solidFill>
            <a:srgbClr val="FFFFFF"/>
          </a:solidFill>
          <a:ln w="9525">
            <a:solidFill>
              <a:srgbClr val="C9822B"/>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render()</a:t>
            </a:r>
            <a:endParaRPr lang="en-US" sz="950" dirty="0"/>
          </a:p>
        </p:txBody>
      </p:sp>
      <p:cxnSp>
        <p:nvCxnSpPr>
          <p:cNvPr id="233" name="Line 233"/>
          <p:cNvCxnSpPr/>
          <p:nvPr/>
        </p:nvCxnSpPr>
        <p:spPr>
          <a:xfrm flipH="1">
            <a:off x="2489200" y="4978400"/>
            <a:ext cx="558800" cy="0"/>
          </a:xfrm>
          <a:prstGeom prst="line">
            <a:avLst/>
          </a:prstGeom>
          <a:ln w="12700">
            <a:solidFill>
              <a:srgbClr val="6B7579"/>
            </a:solidFill>
            <a:headEnd type="diamond" w="med" len="med"/>
          </a:ln>
        </p:spPr>
      </p:cxnSp>
      <p:cxnSp>
        <p:nvCxnSpPr>
          <p:cNvPr id="234" name="Line 234"/>
          <p:cNvCxnSpPr/>
          <p:nvPr/>
        </p:nvCxnSpPr>
        <p:spPr>
          <a:xfrm flipH="1">
            <a:off x="2489200" y="5759450"/>
            <a:ext cx="558800" cy="0"/>
          </a:xfrm>
          <a:prstGeom prst="line">
            <a:avLst/>
          </a:prstGeom>
          <a:ln w="12700">
            <a:solidFill>
              <a:srgbClr val="6B7579"/>
            </a:solidFill>
            <a:headEnd type="diamond" w="med" len="med"/>
          </a:ln>
        </p:spPr>
      </p:cxnSp>
      <p:sp>
        <p:nvSpPr>
          <p:cNvPr id="235" name="Shape 235"/>
          <p:cNvSpPr/>
          <p:nvPr/>
        </p:nvSpPr>
        <p:spPr>
          <a:xfrm>
            <a:off x="5537200" y="4826000"/>
            <a:ext cx="1600200" cy="381000"/>
          </a:xfrm>
          <a:prstGeom prst="rect">
            <a:avLst/>
          </a:prstGeom>
          <a:solidFill>
            <a:srgbClr val="C9822B"/>
          </a:solidFill>
          <a:ln w="9525">
            <a:solidFill>
              <a:srgbClr val="C9822B"/>
            </a:solidFill>
          </a:ln>
        </p:spPr>
        <p:txBody>
          <a:bodyPr wrap="square" lIns="38100" tIns="12700" rIns="38100" bIns="12700" rtlCol="0" anchor="ctr">
            <a:noAutofit/>
          </a:bodyPr>
          <a:lstStyle/>
          <a:p>
            <a:pPr marL="0" indent="0" algn="ctr">
              <a:lnSpc>
                <a:spcPct val="90000"/>
              </a:lnSpc>
              <a:spcBef>
                <a:spcPts val="0"/>
              </a:spcBef>
              <a:buNone/>
            </a:pPr>
            <a:r>
              <a:rPr lang="en-US" sz="800" dirty="0">
                <a:solidFill>
                  <a:srgbClr val="FFFFFF"/>
                </a:solidFill>
              </a:rPr>
              <a:t>«frontend»</a:t>
            </a:r>
            <a:endParaRPr lang="en-US" sz="800" dirty="0"/>
          </a:p>
          <a:p>
            <a:pPr marL="0" indent="0" algn="ctr">
              <a:lnSpc>
                <a:spcPct val="90000"/>
              </a:lnSpc>
              <a:spcBef>
                <a:spcPts val="0"/>
              </a:spcBef>
              <a:buNone/>
            </a:pPr>
            <a:r>
              <a:rPr lang="en-US" sz="1050" b="1" dirty="0">
                <a:solidFill>
                  <a:srgbClr val="FFFFFF"/>
                </a:solidFill>
              </a:rPr>
              <a:t>ApiClient</a:t>
            </a:r>
            <a:endParaRPr lang="en-US" sz="1050" dirty="0"/>
          </a:p>
        </p:txBody>
      </p:sp>
      <p:sp>
        <p:nvSpPr>
          <p:cNvPr id="236" name="Shape 236"/>
          <p:cNvSpPr/>
          <p:nvPr/>
        </p:nvSpPr>
        <p:spPr>
          <a:xfrm>
            <a:off x="5537200" y="5207000"/>
            <a:ext cx="1600200" cy="393700"/>
          </a:xfrm>
          <a:prstGeom prst="rect">
            <a:avLst/>
          </a:prstGeom>
          <a:solidFill>
            <a:srgbClr val="FFFFFF"/>
          </a:solidFill>
          <a:ln w="9525">
            <a:solidFill>
              <a:srgbClr val="C9822B"/>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1F2A2E"/>
                </a:solidFill>
              </a:rPr>
              <a:t>base_url: str</a:t>
            </a:r>
            <a:endParaRPr lang="en-US" sz="950" dirty="0"/>
          </a:p>
          <a:p>
            <a:pPr marL="0" indent="0" algn="l">
              <a:lnSpc>
                <a:spcPct val="95000"/>
              </a:lnSpc>
              <a:spcBef>
                <a:spcPts val="0"/>
              </a:spcBef>
              <a:buNone/>
            </a:pPr>
            <a:r>
              <a:rPr lang="en-US" sz="950" dirty="0">
                <a:solidFill>
                  <a:srgbClr val="1F2A2E"/>
                </a:solidFill>
              </a:rPr>
              <a:t>token: str</a:t>
            </a:r>
            <a:endParaRPr lang="en-US" sz="950" dirty="0"/>
          </a:p>
        </p:txBody>
      </p:sp>
      <p:sp>
        <p:nvSpPr>
          <p:cNvPr id="237" name="Shape 237"/>
          <p:cNvSpPr/>
          <p:nvPr/>
        </p:nvSpPr>
        <p:spPr>
          <a:xfrm>
            <a:off x="5537200" y="5600700"/>
            <a:ext cx="1600200" cy="234950"/>
          </a:xfrm>
          <a:prstGeom prst="rect">
            <a:avLst/>
          </a:prstGeom>
          <a:solidFill>
            <a:srgbClr val="FFFFFF"/>
          </a:solidFill>
          <a:ln w="9525">
            <a:solidFill>
              <a:srgbClr val="C9822B"/>
            </a:solidFill>
          </a:ln>
        </p:spPr>
        <p:txBody>
          <a:bodyPr wrap="square" lIns="63500" tIns="38100" rIns="50800" bIns="25400" rtlCol="0" anchor="t">
            <a:noAutofit/>
          </a:bodyPr>
          <a:lstStyle/>
          <a:p>
            <a:pPr marL="0" indent="0" algn="l">
              <a:lnSpc>
                <a:spcPct val="95000"/>
              </a:lnSpc>
              <a:spcBef>
                <a:spcPts val="0"/>
              </a:spcBef>
              <a:buNone/>
            </a:pPr>
            <a:r>
              <a:rPr lang="en-US" sz="950" dirty="0">
                <a:solidFill>
                  <a:srgbClr val="6B7579"/>
                </a:solidFill>
              </a:rPr>
              <a:t>get · post · patch</a:t>
            </a:r>
            <a:endParaRPr lang="en-US" sz="950" dirty="0"/>
          </a:p>
        </p:txBody>
      </p:sp>
      <p:cxnSp>
        <p:nvCxnSpPr>
          <p:cNvPr id="238" name="Line 238"/>
          <p:cNvCxnSpPr/>
          <p:nvPr/>
        </p:nvCxnSpPr>
        <p:spPr>
          <a:xfrm>
            <a:off x="4953000" y="5461000"/>
            <a:ext cx="584200" cy="0"/>
          </a:xfrm>
          <a:prstGeom prst="line">
            <a:avLst/>
          </a:prstGeom>
          <a:ln w="12700">
            <a:solidFill>
              <a:srgbClr val="6B7579"/>
            </a:solidFill>
            <a:prstDash val="dash"/>
            <a:tailEnd type="arrow" w="med" len="med"/>
          </a:ln>
        </p:spPr>
      </p:cxnSp>
      <p:sp>
        <p:nvSpPr>
          <p:cNvPr id="239" name="Shape 239"/>
          <p:cNvSpPr txBox="1"/>
          <p:nvPr/>
        </p:nvSpPr>
        <p:spPr>
          <a:xfrm>
            <a:off x="4978400" y="5283200"/>
            <a:ext cx="508000" cy="152400"/>
          </a:xfrm>
          <a:prstGeom prst="rect">
            <a:avLst/>
          </a:prstGeom>
          <a:noFill/>
          <a:ln>
            <a:noFill/>
          </a:ln>
        </p:spPr>
        <p:txBody>
          <a:bodyPr wrap="square" lIns="0" tIns="0" rIns="0" bIns="0" rtlCol="0" anchor="t">
            <a:noAutofit/>
          </a:bodyPr>
          <a:lstStyle/>
          <a:p>
            <a:pPr marL="0" indent="0" algn="ctr">
              <a:spcBef>
                <a:spcPts val="0"/>
              </a:spcBef>
              <a:buNone/>
            </a:pPr>
            <a:r>
              <a:rPr lang="en-US" sz="900" dirty="0">
                <a:solidFill>
                  <a:srgbClr val="6B7579"/>
                </a:solidFill>
              </a:rPr>
              <a:t>«use»</a:t>
            </a:r>
            <a:endParaRPr lang="en-US" sz="900" dirty="0"/>
          </a:p>
        </p:txBody>
      </p:sp>
      <p:sp>
        <p:nvSpPr>
          <p:cNvPr id="240" name="Shape 240"/>
          <p:cNvSpPr txBox="1"/>
          <p:nvPr/>
        </p:nvSpPr>
        <p:spPr>
          <a:xfrm>
            <a:off x="457200" y="6451600"/>
            <a:ext cx="6654800" cy="1778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 composition    → navigable association    - - &gt; dependency    name-only box = class owned by another subsystem</a:t>
            </a:r>
            <a:endParaRPr lang="en-US" sz="900" dirty="0"/>
          </a:p>
        </p:txBody>
      </p:sp>
      <p:sp>
        <p:nvSpPr>
          <p:cNvPr id="241" name="Shape 241"/>
          <p:cNvSpPr txBox="1"/>
          <p:nvPr/>
        </p:nvSpPr>
        <p:spPr>
          <a:xfrm>
            <a:off x="7416800" y="1244600"/>
            <a:ext cx="4318000" cy="228600"/>
          </a:xfrm>
          <a:prstGeom prst="rect">
            <a:avLst/>
          </a:prstGeom>
          <a:noFill/>
          <a:ln>
            <a:noFill/>
          </a:ln>
        </p:spPr>
        <p:txBody>
          <a:bodyPr wrap="square" lIns="0" tIns="0" rIns="0" bIns="0" rtlCol="0" anchor="t">
            <a:noAutofit/>
          </a:bodyPr>
          <a:lstStyle/>
          <a:p>
            <a:pPr marL="0" indent="0" algn="l">
              <a:spcBef>
                <a:spcPts val="0"/>
              </a:spcBef>
              <a:buNone/>
            </a:pPr>
            <a:r>
              <a:rPr lang="en-US" sz="1300" b="1" dirty="0">
                <a:solidFill>
                  <a:srgbClr val="C9822B"/>
                </a:solidFill>
                <a:latin typeface="+mj-lt"/>
              </a:rPr>
              <a:t>Requirements</a:t>
            </a:r>
            <a:endParaRPr lang="en-US" sz="1300" dirty="0"/>
          </a:p>
        </p:txBody>
      </p:sp>
      <p:sp>
        <p:nvSpPr>
          <p:cNvPr id="242" name="Shape 242"/>
          <p:cNvSpPr txBox="1"/>
          <p:nvPr/>
        </p:nvSpPr>
        <p:spPr>
          <a:xfrm>
            <a:off x="7416800" y="1485900"/>
            <a:ext cx="4318000" cy="254000"/>
          </a:xfrm>
          <a:prstGeom prst="rect">
            <a:avLst/>
          </a:prstGeom>
          <a:noFill/>
          <a:ln>
            <a:noFill/>
          </a:ln>
        </p:spPr>
        <p:txBody>
          <a:bodyPr wrap="square" lIns="0" tIns="0" rIns="0" bIns="0" rtlCol="0" anchor="t">
            <a:noAutofit/>
          </a:bodyPr>
          <a:lstStyle/>
          <a:p>
            <a:pPr marL="0" indent="0" algn="l">
              <a:spcBef>
                <a:spcPts val="0"/>
              </a:spcBef>
              <a:buNone/>
            </a:pPr>
            <a:r>
              <a:rPr lang="en-US" sz="1200" dirty="0">
                <a:solidFill>
                  <a:srgbClr val="6B7579"/>
                </a:solidFill>
              </a:rPr>
              <a:t>10 functional / 10 non-functional, Appendix A4</a:t>
            </a:r>
            <a:endParaRPr lang="en-US" sz="1200" dirty="0"/>
          </a:p>
        </p:txBody>
      </p:sp>
      <p:sp>
        <p:nvSpPr>
          <p:cNvPr id="243" name="Shape 243"/>
          <p:cNvSpPr txBox="1"/>
          <p:nvPr/>
        </p:nvSpPr>
        <p:spPr>
          <a:xfrm>
            <a:off x="7416800" y="1778000"/>
            <a:ext cx="4318000" cy="1016000"/>
          </a:xfrm>
          <a:prstGeom prst="rect">
            <a:avLst/>
          </a:prstGeom>
          <a:noFill/>
          <a:ln>
            <a:noFill/>
          </a:ln>
        </p:spPr>
        <p:txBody>
          <a:bodyPr wrap="square" lIns="0" tIns="0" rIns="0" bIns="0" rtlCol="0" anchor="t">
            <a:noAutofit/>
          </a:bodyPr>
          <a:lstStyle/>
          <a:p>
            <a:pPr marL="0" indent="0" algn="l">
              <a:lnSpc>
                <a:spcPct val="95000"/>
              </a:lnSpc>
              <a:spcBef>
                <a:spcPts val="0"/>
              </a:spcBef>
              <a:buNone/>
            </a:pPr>
            <a:r>
              <a:rPr lang="en-US" sz="1300" b="1" dirty="0">
                <a:solidFill>
                  <a:srgbClr val="C9822B"/>
                </a:solidFill>
              </a:rPr>
              <a:t>FR2* </a:t>
            </a:r>
            <a:r>
              <a:rPr lang="en-US" sz="1300" dirty="0">
                <a:solidFill>
                  <a:srgbClr val="1F2A2E"/>
                </a:solidFill>
              </a:rPr>
              <a:t>Dashboard shows current kW, today's kWh, today's CO2 and top 3 recommendations.</a:t>
            </a:r>
            <a:endParaRPr lang="en-US" sz="1300" dirty="0"/>
          </a:p>
          <a:p>
            <a:pPr marL="0" indent="0" algn="l">
              <a:lnSpc>
                <a:spcPct val="95000"/>
              </a:lnSpc>
              <a:spcBef>
                <a:spcPts val="500"/>
              </a:spcBef>
              <a:buNone/>
            </a:pPr>
            <a:r>
              <a:rPr lang="en-US" sz="1300" b="1" dirty="0">
                <a:solidFill>
                  <a:srgbClr val="C9822B"/>
                </a:solidFill>
              </a:rPr>
              <a:t>NFR1* </a:t>
            </a:r>
            <a:r>
              <a:rPr lang="en-US" sz="1300" dirty="0">
                <a:solidFill>
                  <a:srgbClr val="1F2A2E"/>
                </a:solidFill>
              </a:rPr>
              <a:t>Dashboard loads in under 3 s with 30 days of data.</a:t>
            </a:r>
            <a:endParaRPr lang="en-US" sz="1300" dirty="0"/>
          </a:p>
        </p:txBody>
      </p:sp>
      <p:sp>
        <p:nvSpPr>
          <p:cNvPr id="244" name="Shape 244"/>
          <p:cNvSpPr/>
          <p:nvPr/>
        </p:nvSpPr>
        <p:spPr>
          <a:xfrm>
            <a:off x="7416800" y="2895600"/>
            <a:ext cx="4318000" cy="2108200"/>
          </a:xfrm>
          <a:prstGeom prst="rect">
            <a:avLst/>
          </a:prstGeom>
          <a:solidFill>
            <a:srgbClr val="FFFFFF"/>
          </a:solidFill>
          <a:ln w="9525">
            <a:solidFill>
              <a:srgbClr val="E0E3E0"/>
            </a:solidFill>
          </a:ln>
        </p:spPr>
        <p:txBody>
          <a:bodyPr wrap="square" lIns="50800" tIns="50800" rIns="50800" bIns="50800" rtlCol="0" anchor="t">
            <a:noAutofit/>
          </a:bodyPr>
          <a:lstStyle/>
          <a:p>
            <a:endParaRPr lang="en-US" dirty="0"/>
          </a:p>
        </p:txBody>
      </p:sp>
      <p:sp>
        <p:nvSpPr>
          <p:cNvPr id="245" name="Shape 245"/>
          <p:cNvSpPr/>
          <p:nvPr/>
        </p:nvSpPr>
        <p:spPr>
          <a:xfrm>
            <a:off x="7416800" y="2895600"/>
            <a:ext cx="50800" cy="2108200"/>
          </a:xfrm>
          <a:prstGeom prst="rect">
            <a:avLst/>
          </a:prstGeom>
          <a:solidFill>
            <a:srgbClr val="C9822B"/>
          </a:solidFill>
          <a:ln>
            <a:noFill/>
          </a:ln>
        </p:spPr>
        <p:txBody>
          <a:bodyPr wrap="square" lIns="50800" tIns="50800" rIns="50800" bIns="50800" rtlCol="0" anchor="t">
            <a:noAutofit/>
          </a:bodyPr>
          <a:lstStyle/>
          <a:p>
            <a:endParaRPr lang="en-US" dirty="0"/>
          </a:p>
        </p:txBody>
      </p:sp>
      <p:sp>
        <p:nvSpPr>
          <p:cNvPr id="246" name="Shape 246"/>
          <p:cNvSpPr txBox="1"/>
          <p:nvPr/>
        </p:nvSpPr>
        <p:spPr>
          <a:xfrm>
            <a:off x="7594600" y="2997200"/>
            <a:ext cx="4013200" cy="1955800"/>
          </a:xfrm>
          <a:prstGeom prst="rect">
            <a:avLst/>
          </a:prstGeom>
          <a:noFill/>
          <a:ln>
            <a:noFill/>
          </a:ln>
        </p:spPr>
        <p:txBody>
          <a:bodyPr wrap="square" lIns="0" tIns="0" rIns="0" bIns="0" rtlCol="0" anchor="t">
            <a:noAutofit/>
          </a:bodyPr>
          <a:lstStyle/>
          <a:p>
            <a:pPr marL="0" indent="0" algn="l">
              <a:spcBef>
                <a:spcPts val="0"/>
              </a:spcBef>
              <a:spcAft>
                <a:spcPts val="200"/>
              </a:spcAft>
              <a:buNone/>
            </a:pPr>
            <a:r>
              <a:rPr lang="en-US" sz="1300" b="1" dirty="0">
                <a:solidFill>
                  <a:srgbClr val="C9822B"/>
                </a:solidFill>
                <a:latin typeface="+mj-lt"/>
              </a:rPr>
              <a:t>Data</a:t>
            </a:r>
            <a:endParaRPr lang="en-US" sz="1300" dirty="0"/>
          </a:p>
          <a:p>
            <a:pPr marL="0" indent="0" algn="l">
              <a:lnSpc>
                <a:spcPct val="95000"/>
              </a:lnSpc>
              <a:spcBef>
                <a:spcPts val="200"/>
              </a:spcBef>
              <a:buNone/>
            </a:pPr>
            <a:r>
              <a:rPr lang="en-US" sz="1100" b="1" dirty="0">
                <a:solidFill>
                  <a:srgbClr val="1F2A2E"/>
                </a:solidFill>
              </a:rPr>
              <a:t>Receives: </a:t>
            </a:r>
            <a:r>
              <a:rPr lang="en-US" sz="1100" dirty="0">
                <a:solidFill>
                  <a:srgbClr val="1F2A2E"/>
                </a:solidFill>
              </a:rPr>
              <a:t>readings, analysis and recommendations from S1–S3, only through REST (ApiClient)</a:t>
            </a:r>
            <a:endParaRPr lang="en-US" sz="1100" dirty="0"/>
          </a:p>
          <a:p>
            <a:pPr marL="0" indent="0" algn="l">
              <a:lnSpc>
                <a:spcPct val="95000"/>
              </a:lnSpc>
              <a:spcBef>
                <a:spcPts val="200"/>
              </a:spcBef>
              <a:buNone/>
            </a:pPr>
            <a:r>
              <a:rPr lang="en-US" sz="1100" b="1" dirty="0">
                <a:solidFill>
                  <a:srgbClr val="1F2A2E"/>
                </a:solidFill>
              </a:rPr>
              <a:t>Creates: </a:t>
            </a:r>
            <a:r>
              <a:rPr lang="en-US" sz="1100" dirty="0">
                <a:solidFill>
                  <a:srgbClr val="1F2A2E"/>
                </a:solidFill>
              </a:rPr>
              <a:t>User, UserPreferences, Notification</a:t>
            </a:r>
            <a:endParaRPr lang="en-US" sz="1100" dirty="0"/>
          </a:p>
          <a:p>
            <a:pPr marL="0" indent="0" algn="l">
              <a:lnSpc>
                <a:spcPct val="95000"/>
              </a:lnSpc>
              <a:spcBef>
                <a:spcPts val="200"/>
              </a:spcBef>
              <a:buNone/>
            </a:pPr>
            <a:r>
              <a:rPr lang="en-US" sz="1100" b="1" dirty="0">
                <a:solidFill>
                  <a:srgbClr val="1F2A2E"/>
                </a:solidFill>
              </a:rPr>
              <a:t>Stored in: </a:t>
            </a:r>
            <a:r>
              <a:rPr lang="en-US" sz="1100" dirty="0">
                <a:solidFill>
                  <a:srgbClr val="1F2A2E"/>
                </a:solidFill>
              </a:rPr>
              <a:t>accounts app tables in SQLite; passwords hashed by Django (PBKDF2)</a:t>
            </a:r>
            <a:endParaRPr lang="en-US" sz="1100" dirty="0"/>
          </a:p>
          <a:p>
            <a:pPr marL="0" indent="0" algn="l">
              <a:spcBef>
                <a:spcPts val="300"/>
              </a:spcBef>
              <a:buNone/>
            </a:pPr>
            <a:r>
              <a:rPr lang="en-US" sz="1100" b="1" dirty="0">
                <a:solidFill>
                  <a:srgbClr val="1F2A2E"/>
                </a:solidFill>
              </a:rPr>
              <a:t>Endpoints:</a:t>
            </a:r>
            <a:endParaRPr lang="en-US" sz="1100" dirty="0"/>
          </a:p>
          <a:p>
            <a:pPr marL="0" indent="0" algn="l">
              <a:lnSpc>
                <a:spcPct val="95000"/>
              </a:lnSpc>
              <a:spcBef>
                <a:spcPts val="50"/>
              </a:spcBef>
              <a:buNone/>
            </a:pPr>
            <a:r>
              <a:rPr lang="en-US" sz="950" dirty="0">
                <a:solidFill>
                  <a:srgbClr val="1F2A2E"/>
                </a:solidFill>
                <a:latin typeface="Consolas"/>
              </a:rPr>
              <a:t>POST  /api/auth/login/</a:t>
            </a:r>
            <a:endParaRPr lang="en-US" sz="950" dirty="0"/>
          </a:p>
          <a:p>
            <a:pPr marL="0" indent="0" algn="l">
              <a:lnSpc>
                <a:spcPct val="95000"/>
              </a:lnSpc>
              <a:spcBef>
                <a:spcPts val="50"/>
              </a:spcBef>
              <a:buNone/>
            </a:pPr>
            <a:r>
              <a:rPr lang="en-US" sz="950" dirty="0">
                <a:solidFill>
                  <a:srgbClr val="1F2A2E"/>
                </a:solidFill>
                <a:latin typeface="Consolas"/>
              </a:rPr>
              <a:t>GET   /api/me/</a:t>
            </a:r>
            <a:endParaRPr lang="en-US" sz="950" dirty="0"/>
          </a:p>
          <a:p>
            <a:pPr marL="0" indent="0" algn="l">
              <a:lnSpc>
                <a:spcPct val="95000"/>
              </a:lnSpc>
              <a:spcBef>
                <a:spcPts val="50"/>
              </a:spcBef>
              <a:buNone/>
            </a:pPr>
            <a:r>
              <a:rPr lang="en-US" sz="950" dirty="0">
                <a:solidFill>
                  <a:srgbClr val="1F2A2E"/>
                </a:solidFill>
                <a:latin typeface="Consolas"/>
              </a:rPr>
              <a:t>PATCH /api/me/preferences/</a:t>
            </a:r>
            <a:endParaRPr lang="en-US" sz="950" dirty="0"/>
          </a:p>
          <a:p>
            <a:pPr marL="0" indent="0" algn="l">
              <a:lnSpc>
                <a:spcPct val="95000"/>
              </a:lnSpc>
              <a:spcBef>
                <a:spcPts val="50"/>
              </a:spcBef>
              <a:buNone/>
            </a:pPr>
            <a:r>
              <a:rPr lang="en-US" sz="950" dirty="0">
                <a:solidFill>
                  <a:srgbClr val="1F2A2E"/>
                </a:solidFill>
                <a:latin typeface="Consolas"/>
              </a:rPr>
              <a:t>GET   /api/notifications/</a:t>
            </a:r>
            <a:endParaRPr lang="en-US" sz="950" dirty="0"/>
          </a:p>
        </p:txBody>
      </p:sp>
      <p:sp>
        <p:nvSpPr>
          <p:cNvPr id="247" name="Shape 247"/>
          <p:cNvSpPr/>
          <p:nvPr/>
        </p:nvSpPr>
        <p:spPr>
          <a:xfrm>
            <a:off x="7416800" y="5156200"/>
            <a:ext cx="1778000" cy="1447800"/>
          </a:xfrm>
          <a:prstGeom prst="rect">
            <a:avLst/>
          </a:prstGeom>
          <a:solidFill>
            <a:srgbClr val="EDEFEC"/>
          </a:solidFill>
          <a:ln w="9525">
            <a:solidFill>
              <a:srgbClr val="A9B1B3"/>
            </a:solidFill>
          </a:ln>
        </p:spPr>
        <p:txBody>
          <a:bodyPr wrap="square" lIns="50800" tIns="50800" rIns="50800" bIns="50800" rtlCol="0" anchor="t">
            <a:noAutofit/>
          </a:bodyPr>
          <a:lstStyle/>
          <a:p>
            <a:endParaRPr lang="en-US" dirty="0"/>
          </a:p>
        </p:txBody>
      </p:sp>
      <p:sp>
        <p:nvSpPr>
          <p:cNvPr id="248" name="Shape 248"/>
          <p:cNvSpPr/>
          <p:nvPr/>
        </p:nvSpPr>
        <p:spPr>
          <a:xfrm>
            <a:off x="7493000" y="5232400"/>
            <a:ext cx="254000" cy="1295400"/>
          </a:xfrm>
          <a:prstGeom prst="rect">
            <a:avLst/>
          </a:prstGeom>
          <a:solidFill>
            <a:srgbClr val="A9B1B3"/>
          </a:solidFill>
          <a:ln>
            <a:noFill/>
          </a:ln>
        </p:spPr>
        <p:txBody>
          <a:bodyPr wrap="square" lIns="50800" tIns="50800" rIns="50800" bIns="50800" rtlCol="0" anchor="t">
            <a:noAutofit/>
          </a:bodyPr>
          <a:lstStyle/>
          <a:p>
            <a:endParaRPr lang="en-US" dirty="0"/>
          </a:p>
        </p:txBody>
      </p:sp>
      <p:sp>
        <p:nvSpPr>
          <p:cNvPr id="249" name="Shape 249"/>
          <p:cNvSpPr/>
          <p:nvPr/>
        </p:nvSpPr>
        <p:spPr>
          <a:xfrm>
            <a:off x="7797800" y="5232400"/>
            <a:ext cx="414867" cy="203200"/>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sp>
        <p:nvSpPr>
          <p:cNvPr id="250" name="Shape 250"/>
          <p:cNvSpPr/>
          <p:nvPr/>
        </p:nvSpPr>
        <p:spPr>
          <a:xfrm>
            <a:off x="8250767" y="5232400"/>
            <a:ext cx="414867" cy="203200"/>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sp>
        <p:nvSpPr>
          <p:cNvPr id="251" name="Shape 251"/>
          <p:cNvSpPr/>
          <p:nvPr/>
        </p:nvSpPr>
        <p:spPr>
          <a:xfrm>
            <a:off x="8703733" y="5232400"/>
            <a:ext cx="414867" cy="203200"/>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sp>
        <p:nvSpPr>
          <p:cNvPr id="252" name="Shape 252"/>
          <p:cNvSpPr/>
          <p:nvPr/>
        </p:nvSpPr>
        <p:spPr>
          <a:xfrm>
            <a:off x="7797800" y="5486400"/>
            <a:ext cx="812800" cy="1041400"/>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cxnSp>
        <p:nvCxnSpPr>
          <p:cNvPr id="253" name="Line 253"/>
          <p:cNvCxnSpPr/>
          <p:nvPr/>
        </p:nvCxnSpPr>
        <p:spPr>
          <a:xfrm flipV="1">
            <a:off x="7848600" y="6273800"/>
            <a:ext cx="279400" cy="152400"/>
          </a:xfrm>
          <a:prstGeom prst="line">
            <a:avLst/>
          </a:prstGeom>
          <a:ln w="15875">
            <a:solidFill>
              <a:srgbClr val="C9822B"/>
            </a:solidFill>
          </a:ln>
        </p:spPr>
      </p:cxnSp>
      <p:cxnSp>
        <p:nvCxnSpPr>
          <p:cNvPr id="254" name="Line 254"/>
          <p:cNvCxnSpPr/>
          <p:nvPr/>
        </p:nvCxnSpPr>
        <p:spPr>
          <a:xfrm flipV="1">
            <a:off x="8128000" y="6197600"/>
            <a:ext cx="254000" cy="76200"/>
          </a:xfrm>
          <a:prstGeom prst="line">
            <a:avLst/>
          </a:prstGeom>
          <a:ln w="15875">
            <a:solidFill>
              <a:srgbClr val="C9822B"/>
            </a:solidFill>
          </a:ln>
        </p:spPr>
      </p:cxnSp>
      <p:sp>
        <p:nvSpPr>
          <p:cNvPr id="255" name="Shape 255"/>
          <p:cNvSpPr/>
          <p:nvPr/>
        </p:nvSpPr>
        <p:spPr>
          <a:xfrm>
            <a:off x="8661400" y="5486400"/>
            <a:ext cx="457200" cy="309033"/>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sp>
        <p:nvSpPr>
          <p:cNvPr id="256" name="Shape 256"/>
          <p:cNvSpPr/>
          <p:nvPr/>
        </p:nvSpPr>
        <p:spPr>
          <a:xfrm>
            <a:off x="8661400" y="5833533"/>
            <a:ext cx="457200" cy="309033"/>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sp>
        <p:nvSpPr>
          <p:cNvPr id="257" name="Shape 257"/>
          <p:cNvSpPr/>
          <p:nvPr/>
        </p:nvSpPr>
        <p:spPr>
          <a:xfrm>
            <a:off x="8661400" y="6180667"/>
            <a:ext cx="457200" cy="309033"/>
          </a:xfrm>
          <a:prstGeom prst="rect">
            <a:avLst/>
          </a:prstGeom>
          <a:solidFill>
            <a:srgbClr val="FFFFFF"/>
          </a:solidFill>
          <a:ln w="6350">
            <a:solidFill>
              <a:srgbClr val="A9B1B3"/>
            </a:solidFill>
          </a:ln>
        </p:spPr>
        <p:txBody>
          <a:bodyPr wrap="square" lIns="50800" tIns="50800" rIns="50800" bIns="50800" rtlCol="0" anchor="t">
            <a:noAutofit/>
          </a:bodyPr>
          <a:lstStyle/>
          <a:p>
            <a:endParaRPr lang="en-US" dirty="0"/>
          </a:p>
        </p:txBody>
      </p:sp>
      <p:sp>
        <p:nvSpPr>
          <p:cNvPr id="258" name="Shape 258"/>
          <p:cNvSpPr txBox="1"/>
          <p:nvPr/>
        </p:nvSpPr>
        <p:spPr>
          <a:xfrm>
            <a:off x="9347200" y="5207000"/>
            <a:ext cx="2387600" cy="13462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6B7579"/>
                </a:solidFill>
              </a:rPr>
              <a:t>Low-fidelity wireframe, not yet implemented</a:t>
            </a:r>
            <a:endParaRPr lang="en-US" sz="1100" dirty="0"/>
          </a:p>
          <a:p>
            <a:pPr marL="0" indent="0" algn="l">
              <a:spcBef>
                <a:spcPts val="400"/>
              </a:spcBef>
              <a:buNone/>
            </a:pPr>
            <a:r>
              <a:rPr lang="en-US" sz="1100" dirty="0">
                <a:solidFill>
                  <a:srgbClr val="6B7579"/>
                </a:solidFill>
              </a:rPr>
              <a:t>Login + Dashboard home. Full size in Appendix A8.</a:t>
            </a:r>
            <a:endParaRPr lang="en-US" sz="1100" dirty="0"/>
          </a:p>
        </p:txBody>
      </p:sp>
    </p:spTree>
    <p:extLst>
      <p:ext uri="{BB962C8B-B14F-4D97-AF65-F5344CB8AC3E}">
        <p14:creationId xmlns:p14="http://schemas.microsoft.com/office/powerpoint/2010/main" val="1677694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03D9E-0DDB-68E7-E66B-21D63DE365F0}"/>
              </a:ext>
            </a:extLst>
          </p:cNvPr>
          <p:cNvSpPr>
            <a:spLocks noGrp="1"/>
          </p:cNvSpPr>
          <p:nvPr>
            <p:ph type="title"/>
          </p:nvPr>
        </p:nvSpPr>
        <p:spPr>
          <a:xfrm>
            <a:off x="457200" y="419100"/>
            <a:ext cx="11277600" cy="1066800"/>
          </a:xfrm>
        </p:spPr>
        <p:txBody>
          <a:bodyPr anchor="t"/>
          <a:lstStyle/>
          <a:p>
            <a:pPr algn="l"/>
            <a:r>
              <a:rPr lang="en-US" sz="3200" b="1" dirty="0"/>
              <a:t>Each subsystem owns its data and exchanges it only through REST</a:t>
            </a:r>
          </a:p>
        </p:txBody>
      </p:sp>
      <p:sp>
        <p:nvSpPr>
          <p:cNvPr id="200" name="Shape 200"/>
          <p:cNvSpPr/>
          <p:nvPr/>
        </p:nvSpPr>
        <p:spPr>
          <a:xfrm>
            <a:off x="457200" y="1701800"/>
            <a:ext cx="2438400" cy="1168400"/>
          </a:xfrm>
          <a:prstGeom prst="rect">
            <a:avLst/>
          </a:prstGeom>
          <a:solidFill>
            <a:srgbClr val="FFFFFF"/>
          </a:solidFill>
          <a:ln w="9525">
            <a:solidFill>
              <a:srgbClr val="E0E3E0"/>
            </a:solidFill>
          </a:ln>
        </p:spPr>
        <p:txBody>
          <a:bodyPr wrap="square" lIns="50800" tIns="50800" rIns="50800" bIns="50800" rtlCol="0" anchor="t">
            <a:noAutofit/>
          </a:bodyPr>
          <a:lstStyle/>
          <a:p>
            <a:endParaRPr lang="en-US" dirty="0"/>
          </a:p>
        </p:txBody>
      </p:sp>
      <p:sp>
        <p:nvSpPr>
          <p:cNvPr id="201" name="Shape 201"/>
          <p:cNvSpPr/>
          <p:nvPr/>
        </p:nvSpPr>
        <p:spPr>
          <a:xfrm>
            <a:off x="457200" y="1701800"/>
            <a:ext cx="2438400" cy="63500"/>
          </a:xfrm>
          <a:prstGeom prst="rect">
            <a:avLst/>
          </a:prstGeom>
          <a:solidFill>
            <a:srgbClr val="2E6F95"/>
          </a:solidFill>
          <a:ln>
            <a:noFill/>
          </a:ln>
        </p:spPr>
        <p:txBody>
          <a:bodyPr wrap="square" lIns="50800" tIns="50800" rIns="50800" bIns="50800" rtlCol="0" anchor="t">
            <a:noAutofit/>
          </a:bodyPr>
          <a:lstStyle/>
          <a:p>
            <a:endParaRPr lang="en-US" dirty="0"/>
          </a:p>
        </p:txBody>
      </p:sp>
      <p:sp>
        <p:nvSpPr>
          <p:cNvPr id="202" name="Shape 202"/>
          <p:cNvSpPr txBox="1"/>
          <p:nvPr/>
        </p:nvSpPr>
        <p:spPr>
          <a:xfrm>
            <a:off x="609600" y="1879600"/>
            <a:ext cx="2184400" cy="939800"/>
          </a:xfrm>
          <a:prstGeom prst="rect">
            <a:avLst/>
          </a:prstGeom>
          <a:noFill/>
          <a:ln>
            <a:noFill/>
          </a:ln>
        </p:spPr>
        <p:txBody>
          <a:bodyPr wrap="square" lIns="0" tIns="0" rIns="0" bIns="0" rtlCol="0" anchor="t">
            <a:noAutofit/>
          </a:bodyPr>
          <a:lstStyle/>
          <a:p>
            <a:pPr marL="0" indent="0" algn="l">
              <a:spcBef>
                <a:spcPts val="0"/>
              </a:spcBef>
              <a:buNone/>
            </a:pPr>
            <a:r>
              <a:rPr lang="en-US" sz="1600" b="1" dirty="0">
                <a:solidFill>
                  <a:srgbClr val="2E6F95"/>
                </a:solidFill>
                <a:latin typeface="+mj-lt"/>
              </a:rPr>
              <a:t>EnergyReading</a:t>
            </a:r>
            <a:endParaRPr lang="en-US" sz="1600" dirty="0"/>
          </a:p>
          <a:p>
            <a:pPr marL="0" indent="0" algn="l">
              <a:spcBef>
                <a:spcPts val="200"/>
              </a:spcBef>
              <a:buNone/>
            </a:pPr>
            <a:r>
              <a:rPr lang="en-US" sz="1300" dirty="0">
                <a:solidFill>
                  <a:srgbClr val="1F2A2E"/>
                </a:solidFill>
              </a:rPr>
              <a:t>S1 · monitoring</a:t>
            </a:r>
            <a:endParaRPr lang="en-US" sz="1300" dirty="0"/>
          </a:p>
          <a:p>
            <a:pPr marL="0" indent="0" algn="l">
              <a:spcBef>
                <a:spcPts val="600"/>
              </a:spcBef>
              <a:buNone/>
            </a:pPr>
            <a:r>
              <a:rPr lang="en-US" sz="950" dirty="0">
                <a:solidFill>
                  <a:srgbClr val="6B7579"/>
                </a:solidFill>
                <a:latin typeface="Consolas"/>
              </a:rPr>
              <a:t>POST /api/readings/bulk/</a:t>
            </a:r>
            <a:endParaRPr lang="en-US" sz="950" dirty="0"/>
          </a:p>
        </p:txBody>
      </p:sp>
      <p:cxnSp>
        <p:nvCxnSpPr>
          <p:cNvPr id="203" name="Line 203"/>
          <p:cNvCxnSpPr/>
          <p:nvPr/>
        </p:nvCxnSpPr>
        <p:spPr>
          <a:xfrm>
            <a:off x="2946400" y="2286000"/>
            <a:ext cx="406400" cy="0"/>
          </a:xfrm>
          <a:prstGeom prst="line">
            <a:avLst/>
          </a:prstGeom>
          <a:ln w="19050">
            <a:solidFill>
              <a:srgbClr val="6B7579"/>
            </a:solidFill>
            <a:tailEnd type="triangle" w="med" len="med"/>
          </a:ln>
        </p:spPr>
      </p:cxnSp>
      <p:sp>
        <p:nvSpPr>
          <p:cNvPr id="204" name="Shape 204"/>
          <p:cNvSpPr/>
          <p:nvPr/>
        </p:nvSpPr>
        <p:spPr>
          <a:xfrm>
            <a:off x="3403600" y="1701800"/>
            <a:ext cx="2438400" cy="1168400"/>
          </a:xfrm>
          <a:prstGeom prst="rect">
            <a:avLst/>
          </a:prstGeom>
          <a:solidFill>
            <a:srgbClr val="FFFFFF"/>
          </a:solidFill>
          <a:ln w="9525">
            <a:solidFill>
              <a:srgbClr val="E0E3E0"/>
            </a:solidFill>
          </a:ln>
        </p:spPr>
        <p:txBody>
          <a:bodyPr wrap="square" lIns="50800" tIns="50800" rIns="50800" bIns="50800" rtlCol="0" anchor="t">
            <a:noAutofit/>
          </a:bodyPr>
          <a:lstStyle/>
          <a:p>
            <a:endParaRPr lang="en-US" dirty="0"/>
          </a:p>
        </p:txBody>
      </p:sp>
      <p:sp>
        <p:nvSpPr>
          <p:cNvPr id="205" name="Shape 205"/>
          <p:cNvSpPr/>
          <p:nvPr/>
        </p:nvSpPr>
        <p:spPr>
          <a:xfrm>
            <a:off x="3403600" y="1701800"/>
            <a:ext cx="2438400" cy="63500"/>
          </a:xfrm>
          <a:prstGeom prst="rect">
            <a:avLst/>
          </a:prstGeom>
          <a:solidFill>
            <a:srgbClr val="0F7B6C"/>
          </a:solidFill>
          <a:ln>
            <a:noFill/>
          </a:ln>
        </p:spPr>
        <p:txBody>
          <a:bodyPr wrap="square" lIns="50800" tIns="50800" rIns="50800" bIns="50800" rtlCol="0" anchor="t">
            <a:noAutofit/>
          </a:bodyPr>
          <a:lstStyle/>
          <a:p>
            <a:endParaRPr lang="en-US" dirty="0"/>
          </a:p>
        </p:txBody>
      </p:sp>
      <p:sp>
        <p:nvSpPr>
          <p:cNvPr id="206" name="Shape 206"/>
          <p:cNvSpPr txBox="1"/>
          <p:nvPr/>
        </p:nvSpPr>
        <p:spPr>
          <a:xfrm>
            <a:off x="3556000" y="1879600"/>
            <a:ext cx="2184400" cy="939800"/>
          </a:xfrm>
          <a:prstGeom prst="rect">
            <a:avLst/>
          </a:prstGeom>
          <a:noFill/>
          <a:ln>
            <a:noFill/>
          </a:ln>
        </p:spPr>
        <p:txBody>
          <a:bodyPr wrap="square" lIns="0" tIns="0" rIns="0" bIns="0" rtlCol="0" anchor="t">
            <a:noAutofit/>
          </a:bodyPr>
          <a:lstStyle/>
          <a:p>
            <a:pPr marL="0" indent="0" algn="l">
              <a:spcBef>
                <a:spcPts val="0"/>
              </a:spcBef>
              <a:buNone/>
            </a:pPr>
            <a:r>
              <a:rPr lang="en-US" sz="1600" b="1" dirty="0">
                <a:solidFill>
                  <a:srgbClr val="0F7B6C"/>
                </a:solidFill>
                <a:latin typeface="+mj-lt"/>
              </a:rPr>
              <a:t>AnalysisResult</a:t>
            </a:r>
            <a:endParaRPr lang="en-US" sz="1600" dirty="0"/>
          </a:p>
          <a:p>
            <a:pPr marL="0" indent="0" algn="l">
              <a:spcBef>
                <a:spcPts val="200"/>
              </a:spcBef>
              <a:buNone/>
            </a:pPr>
            <a:r>
              <a:rPr lang="en-US" sz="1300" dirty="0">
                <a:solidFill>
                  <a:srgbClr val="1F2A2E"/>
                </a:solidFill>
              </a:rPr>
              <a:t>S2 · analysis</a:t>
            </a:r>
            <a:endParaRPr lang="en-US" sz="1300" dirty="0"/>
          </a:p>
          <a:p>
            <a:pPr marL="0" indent="0" algn="l">
              <a:spcBef>
                <a:spcPts val="600"/>
              </a:spcBef>
              <a:buNone/>
            </a:pPr>
            <a:r>
              <a:rPr lang="en-US" sz="950" dirty="0">
                <a:solidFill>
                  <a:srgbClr val="6B7579"/>
                </a:solidFill>
                <a:latin typeface="Consolas"/>
              </a:rPr>
              <a:t>POST /api/analysis/run/</a:t>
            </a:r>
            <a:endParaRPr lang="en-US" sz="950" dirty="0"/>
          </a:p>
        </p:txBody>
      </p:sp>
      <p:cxnSp>
        <p:nvCxnSpPr>
          <p:cNvPr id="207" name="Line 207"/>
          <p:cNvCxnSpPr/>
          <p:nvPr/>
        </p:nvCxnSpPr>
        <p:spPr>
          <a:xfrm>
            <a:off x="5892800" y="2286000"/>
            <a:ext cx="406400" cy="0"/>
          </a:xfrm>
          <a:prstGeom prst="line">
            <a:avLst/>
          </a:prstGeom>
          <a:ln w="19050">
            <a:solidFill>
              <a:srgbClr val="6B7579"/>
            </a:solidFill>
            <a:tailEnd type="triangle" w="med" len="med"/>
          </a:ln>
        </p:spPr>
      </p:cxnSp>
      <p:sp>
        <p:nvSpPr>
          <p:cNvPr id="208" name="Shape 208"/>
          <p:cNvSpPr/>
          <p:nvPr/>
        </p:nvSpPr>
        <p:spPr>
          <a:xfrm>
            <a:off x="6350000" y="1701800"/>
            <a:ext cx="2438400" cy="1168400"/>
          </a:xfrm>
          <a:prstGeom prst="rect">
            <a:avLst/>
          </a:prstGeom>
          <a:solidFill>
            <a:srgbClr val="FFFFFF"/>
          </a:solidFill>
          <a:ln w="9525">
            <a:solidFill>
              <a:srgbClr val="E0E3E0"/>
            </a:solidFill>
          </a:ln>
        </p:spPr>
        <p:txBody>
          <a:bodyPr wrap="square" lIns="50800" tIns="50800" rIns="50800" bIns="50800" rtlCol="0" anchor="t">
            <a:noAutofit/>
          </a:bodyPr>
          <a:lstStyle/>
          <a:p>
            <a:endParaRPr lang="en-US" dirty="0"/>
          </a:p>
        </p:txBody>
      </p:sp>
      <p:sp>
        <p:nvSpPr>
          <p:cNvPr id="209" name="Shape 209"/>
          <p:cNvSpPr/>
          <p:nvPr/>
        </p:nvSpPr>
        <p:spPr>
          <a:xfrm>
            <a:off x="6350000" y="1701800"/>
            <a:ext cx="2438400" cy="63500"/>
          </a:xfrm>
          <a:prstGeom prst="rect">
            <a:avLst/>
          </a:prstGeom>
          <a:solidFill>
            <a:srgbClr val="7A5BA6"/>
          </a:solidFill>
          <a:ln>
            <a:noFill/>
          </a:ln>
        </p:spPr>
        <p:txBody>
          <a:bodyPr wrap="square" lIns="50800" tIns="50800" rIns="50800" bIns="50800" rtlCol="0" anchor="t">
            <a:noAutofit/>
          </a:bodyPr>
          <a:lstStyle/>
          <a:p>
            <a:endParaRPr lang="en-US" dirty="0"/>
          </a:p>
        </p:txBody>
      </p:sp>
      <p:sp>
        <p:nvSpPr>
          <p:cNvPr id="210" name="Shape 210"/>
          <p:cNvSpPr txBox="1"/>
          <p:nvPr/>
        </p:nvSpPr>
        <p:spPr>
          <a:xfrm>
            <a:off x="6502400" y="1879600"/>
            <a:ext cx="2184400" cy="939800"/>
          </a:xfrm>
          <a:prstGeom prst="rect">
            <a:avLst/>
          </a:prstGeom>
          <a:noFill/>
          <a:ln>
            <a:noFill/>
          </a:ln>
        </p:spPr>
        <p:txBody>
          <a:bodyPr wrap="square" lIns="0" tIns="0" rIns="0" bIns="0" rtlCol="0" anchor="t">
            <a:noAutofit/>
          </a:bodyPr>
          <a:lstStyle/>
          <a:p>
            <a:pPr marL="0" indent="0" algn="l">
              <a:spcBef>
                <a:spcPts val="0"/>
              </a:spcBef>
              <a:buNone/>
            </a:pPr>
            <a:r>
              <a:rPr lang="en-US" sz="1600" b="1" dirty="0">
                <a:solidFill>
                  <a:srgbClr val="7A5BA6"/>
                </a:solidFill>
                <a:latin typeface="+mj-lt"/>
              </a:rPr>
              <a:t>AIRecommendation</a:t>
            </a:r>
            <a:endParaRPr lang="en-US" sz="1600" dirty="0"/>
          </a:p>
          <a:p>
            <a:pPr marL="0" indent="0" algn="l">
              <a:spcBef>
                <a:spcPts val="200"/>
              </a:spcBef>
              <a:buNone/>
            </a:pPr>
            <a:r>
              <a:rPr lang="en-US" sz="1300" dirty="0">
                <a:solidFill>
                  <a:srgbClr val="1F2A2E"/>
                </a:solidFill>
              </a:rPr>
              <a:t>S3 · coach</a:t>
            </a:r>
            <a:endParaRPr lang="en-US" sz="1300" dirty="0"/>
          </a:p>
          <a:p>
            <a:pPr marL="0" indent="0" algn="l">
              <a:spcBef>
                <a:spcPts val="600"/>
              </a:spcBef>
              <a:buNone/>
            </a:pPr>
            <a:r>
              <a:rPr lang="en-US" sz="950" dirty="0">
                <a:solidFill>
                  <a:srgbClr val="6B7579"/>
                </a:solidFill>
                <a:latin typeface="Consolas"/>
              </a:rPr>
              <a:t>POST /api/recommendations/generate/</a:t>
            </a:r>
            <a:endParaRPr lang="en-US" sz="950" dirty="0"/>
          </a:p>
        </p:txBody>
      </p:sp>
      <p:cxnSp>
        <p:nvCxnSpPr>
          <p:cNvPr id="211" name="Line 211"/>
          <p:cNvCxnSpPr/>
          <p:nvPr/>
        </p:nvCxnSpPr>
        <p:spPr>
          <a:xfrm>
            <a:off x="8839200" y="2286000"/>
            <a:ext cx="406400" cy="0"/>
          </a:xfrm>
          <a:prstGeom prst="line">
            <a:avLst/>
          </a:prstGeom>
          <a:ln w="19050">
            <a:solidFill>
              <a:srgbClr val="6B7579"/>
            </a:solidFill>
            <a:tailEnd type="triangle" w="med" len="med"/>
          </a:ln>
        </p:spPr>
      </p:cxnSp>
      <p:sp>
        <p:nvSpPr>
          <p:cNvPr id="212" name="Shape 212"/>
          <p:cNvSpPr/>
          <p:nvPr/>
        </p:nvSpPr>
        <p:spPr>
          <a:xfrm>
            <a:off x="9296400" y="1701800"/>
            <a:ext cx="2438400" cy="1168400"/>
          </a:xfrm>
          <a:prstGeom prst="rect">
            <a:avLst/>
          </a:prstGeom>
          <a:solidFill>
            <a:srgbClr val="FFFFFF"/>
          </a:solidFill>
          <a:ln w="9525">
            <a:solidFill>
              <a:srgbClr val="E0E3E0"/>
            </a:solidFill>
          </a:ln>
        </p:spPr>
        <p:txBody>
          <a:bodyPr wrap="square" lIns="50800" tIns="50800" rIns="50800" bIns="50800" rtlCol="0" anchor="t">
            <a:noAutofit/>
          </a:bodyPr>
          <a:lstStyle/>
          <a:p>
            <a:endParaRPr lang="en-US" dirty="0"/>
          </a:p>
        </p:txBody>
      </p:sp>
      <p:sp>
        <p:nvSpPr>
          <p:cNvPr id="213" name="Shape 213"/>
          <p:cNvSpPr/>
          <p:nvPr/>
        </p:nvSpPr>
        <p:spPr>
          <a:xfrm>
            <a:off x="9296400" y="1701800"/>
            <a:ext cx="2438400" cy="63500"/>
          </a:xfrm>
          <a:prstGeom prst="rect">
            <a:avLst/>
          </a:prstGeom>
          <a:solidFill>
            <a:srgbClr val="C9822B"/>
          </a:solidFill>
          <a:ln>
            <a:noFill/>
          </a:ln>
        </p:spPr>
        <p:txBody>
          <a:bodyPr wrap="square" lIns="50800" tIns="50800" rIns="50800" bIns="50800" rtlCol="0" anchor="t">
            <a:noAutofit/>
          </a:bodyPr>
          <a:lstStyle/>
          <a:p>
            <a:endParaRPr lang="en-US" dirty="0"/>
          </a:p>
        </p:txBody>
      </p:sp>
      <p:sp>
        <p:nvSpPr>
          <p:cNvPr id="214" name="Shape 214"/>
          <p:cNvSpPr txBox="1"/>
          <p:nvPr/>
        </p:nvSpPr>
        <p:spPr>
          <a:xfrm>
            <a:off x="9448800" y="1879600"/>
            <a:ext cx="2184400" cy="939800"/>
          </a:xfrm>
          <a:prstGeom prst="rect">
            <a:avLst/>
          </a:prstGeom>
          <a:noFill/>
          <a:ln>
            <a:noFill/>
          </a:ln>
        </p:spPr>
        <p:txBody>
          <a:bodyPr wrap="square" lIns="0" tIns="0" rIns="0" bIns="0" rtlCol="0" anchor="t">
            <a:noAutofit/>
          </a:bodyPr>
          <a:lstStyle/>
          <a:p>
            <a:pPr marL="0" indent="0" algn="l">
              <a:spcBef>
                <a:spcPts val="0"/>
              </a:spcBef>
              <a:buNone/>
            </a:pPr>
            <a:r>
              <a:rPr lang="en-US" sz="1600" b="1" dirty="0">
                <a:solidFill>
                  <a:srgbClr val="C9822B"/>
                </a:solidFill>
                <a:latin typeface="+mj-lt"/>
              </a:rPr>
              <a:t>Dashboard</a:t>
            </a:r>
            <a:endParaRPr lang="en-US" sz="1600" dirty="0"/>
          </a:p>
          <a:p>
            <a:pPr marL="0" indent="0" algn="l">
              <a:spcBef>
                <a:spcPts val="200"/>
              </a:spcBef>
              <a:buNone/>
            </a:pPr>
            <a:r>
              <a:rPr lang="en-US" sz="1300" dirty="0">
                <a:solidFill>
                  <a:srgbClr val="1F2A2E"/>
                </a:solidFill>
              </a:rPr>
              <a:t>S4 · React + accounts</a:t>
            </a:r>
            <a:endParaRPr lang="en-US" sz="1300" dirty="0"/>
          </a:p>
          <a:p>
            <a:pPr marL="0" indent="0" algn="l">
              <a:spcBef>
                <a:spcPts val="600"/>
              </a:spcBef>
              <a:buNone/>
            </a:pPr>
            <a:r>
              <a:rPr lang="en-US" sz="950" dirty="0">
                <a:solidFill>
                  <a:srgbClr val="6B7579"/>
                </a:solidFill>
                <a:latin typeface="Consolas"/>
              </a:rPr>
              <a:t>GET via one ApiClient</a:t>
            </a:r>
            <a:endParaRPr lang="en-US" sz="950" dirty="0"/>
          </a:p>
        </p:txBody>
      </p:sp>
      <p:sp>
        <p:nvSpPr>
          <p:cNvPr id="215" name="Shape 215"/>
          <p:cNvSpPr txBox="1"/>
          <p:nvPr/>
        </p:nvSpPr>
        <p:spPr>
          <a:xfrm>
            <a:off x="457200" y="3048000"/>
            <a:ext cx="11277600" cy="228600"/>
          </a:xfrm>
          <a:prstGeom prst="rect">
            <a:avLst/>
          </a:prstGeom>
          <a:noFill/>
          <a:ln>
            <a:noFill/>
          </a:ln>
        </p:spPr>
        <p:txBody>
          <a:bodyPr wrap="square" lIns="0" tIns="0" rIns="0" bIns="0" rtlCol="0" anchor="t">
            <a:noAutofit/>
          </a:bodyPr>
          <a:lstStyle/>
          <a:p>
            <a:pPr marL="0" indent="0" algn="l">
              <a:spcBef>
                <a:spcPts val="0"/>
              </a:spcBef>
              <a:buNone/>
            </a:pPr>
            <a:r>
              <a:rPr lang="en-US" sz="1200" dirty="0">
                <a:solidFill>
                  <a:srgbClr val="6B7579"/>
                </a:solidFill>
              </a:rPr>
              <a:t>Arrows are read-only REST calls: each step reads the previous subsystem's output and writes only its own tables.</a:t>
            </a:r>
            <a:endParaRPr lang="en-US" sz="1200" dirty="0"/>
          </a:p>
        </p:txBody>
      </p:sp>
      <p:graphicFrame>
        <p:nvGraphicFramePr>
          <p:cNvPr id="216" name="Table 216"/>
          <p:cNvGraphicFramePr>
            <a:graphicFrameLocks noGrp="1"/>
          </p:cNvGraphicFramePr>
          <p:nvPr>
            <p:extLst>
              <p:ext uri="{D42A27DB-BD31-4B8C-83A1-F6EECF244321}">
                <p14:modId xmlns:p14="http://schemas.microsoft.com/office/powerpoint/2010/main" val="4127049652"/>
              </p:ext>
            </p:extLst>
          </p:nvPr>
        </p:nvGraphicFramePr>
        <p:xfrm>
          <a:off x="457200" y="3479800"/>
          <a:ext cx="11277600" cy="2179320"/>
        </p:xfrm>
        <a:graphic>
          <a:graphicData uri="http://schemas.openxmlformats.org/drawingml/2006/table">
            <a:tbl>
              <a:tblPr firstRow="1"/>
              <a:tblGrid>
                <a:gridCol w="1651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4699000">
                  <a:extLst>
                    <a:ext uri="{9D8B030D-6E8A-4147-A177-3AD203B41FA5}">
                      <a16:colId xmlns:a16="http://schemas.microsoft.com/office/drawing/2014/main" val="20002"/>
                    </a:ext>
                  </a:extLst>
                </a:gridCol>
                <a:gridCol w="3276600">
                  <a:extLst>
                    <a:ext uri="{9D8B030D-6E8A-4147-A177-3AD203B41FA5}">
                      <a16:colId xmlns:a16="http://schemas.microsoft.com/office/drawing/2014/main" val="20003"/>
                    </a:ext>
                  </a:extLst>
                </a:gridCol>
              </a:tblGrid>
              <a:tr h="406400">
                <a:tc>
                  <a:txBody>
                    <a:bodyPr/>
                    <a:lstStyle/>
                    <a:p>
                      <a:pPr marL="0" indent="0" algn="l">
                        <a:spcBef>
                          <a:spcPts val="0"/>
                        </a:spcBef>
                        <a:buNone/>
                      </a:pPr>
                      <a:r>
                        <a:rPr lang="en-US" sz="1400" b="1" dirty="0">
                          <a:solidFill>
                            <a:srgbClr val="1F2A2E"/>
                          </a:solidFill>
                        </a:rPr>
                        <a:t>Django app</a:t>
                      </a:r>
                      <a:endParaRPr lang="en-US" sz="1400" dirty="0"/>
                    </a:p>
                  </a:txBody>
                  <a:tcPr marL="76200" marR="76200" marT="63500" marB="63500" anchor="ctr">
                    <a:lnL w="0">
                      <a:noFill/>
                    </a:lnL>
                    <a:lnR w="0">
                      <a:noFill/>
                    </a:lnR>
                    <a:lnT w="0">
                      <a:noFill/>
                    </a:lnT>
                    <a:lnB w="15875">
                      <a:solidFill>
                        <a:srgbClr val="6B7579"/>
                      </a:solidFill>
                    </a:lnB>
                    <a:noFill/>
                  </a:tcPr>
                </a:tc>
                <a:tc>
                  <a:txBody>
                    <a:bodyPr/>
                    <a:lstStyle/>
                    <a:p>
                      <a:pPr marL="0" indent="0" algn="l">
                        <a:spcBef>
                          <a:spcPts val="0"/>
                        </a:spcBef>
                        <a:buNone/>
                      </a:pPr>
                      <a:r>
                        <a:rPr lang="en-US" sz="1400" b="1" dirty="0">
                          <a:solidFill>
                            <a:srgbClr val="1F2A2E"/>
                          </a:solidFill>
                        </a:rPr>
                        <a:t>Owner</a:t>
                      </a:r>
                      <a:endParaRPr lang="en-US" sz="1400" dirty="0"/>
                    </a:p>
                  </a:txBody>
                  <a:tcPr marL="76200" marR="76200" marT="63500" marB="63500" anchor="ctr">
                    <a:lnL w="0">
                      <a:noFill/>
                    </a:lnL>
                    <a:lnR w="0">
                      <a:noFill/>
                    </a:lnR>
                    <a:lnT w="0">
                      <a:noFill/>
                    </a:lnT>
                    <a:lnB w="15875">
                      <a:solidFill>
                        <a:srgbClr val="6B7579"/>
                      </a:solidFill>
                    </a:lnB>
                    <a:noFill/>
                  </a:tcPr>
                </a:tc>
                <a:tc>
                  <a:txBody>
                    <a:bodyPr/>
                    <a:lstStyle/>
                    <a:p>
                      <a:pPr marL="0" indent="0" algn="l">
                        <a:spcBef>
                          <a:spcPts val="0"/>
                        </a:spcBef>
                        <a:buNone/>
                      </a:pPr>
                      <a:r>
                        <a:rPr lang="en-US" sz="1400" b="1" dirty="0">
                          <a:solidFill>
                            <a:srgbClr val="1F2A2E"/>
                          </a:solidFill>
                        </a:rPr>
                        <a:t>Writes (owns) these tables</a:t>
                      </a:r>
                      <a:endParaRPr lang="en-US" sz="1400" dirty="0"/>
                    </a:p>
                  </a:txBody>
                  <a:tcPr marL="76200" marR="76200" marT="63500" marB="63500" anchor="ctr">
                    <a:lnL w="0">
                      <a:noFill/>
                    </a:lnL>
                    <a:lnR w="0">
                      <a:noFill/>
                    </a:lnR>
                    <a:lnT w="0">
                      <a:noFill/>
                    </a:lnT>
                    <a:lnB w="15875">
                      <a:solidFill>
                        <a:srgbClr val="6B7579"/>
                      </a:solidFill>
                    </a:lnB>
                    <a:noFill/>
                  </a:tcPr>
                </a:tc>
                <a:tc>
                  <a:txBody>
                    <a:bodyPr/>
                    <a:lstStyle/>
                    <a:p>
                      <a:pPr marL="0" indent="0" algn="l">
                        <a:spcBef>
                          <a:spcPts val="0"/>
                        </a:spcBef>
                        <a:buNone/>
                      </a:pPr>
                      <a:r>
                        <a:rPr lang="en-US" sz="1400" b="1" dirty="0">
                          <a:solidFill>
                            <a:srgbClr val="1F2A2E"/>
                          </a:solidFill>
                        </a:rPr>
                        <a:t>Reads from other subsystems</a:t>
                      </a:r>
                      <a:endParaRPr lang="en-US" sz="1400" dirty="0"/>
                    </a:p>
                  </a:txBody>
                  <a:tcPr marL="76200" marR="76200" marT="63500" marB="63500" anchor="ctr">
                    <a:lnL w="0">
                      <a:noFill/>
                    </a:lnL>
                    <a:lnR w="0">
                      <a:noFill/>
                    </a:lnR>
                    <a:lnT w="0">
                      <a:noFill/>
                    </a:lnT>
                    <a:lnB w="15875">
                      <a:solidFill>
                        <a:srgbClr val="6B7579"/>
                      </a:solidFill>
                    </a:lnB>
                    <a:noFill/>
                  </a:tcPr>
                </a:tc>
                <a:extLst>
                  <a:ext uri="{0D108BD9-81ED-4DB2-BD59-A6C34878D82A}">
                    <a16:rowId xmlns:a16="http://schemas.microsoft.com/office/drawing/2014/main" val="10000"/>
                  </a:ext>
                </a:extLst>
              </a:tr>
              <a:tr h="406400">
                <a:tc>
                  <a:txBody>
                    <a:bodyPr/>
                    <a:lstStyle/>
                    <a:p>
                      <a:pPr marL="0" indent="0" algn="l">
                        <a:spcBef>
                          <a:spcPts val="0"/>
                        </a:spcBef>
                        <a:buNone/>
                      </a:pPr>
                      <a:r>
                        <a:rPr lang="en-US" sz="1400" b="1" dirty="0">
                          <a:solidFill>
                            <a:srgbClr val="2E6F95"/>
                          </a:solidFill>
                        </a:rPr>
                        <a:t>monitoring</a:t>
                      </a:r>
                      <a:endParaRPr lang="en-US" sz="1400" dirty="0"/>
                    </a:p>
                  </a:txBody>
                  <a:tcPr marL="76200" marR="76200" marT="63500" marB="635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400" dirty="0">
                          <a:solidFill>
                            <a:srgbClr val="1F2A2E"/>
                          </a:solidFill>
                        </a:rPr>
                        <a:t>S1 · Shaon</a:t>
                      </a:r>
                      <a:endParaRPr lang="en-US" sz="1400" dirty="0"/>
                    </a:p>
                  </a:txBody>
                  <a:tcPr marL="76200" marR="76200" marT="63500" marB="635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400" dirty="0">
                          <a:solidFill>
                            <a:srgbClr val="1F2A2E"/>
                          </a:solidFill>
                        </a:rPr>
                        <a:t>Building, Meter, EnergyReading</a:t>
                      </a:r>
                      <a:endParaRPr lang="en-US" sz="1400" dirty="0"/>
                    </a:p>
                  </a:txBody>
                  <a:tcPr marL="76200" marR="76200" marT="63500" marB="635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400" dirty="0">
                          <a:solidFill>
                            <a:srgbClr val="1F2A2E"/>
                          </a:solidFill>
                        </a:rPr>
                        <a:t>User id (S4) for ownership checks</a:t>
                      </a:r>
                      <a:endParaRPr lang="en-US" sz="1400" dirty="0"/>
                    </a:p>
                  </a:txBody>
                  <a:tcPr marL="76200" marR="76200" marT="63500" marB="635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1"/>
                  </a:ext>
                </a:extLst>
              </a:tr>
              <a:tr h="406400">
                <a:tc>
                  <a:txBody>
                    <a:bodyPr/>
                    <a:lstStyle/>
                    <a:p>
                      <a:pPr marL="0" indent="0" algn="l">
                        <a:spcBef>
                          <a:spcPts val="0"/>
                        </a:spcBef>
                        <a:buNone/>
                      </a:pPr>
                      <a:r>
                        <a:rPr lang="en-US" sz="1400" b="1" dirty="0">
                          <a:solidFill>
                            <a:srgbClr val="0F7B6C"/>
                          </a:solidFill>
                        </a:rPr>
                        <a:t>analysis</a:t>
                      </a:r>
                      <a:endParaRPr lang="en-US" sz="1400" dirty="0"/>
                    </a:p>
                  </a:txBody>
                  <a:tcPr marL="76200" marR="76200" marT="63500" marB="635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400" dirty="0">
                          <a:solidFill>
                            <a:srgbClr val="1F2A2E"/>
                          </a:solidFill>
                        </a:rPr>
                        <a:t>S2 · Ziad</a:t>
                      </a:r>
                      <a:endParaRPr lang="en-US" sz="1400" dirty="0"/>
                    </a:p>
                  </a:txBody>
                  <a:tcPr marL="76200" marR="76200" marT="63500" marB="635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400" dirty="0">
                          <a:solidFill>
                            <a:srgbClr val="1F2A2E"/>
                          </a:solidFill>
                        </a:rPr>
                        <a:t>AnalysisResult, Anomaly, EmissionFactor</a:t>
                      </a:r>
                      <a:endParaRPr lang="en-US" sz="1400" dirty="0"/>
                    </a:p>
                  </a:txBody>
                  <a:tcPr marL="76200" marR="76200" marT="63500" marB="635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400" dirty="0">
                          <a:solidFill>
                            <a:srgbClr val="1F2A2E"/>
                          </a:solidFill>
                        </a:rPr>
                        <a:t>EnergyReading (S1)</a:t>
                      </a:r>
                      <a:endParaRPr lang="en-US" sz="1400" dirty="0"/>
                    </a:p>
                  </a:txBody>
                  <a:tcPr marL="76200" marR="76200" marT="63500" marB="635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2"/>
                  </a:ext>
                </a:extLst>
              </a:tr>
              <a:tr h="406400">
                <a:tc>
                  <a:txBody>
                    <a:bodyPr/>
                    <a:lstStyle/>
                    <a:p>
                      <a:pPr marL="0" indent="0" algn="l">
                        <a:spcBef>
                          <a:spcPts val="0"/>
                        </a:spcBef>
                        <a:buNone/>
                      </a:pPr>
                      <a:r>
                        <a:rPr lang="en-US" sz="1400" b="1" dirty="0">
                          <a:solidFill>
                            <a:srgbClr val="7A5BA6"/>
                          </a:solidFill>
                        </a:rPr>
                        <a:t>coach</a:t>
                      </a:r>
                      <a:endParaRPr lang="en-US" sz="1400" dirty="0"/>
                    </a:p>
                  </a:txBody>
                  <a:tcPr marL="76200" marR="76200" marT="63500" marB="635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400" dirty="0">
                          <a:solidFill>
                            <a:srgbClr val="1F2A2E"/>
                          </a:solidFill>
                        </a:rPr>
                        <a:t>S3 · Yassoub</a:t>
                      </a:r>
                      <a:endParaRPr lang="en-US" sz="1400" dirty="0"/>
                    </a:p>
                  </a:txBody>
                  <a:tcPr marL="76200" marR="76200" marT="63500" marB="635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400" dirty="0">
                          <a:solidFill>
                            <a:srgbClr val="1F2A2E"/>
                          </a:solidFill>
                        </a:rPr>
                        <a:t>AIRecommendation, LLMRequestLog, RecommendationFeedback</a:t>
                      </a:r>
                      <a:endParaRPr lang="en-US" sz="1400" dirty="0"/>
                    </a:p>
                  </a:txBody>
                  <a:tcPr marL="76200" marR="76200" marT="63500" marB="635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400" dirty="0">
                          <a:solidFill>
                            <a:srgbClr val="1F2A2E"/>
                          </a:solidFill>
                        </a:rPr>
                        <a:t>AnalysisResult (S2)</a:t>
                      </a:r>
                      <a:endParaRPr lang="en-US" sz="1400" dirty="0"/>
                    </a:p>
                  </a:txBody>
                  <a:tcPr marL="76200" marR="76200" marT="63500" marB="635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3"/>
                  </a:ext>
                </a:extLst>
              </a:tr>
              <a:tr h="406400">
                <a:tc>
                  <a:txBody>
                    <a:bodyPr/>
                    <a:lstStyle/>
                    <a:p>
                      <a:pPr marL="0" indent="0" algn="l">
                        <a:spcBef>
                          <a:spcPts val="0"/>
                        </a:spcBef>
                        <a:buNone/>
                      </a:pPr>
                      <a:r>
                        <a:rPr lang="en-US" sz="1400" b="1" dirty="0">
                          <a:solidFill>
                            <a:srgbClr val="C9822B"/>
                          </a:solidFill>
                        </a:rPr>
                        <a:t>accounts</a:t>
                      </a:r>
                      <a:endParaRPr lang="en-US" sz="1400" dirty="0"/>
                    </a:p>
                  </a:txBody>
                  <a:tcPr marL="76200" marR="76200" marT="63500" marB="635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400" dirty="0">
                          <a:solidFill>
                            <a:srgbClr val="1F2A2E"/>
                          </a:solidFill>
                        </a:rPr>
                        <a:t>S4 · Marwan</a:t>
                      </a:r>
                      <a:endParaRPr lang="en-US" sz="1400" dirty="0"/>
                    </a:p>
                  </a:txBody>
                  <a:tcPr marL="76200" marR="76200" marT="63500" marB="635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400" dirty="0">
                          <a:solidFill>
                            <a:srgbClr val="1F2A2E"/>
                          </a:solidFill>
                        </a:rPr>
                        <a:t>User, UserPreferences, Notification</a:t>
                      </a:r>
                      <a:endParaRPr lang="en-US" sz="1400" dirty="0"/>
                    </a:p>
                  </a:txBody>
                  <a:tcPr marL="76200" marR="76200" marT="63500" marB="635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400" dirty="0">
                          <a:solidFill>
                            <a:srgbClr val="1F2A2E"/>
                          </a:solidFill>
                        </a:rPr>
                        <a:t>Everything else, through ApiClient</a:t>
                      </a:r>
                      <a:endParaRPr lang="en-US" sz="1400" dirty="0"/>
                    </a:p>
                  </a:txBody>
                  <a:tcPr marL="76200" marR="76200" marT="63500" marB="635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4"/>
                  </a:ext>
                </a:extLst>
              </a:tr>
            </a:tbl>
          </a:graphicData>
        </a:graphic>
      </p:graphicFrame>
      <p:sp>
        <p:nvSpPr>
          <p:cNvPr id="217" name="Shape 217"/>
          <p:cNvSpPr txBox="1"/>
          <p:nvPr/>
        </p:nvSpPr>
        <p:spPr>
          <a:xfrm>
            <a:off x="457200" y="6070600"/>
            <a:ext cx="11277600" cy="457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One SQLite database; Django prefixes each table with its app name (e.g. monitoring_energyreading). Schema changes go through Django migrations only.</a:t>
            </a:r>
            <a:endParaRPr lang="en-US" sz="1100" dirty="0"/>
          </a:p>
        </p:txBody>
      </p:sp>
    </p:spTree>
    <p:extLst>
      <p:ext uri="{BB962C8B-B14F-4D97-AF65-F5344CB8AC3E}">
        <p14:creationId xmlns:p14="http://schemas.microsoft.com/office/powerpoint/2010/main" val="3515605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F1B29-ABAD-869D-9417-672E1B63FA97}"/>
              </a:ext>
            </a:extLst>
          </p:cNvPr>
          <p:cNvSpPr>
            <a:spLocks noGrp="1"/>
          </p:cNvSpPr>
          <p:nvPr>
            <p:ph type="title"/>
          </p:nvPr>
        </p:nvSpPr>
        <p:spPr>
          <a:xfrm>
            <a:off x="762000" y="1905000"/>
            <a:ext cx="10668000" cy="1270000"/>
          </a:xfrm>
        </p:spPr>
        <p:txBody>
          <a:bodyPr lIns="0" anchor="b"/>
          <a:lstStyle/>
          <a:p>
            <a:pPr algn="l"/>
            <a:r>
              <a:rPr lang="en-US" sz="4400" b="1" dirty="0"/>
              <a:t>Appendix</a:t>
            </a:r>
          </a:p>
        </p:txBody>
      </p:sp>
      <p:sp>
        <p:nvSpPr>
          <p:cNvPr id="3" name="Text Placeholder 2">
            <a:extLst>
              <a:ext uri="{FF2B5EF4-FFF2-40B4-BE49-F238E27FC236}">
                <a16:creationId xmlns:a16="http://schemas.microsoft.com/office/drawing/2014/main" id="{3C8D0A71-A882-15BE-BF71-FD397BCE43D4}"/>
              </a:ext>
            </a:extLst>
          </p:cNvPr>
          <p:cNvSpPr>
            <a:spLocks noGrp="1"/>
          </p:cNvSpPr>
          <p:nvPr>
            <p:ph type="body" idx="1"/>
          </p:nvPr>
        </p:nvSpPr>
        <p:spPr>
          <a:xfrm>
            <a:off x="762000" y="3251200"/>
            <a:ext cx="10668000" cy="508000"/>
          </a:xfrm>
        </p:spPr>
        <p:txBody>
          <a:bodyPr lIns="0"/>
          <a:lstStyle/>
          <a:p>
            <a:pPr marL="0" indent="0" algn="l">
              <a:buNone/>
            </a:pPr>
            <a:r>
              <a:rPr lang="en-US" sz="1800" dirty="0">
                <a:solidFill>
                  <a:srgbClr val="6B7579"/>
                </a:solidFill>
              </a:rPr>
              <a:t>Submitted with the milestone, not presented</a:t>
            </a:r>
          </a:p>
        </p:txBody>
      </p:sp>
      <p:sp>
        <p:nvSpPr>
          <p:cNvPr id="200" name="Shape 200"/>
          <p:cNvSpPr txBox="1"/>
          <p:nvPr/>
        </p:nvSpPr>
        <p:spPr>
          <a:xfrm>
            <a:off x="762000" y="4191000"/>
            <a:ext cx="10668000" cy="406400"/>
          </a:xfrm>
          <a:prstGeom prst="rect">
            <a:avLst/>
          </a:prstGeom>
          <a:noFill/>
          <a:ln>
            <a:noFill/>
          </a:ln>
        </p:spPr>
        <p:txBody>
          <a:bodyPr wrap="square" lIns="0" tIns="0" rIns="0" bIns="0" rtlCol="0" anchor="t">
            <a:noAutofit/>
          </a:bodyPr>
          <a:lstStyle/>
          <a:p>
            <a:pPr marL="0" indent="0" algn="l">
              <a:spcBef>
                <a:spcPts val="0"/>
              </a:spcBef>
              <a:buNone/>
            </a:pPr>
            <a:r>
              <a:rPr lang="en-US" sz="1800" b="1" dirty="0">
                <a:solidFill>
                  <a:srgbClr val="1F2A2E"/>
                </a:solidFill>
                <a:latin typeface="+mj-lt"/>
              </a:rPr>
              <a:t>A1–A4   </a:t>
            </a:r>
            <a:r>
              <a:rPr lang="en-US" sz="1800" dirty="0">
                <a:solidFill>
                  <a:srgbClr val="6B7579"/>
                </a:solidFill>
              </a:rPr>
              <a:t>Requirements: 10 FR + 10 NFR per subsystem</a:t>
            </a:r>
            <a:endParaRPr lang="en-US" sz="1800" dirty="0"/>
          </a:p>
        </p:txBody>
      </p:sp>
      <p:sp>
        <p:nvSpPr>
          <p:cNvPr id="201" name="Shape 201"/>
          <p:cNvSpPr txBox="1"/>
          <p:nvPr/>
        </p:nvSpPr>
        <p:spPr>
          <a:xfrm>
            <a:off x="762000" y="4699000"/>
            <a:ext cx="10668000" cy="406400"/>
          </a:xfrm>
          <a:prstGeom prst="rect">
            <a:avLst/>
          </a:prstGeom>
          <a:noFill/>
          <a:ln>
            <a:noFill/>
          </a:ln>
        </p:spPr>
        <p:txBody>
          <a:bodyPr wrap="square" lIns="0" tIns="0" rIns="0" bIns="0" rtlCol="0" anchor="t">
            <a:noAutofit/>
          </a:bodyPr>
          <a:lstStyle/>
          <a:p>
            <a:pPr marL="0" indent="0" algn="l">
              <a:spcBef>
                <a:spcPts val="0"/>
              </a:spcBef>
              <a:buNone/>
            </a:pPr>
            <a:r>
              <a:rPr lang="en-US" sz="1800" b="1" dirty="0">
                <a:solidFill>
                  <a:srgbClr val="1F2A2E"/>
                </a:solidFill>
                <a:latin typeface="+mj-lt"/>
              </a:rPr>
              <a:t>A5–A8   </a:t>
            </a:r>
            <a:r>
              <a:rPr lang="en-US" sz="1800" dirty="0">
                <a:solidFill>
                  <a:srgbClr val="6B7579"/>
                </a:solidFill>
              </a:rPr>
              <a:t>Low-fidelity wireframes per subsystem</a:t>
            </a:r>
            <a:endParaRPr lang="en-US" sz="1800" dirty="0"/>
          </a:p>
        </p:txBody>
      </p:sp>
      <p:sp>
        <p:nvSpPr>
          <p:cNvPr id="202" name="Shape 202"/>
          <p:cNvSpPr txBox="1"/>
          <p:nvPr/>
        </p:nvSpPr>
        <p:spPr>
          <a:xfrm>
            <a:off x="762000" y="5207000"/>
            <a:ext cx="10668000" cy="406400"/>
          </a:xfrm>
          <a:prstGeom prst="rect">
            <a:avLst/>
          </a:prstGeom>
          <a:noFill/>
          <a:ln>
            <a:noFill/>
          </a:ln>
        </p:spPr>
        <p:txBody>
          <a:bodyPr wrap="square" lIns="0" tIns="0" rIns="0" bIns="0" rtlCol="0" anchor="t">
            <a:noAutofit/>
          </a:bodyPr>
          <a:lstStyle/>
          <a:p>
            <a:pPr marL="0" indent="0" algn="l">
              <a:spcBef>
                <a:spcPts val="0"/>
              </a:spcBef>
              <a:buNone/>
            </a:pPr>
            <a:r>
              <a:rPr lang="en-US" sz="1800" b="1" dirty="0">
                <a:solidFill>
                  <a:srgbClr val="1F2A2E"/>
                </a:solidFill>
                <a:latin typeface="+mj-lt"/>
              </a:rPr>
              <a:t>A9   </a:t>
            </a:r>
            <a:r>
              <a:rPr lang="en-US" sz="1800" dirty="0">
                <a:solidFill>
                  <a:srgbClr val="6B7579"/>
                </a:solidFill>
              </a:rPr>
              <a:t>API endpoints</a:t>
            </a:r>
            <a:endParaRPr lang="en-US" sz="1800" dirty="0"/>
          </a:p>
        </p:txBody>
      </p:sp>
      <p:cxnSp>
        <p:nvCxnSpPr>
          <p:cNvPr id="203" name="Line 203"/>
          <p:cNvCxnSpPr/>
          <p:nvPr/>
        </p:nvCxnSpPr>
        <p:spPr>
          <a:xfrm>
            <a:off x="762000" y="4013200"/>
            <a:ext cx="10668000" cy="0"/>
          </a:xfrm>
          <a:prstGeom prst="line">
            <a:avLst/>
          </a:prstGeom>
          <a:ln w="12700">
            <a:solidFill>
              <a:srgbClr val="E0E3E0"/>
            </a:solidFill>
          </a:ln>
        </p:spPr>
      </p:cxnSp>
    </p:spTree>
    <p:extLst>
      <p:ext uri="{BB962C8B-B14F-4D97-AF65-F5344CB8AC3E}">
        <p14:creationId xmlns:p14="http://schemas.microsoft.com/office/powerpoint/2010/main" val="1623174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BE0F7-E18A-54C7-333F-DDC6578CA6C9}"/>
              </a:ext>
            </a:extLst>
          </p:cNvPr>
          <p:cNvSpPr>
            <a:spLocks noGrp="1"/>
          </p:cNvSpPr>
          <p:nvPr>
            <p:ph type="title"/>
          </p:nvPr>
        </p:nvSpPr>
        <p:spPr/>
        <p:txBody>
          <a:bodyPr/>
          <a:lstStyle/>
          <a:p>
            <a:pPr algn="l"/>
            <a:r>
              <a:rPr lang="en-US" sz="3200" b="1" dirty="0"/>
              <a:t>A1 · S1 Energy Monitoring requirements</a:t>
            </a:r>
          </a:p>
        </p:txBody>
      </p:sp>
      <p:sp>
        <p:nvSpPr>
          <p:cNvPr id="200" name="Subsystem bar"/>
          <p:cNvSpPr/>
          <p:nvPr/>
        </p:nvSpPr>
        <p:spPr>
          <a:xfrm>
            <a:off x="457200" y="304800"/>
            <a:ext cx="711200" cy="63500"/>
          </a:xfrm>
          <a:prstGeom prst="rect">
            <a:avLst/>
          </a:prstGeom>
          <a:solidFill>
            <a:srgbClr val="2E6F95"/>
          </a:solidFill>
          <a:ln>
            <a:noFill/>
          </a:ln>
        </p:spPr>
        <p:txBody>
          <a:bodyPr wrap="square" lIns="50800" tIns="50800" rIns="50800" bIns="50800" rtlCol="0" anchor="t">
            <a:noAutofit/>
          </a:bodyPr>
          <a:lstStyle/>
          <a:p>
            <a:endParaRPr lang="en-US" dirty="0"/>
          </a:p>
        </p:txBody>
      </p:sp>
      <p:graphicFrame>
        <p:nvGraphicFramePr>
          <p:cNvPr id="201" name="Table 201"/>
          <p:cNvGraphicFramePr>
            <a:graphicFrameLocks noGrp="1"/>
          </p:cNvGraphicFramePr>
          <p:nvPr/>
        </p:nvGraphicFramePr>
        <p:xfrm>
          <a:off x="457200" y="1244600"/>
          <a:ext cx="11277600" cy="4876800"/>
        </p:xfrm>
        <a:graphic>
          <a:graphicData uri="http://schemas.openxmlformats.org/drawingml/2006/table">
            <a:tbl>
              <a:tblPr firstRow="1"/>
              <a:tblGrid>
                <a:gridCol w="5638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04800">
                <a:tc>
                  <a:txBody>
                    <a:bodyPr/>
                    <a:lstStyle/>
                    <a:p>
                      <a:pPr marL="0" indent="0" algn="l">
                        <a:spcBef>
                          <a:spcPts val="0"/>
                        </a:spcBef>
                        <a:buNone/>
                      </a:pPr>
                      <a:r>
                        <a:rPr lang="en-US" sz="1200" b="1" dirty="0">
                          <a:solidFill>
                            <a:srgbClr val="1F2A2E"/>
                          </a:solidFill>
                        </a:rPr>
                        <a:t>Functional (FR)</a:t>
                      </a:r>
                      <a:endParaRPr lang="en-US" sz="1200" dirty="0"/>
                    </a:p>
                  </a:txBody>
                  <a:tcPr marL="76200" marR="76200" marT="38100" marB="38100" anchor="ctr">
                    <a:lnL w="0">
                      <a:noFill/>
                    </a:lnL>
                    <a:lnR w="0">
                      <a:noFill/>
                    </a:lnR>
                    <a:lnT w="0">
                      <a:noFill/>
                    </a:lnT>
                    <a:lnB w="15875">
                      <a:solidFill>
                        <a:srgbClr val="6B7579"/>
                      </a:solidFill>
                    </a:lnB>
                    <a:noFill/>
                  </a:tcPr>
                </a:tc>
                <a:tc>
                  <a:txBody>
                    <a:bodyPr/>
                    <a:lstStyle/>
                    <a:p>
                      <a:pPr marL="0" indent="0" algn="l">
                        <a:spcBef>
                          <a:spcPts val="0"/>
                        </a:spcBef>
                        <a:buNone/>
                      </a:pPr>
                      <a:r>
                        <a:rPr lang="en-US" sz="1200" b="1" dirty="0">
                          <a:solidFill>
                            <a:srgbClr val="1F2A2E"/>
                          </a:solidFill>
                        </a:rPr>
                        <a:t>Non-functional (NFR)</a:t>
                      </a:r>
                      <a:endParaRPr lang="en-US" sz="1200" dirty="0"/>
                    </a:p>
                  </a:txBody>
                  <a:tcPr marL="76200" marR="76200" marT="38100" marB="38100" anchor="ctr">
                    <a:lnL w="0">
                      <a:noFill/>
                    </a:lnL>
                    <a:lnR w="0">
                      <a:noFill/>
                    </a:lnR>
                    <a:lnT w="0">
                      <a:noFill/>
                    </a:lnT>
                    <a:lnB w="15875">
                      <a:solidFill>
                        <a:srgbClr val="6B7579"/>
                      </a:solidFill>
                    </a:lnB>
                    <a:noFill/>
                  </a:tcPr>
                </a:tc>
                <a:extLst>
                  <a:ext uri="{0D108BD9-81ED-4DB2-BD59-A6C34878D82A}">
                    <a16:rowId xmlns:a16="http://schemas.microsoft.com/office/drawing/2014/main" val="10000"/>
                  </a:ext>
                </a:extLst>
              </a:tr>
              <a:tr h="457200">
                <a:tc>
                  <a:txBody>
                    <a:bodyPr/>
                    <a:lstStyle/>
                    <a:p>
                      <a:pPr marL="0" indent="0" algn="l">
                        <a:spcBef>
                          <a:spcPts val="0"/>
                        </a:spcBef>
                        <a:buNone/>
                      </a:pPr>
                      <a:r>
                        <a:rPr lang="en-US" sz="1200" b="1" dirty="0">
                          <a:solidFill>
                            <a:srgbClr val="2E6F95"/>
                          </a:solidFill>
                        </a:rPr>
                        <a:t>FR1*  </a:t>
                      </a:r>
                      <a:r>
                        <a:rPr lang="en-US" sz="1200" dirty="0">
                          <a:solidFill>
                            <a:srgbClr val="1F2A2E"/>
                          </a:solidFill>
                        </a:rPr>
                        <a:t>Generate one reading per active meter every 60 s (configurable 10–3600 s).</a:t>
                      </a:r>
                      <a:endParaRPr lang="en-US" sz="1200" dirty="0"/>
                    </a:p>
                  </a:txBody>
                  <a:tcPr marL="76200" marR="76200" marT="38100" marB="381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2E6F95"/>
                          </a:solidFill>
                        </a:rPr>
                        <a:t>NFR1*  </a:t>
                      </a:r>
                      <a:r>
                        <a:rPr lang="en-US" sz="1200" dirty="0">
                          <a:solidFill>
                            <a:srgbClr val="1F2A2E"/>
                          </a:solidFill>
                        </a:rPr>
                        <a:t>Persist a 1,000-reading bulk POST in under 2 s.</a:t>
                      </a:r>
                      <a:endParaRPr lang="en-US" sz="1200" dirty="0"/>
                    </a:p>
                  </a:txBody>
                  <a:tcPr marL="76200" marR="76200" marT="38100" marB="381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1"/>
                  </a:ext>
                </a:extLst>
              </a:tr>
              <a:tr h="457200">
                <a:tc>
                  <a:txBody>
                    <a:bodyPr/>
                    <a:lstStyle/>
                    <a:p>
                      <a:pPr marL="0" indent="0" algn="l">
                        <a:spcBef>
                          <a:spcPts val="0"/>
                        </a:spcBef>
                        <a:buNone/>
                      </a:pPr>
                      <a:r>
                        <a:rPr lang="en-US" sz="1200" b="1" dirty="0">
                          <a:solidFill>
                            <a:srgbClr val="6B7579"/>
                          </a:solidFill>
                        </a:rPr>
                        <a:t>FR2  </a:t>
                      </a:r>
                      <a:r>
                        <a:rPr lang="en-US" sz="1200" dirty="0">
                          <a:solidFill>
                            <a:srgbClr val="1F2A2E"/>
                          </a:solidFill>
                        </a:rPr>
                        <a:t>Create, edit and delete buildings.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NFR2  </a:t>
                      </a:r>
                      <a:r>
                        <a:rPr lang="en-US" sz="1200" dirty="0">
                          <a:solidFill>
                            <a:srgbClr val="1F2A2E"/>
                          </a:solidFill>
                        </a:rPr>
                        <a:t>30-day reading query for one building returns in under 1 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2"/>
                  </a:ext>
                </a:extLst>
              </a:tr>
              <a:tr h="457200">
                <a:tc>
                  <a:txBody>
                    <a:bodyPr/>
                    <a:lstStyle/>
                    <a:p>
                      <a:pPr marL="0" indent="0" algn="l">
                        <a:spcBef>
                          <a:spcPts val="0"/>
                        </a:spcBef>
                        <a:buNone/>
                      </a:pPr>
                      <a:r>
                        <a:rPr lang="en-US" sz="1200" b="1" dirty="0">
                          <a:solidFill>
                            <a:srgbClr val="6B7579"/>
                          </a:solidFill>
                        </a:rPr>
                        <a:t>FR3  </a:t>
                      </a:r>
                      <a:r>
                        <a:rPr lang="en-US" sz="1200" dirty="0">
                          <a:solidFill>
                            <a:srgbClr val="1F2A2E"/>
                          </a:solidFill>
                        </a:rPr>
                        <a:t>Register meters per building with category and unit.</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NFR3  </a:t>
                      </a:r>
                      <a:r>
                        <a:rPr lang="en-US" sz="1200" dirty="0">
                          <a:solidFill>
                            <a:srgbClr val="1F2A2E"/>
                          </a:solidFill>
                        </a:rPr>
                        <a:t>No reading lost on generator restart (transactional writes).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3"/>
                  </a:ext>
                </a:extLst>
              </a:tr>
              <a:tr h="457200">
                <a:tc>
                  <a:txBody>
                    <a:bodyPr/>
                    <a:lstStyle/>
                    <a:p>
                      <a:pPr marL="0" indent="0" algn="l">
                        <a:spcBef>
                          <a:spcPts val="0"/>
                        </a:spcBef>
                        <a:buNone/>
                      </a:pPr>
                      <a:r>
                        <a:rPr lang="en-US" sz="1200" b="1" dirty="0">
                          <a:solidFill>
                            <a:srgbClr val="6B7579"/>
                          </a:solidFill>
                        </a:rPr>
                        <a:t>FR4  </a:t>
                      </a:r>
                      <a:r>
                        <a:rPr lang="en-US" sz="1200" dirty="0">
                          <a:solidFill>
                            <a:srgbClr val="1F2A2E"/>
                          </a:solidFill>
                        </a:rPr>
                        <a:t>Activate/deactivate meters; inactive meters produce no readings.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NFR4  </a:t>
                      </a:r>
                      <a:r>
                        <a:rPr lang="en-US" sz="1200" dirty="0">
                          <a:solidFill>
                            <a:srgbClr val="1F2A2E"/>
                          </a:solidFill>
                        </a:rPr>
                        <a:t>SQLite in WAL mode for concurrent writes and reads.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4"/>
                  </a:ext>
                </a:extLst>
              </a:tr>
              <a:tr h="457200">
                <a:tc>
                  <a:txBody>
                    <a:bodyPr/>
                    <a:lstStyle/>
                    <a:p>
                      <a:pPr marL="0" indent="0" algn="l">
                        <a:spcBef>
                          <a:spcPts val="0"/>
                        </a:spcBef>
                        <a:buNone/>
                      </a:pPr>
                      <a:r>
                        <a:rPr lang="en-US" sz="1200" b="1" dirty="0">
                          <a:solidFill>
                            <a:srgbClr val="6B7579"/>
                          </a:solidFill>
                        </a:rPr>
                        <a:t>FR5  </a:t>
                      </a:r>
                      <a:r>
                        <a:rPr lang="en-US" sz="1200" dirty="0">
                          <a:solidFill>
                            <a:srgbClr val="1F2A2E"/>
                          </a:solidFill>
                        </a:rPr>
                        <a:t>Start/stop the generator via API.</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NFR5  </a:t>
                      </a:r>
                      <a:r>
                        <a:rPr lang="en-US" sz="1200" dirty="0">
                          <a:solidFill>
                            <a:srgbClr val="1F2A2E"/>
                          </a:solidFill>
                        </a:rPr>
                        <a:t>Timestamps stored in UTC ISO 8601.</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5"/>
                  </a:ext>
                </a:extLst>
              </a:tr>
              <a:tr h="457200">
                <a:tc>
                  <a:txBody>
                    <a:bodyPr/>
                    <a:lstStyle/>
                    <a:p>
                      <a:pPr marL="0" indent="0" algn="l">
                        <a:spcBef>
                          <a:spcPts val="0"/>
                        </a:spcBef>
                        <a:buNone/>
                      </a:pPr>
                      <a:r>
                        <a:rPr lang="en-US" sz="1200" b="1" dirty="0">
                          <a:solidFill>
                            <a:srgbClr val="6B7579"/>
                          </a:solidFill>
                        </a:rPr>
                        <a:t>FR6  </a:t>
                      </a:r>
                      <a:r>
                        <a:rPr lang="en-US" sz="1200" dirty="0">
                          <a:solidFill>
                            <a:srgbClr val="1F2A2E"/>
                          </a:solidFill>
                        </a:rPr>
                        <a:t>Accept bulk reading uploads.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NFR6  </a:t>
                      </a:r>
                      <a:r>
                        <a:rPr lang="en-US" sz="1200" dirty="0">
                          <a:solidFill>
                            <a:srgbClr val="1F2A2E"/>
                          </a:solidFill>
                        </a:rPr>
                        <a:t>Every reading tagged SIMULATED or MANUAL.</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6"/>
                  </a:ext>
                </a:extLst>
              </a:tr>
              <a:tr h="457200">
                <a:tc>
                  <a:txBody>
                    <a:bodyPr/>
                    <a:lstStyle/>
                    <a:p>
                      <a:pPr marL="0" indent="0" algn="l">
                        <a:spcBef>
                          <a:spcPts val="0"/>
                        </a:spcBef>
                        <a:buNone/>
                      </a:pPr>
                      <a:r>
                        <a:rPr lang="en-US" sz="1200" b="1" dirty="0">
                          <a:solidFill>
                            <a:srgbClr val="6B7579"/>
                          </a:solidFill>
                        </a:rPr>
                        <a:t>FR7  </a:t>
                      </a:r>
                      <a:r>
                        <a:rPr lang="en-US" sz="1200" dirty="0">
                          <a:solidFill>
                            <a:srgbClr val="1F2A2E"/>
                          </a:solidFill>
                        </a:rPr>
                        <a:t>Reject readings with negative kWh, future timestamps (&gt;5 min) or unknown meters with HTTP 400.</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NFR7  </a:t>
                      </a:r>
                      <a:r>
                        <a:rPr lang="en-US" sz="1200" dirty="0">
                          <a:solidFill>
                            <a:srgbClr val="1F2A2E"/>
                          </a:solidFill>
                        </a:rPr>
                        <a:t>Test coverage of 80% or more for ingestion.</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7"/>
                  </a:ext>
                </a:extLst>
              </a:tr>
              <a:tr h="457200">
                <a:tc>
                  <a:txBody>
                    <a:bodyPr/>
                    <a:lstStyle/>
                    <a:p>
                      <a:pPr marL="0" indent="0" algn="l">
                        <a:spcBef>
                          <a:spcPts val="0"/>
                        </a:spcBef>
                        <a:buNone/>
                      </a:pPr>
                      <a:r>
                        <a:rPr lang="en-US" sz="1200" b="1" dirty="0">
                          <a:solidFill>
                            <a:srgbClr val="6B7579"/>
                          </a:solidFill>
                        </a:rPr>
                        <a:t>FR8  </a:t>
                      </a:r>
                      <a:r>
                        <a:rPr lang="en-US" sz="1200" dirty="0">
                          <a:solidFill>
                            <a:srgbClr val="1F2A2E"/>
                          </a:solidFill>
                        </a:rPr>
                        <a:t>Query readings by building, meter and time range.</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NFR8  </a:t>
                      </a:r>
                      <a:r>
                        <a:rPr lang="en-US" sz="1200" dirty="0">
                          <a:solidFill>
                            <a:srgbClr val="1F2A2E"/>
                          </a:solidFill>
                        </a:rPr>
                        <a:t>Only the building owner can access its data (403 otherwise).</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8"/>
                  </a:ext>
                </a:extLst>
              </a:tr>
              <a:tr h="457200">
                <a:tc>
                  <a:txBody>
                    <a:bodyPr/>
                    <a:lstStyle/>
                    <a:p>
                      <a:pPr marL="0" indent="0" algn="l">
                        <a:spcBef>
                          <a:spcPts val="0"/>
                        </a:spcBef>
                        <a:buNone/>
                      </a:pPr>
                      <a:r>
                        <a:rPr lang="en-US" sz="1200" b="1" dirty="0">
                          <a:solidFill>
                            <a:srgbClr val="6B7579"/>
                          </a:solidFill>
                        </a:rPr>
                        <a:t>FR9  </a:t>
                      </a:r>
                      <a:r>
                        <a:rPr lang="en-US" sz="1200" dirty="0">
                          <a:solidFill>
                            <a:srgbClr val="1F2A2E"/>
                          </a:solidFill>
                        </a:rPr>
                        <a:t>Aggregate raw readings older than 90 days into daily totals.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NFR9  </a:t>
                      </a:r>
                      <a:r>
                        <a:rPr lang="en-US" sz="1200" dirty="0">
                          <a:solidFill>
                            <a:srgbClr val="1F2A2E"/>
                          </a:solidFill>
                        </a:rPr>
                        <a:t>Schema changes only through Django migrations.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9"/>
                  </a:ext>
                </a:extLst>
              </a:tr>
              <a:tr h="457200">
                <a:tc>
                  <a:txBody>
                    <a:bodyPr/>
                    <a:lstStyle/>
                    <a:p>
                      <a:pPr marL="0" indent="0" algn="l">
                        <a:spcBef>
                          <a:spcPts val="0"/>
                        </a:spcBef>
                        <a:buNone/>
                      </a:pPr>
                      <a:r>
                        <a:rPr lang="en-US" sz="1200" b="1" dirty="0">
                          <a:solidFill>
                            <a:srgbClr val="6B7579"/>
                          </a:solidFill>
                        </a:rPr>
                        <a:t>FR10  </a:t>
                      </a:r>
                      <a:r>
                        <a:rPr lang="en-US" sz="1200" dirty="0">
                          <a:solidFill>
                            <a:srgbClr val="1F2A2E"/>
                          </a:solidFill>
                        </a:rPr>
                        <a:t>Export readings for a range as CSV.</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NFR10  </a:t>
                      </a:r>
                      <a:r>
                        <a:rPr lang="en-US" sz="1200" dirty="0">
                          <a:solidFill>
                            <a:srgbClr val="1F2A2E"/>
                          </a:solidFill>
                        </a:rPr>
                        <a:t>Storage under 50 MB per building-year after aggregation.</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10"/>
                  </a:ext>
                </a:extLst>
              </a:tr>
            </a:tbl>
          </a:graphicData>
        </a:graphic>
      </p:graphicFrame>
      <p:sp>
        <p:nvSpPr>
          <p:cNvPr id="202" name="Shape 202"/>
          <p:cNvSpPr txBox="1"/>
          <p:nvPr/>
        </p:nvSpPr>
        <p:spPr>
          <a:xfrm>
            <a:off x="457200" y="6350000"/>
            <a:ext cx="112776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 shown on the main S1 slide</a:t>
            </a:r>
            <a:endParaRPr lang="en-US" sz="1100" dirty="0"/>
          </a:p>
        </p:txBody>
      </p:sp>
    </p:spTree>
    <p:extLst>
      <p:ext uri="{BB962C8B-B14F-4D97-AF65-F5344CB8AC3E}">
        <p14:creationId xmlns:p14="http://schemas.microsoft.com/office/powerpoint/2010/main" val="1843725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D4439-C39A-596D-C3B2-ABE8A8FC28F5}"/>
              </a:ext>
            </a:extLst>
          </p:cNvPr>
          <p:cNvSpPr>
            <a:spLocks noGrp="1"/>
          </p:cNvSpPr>
          <p:nvPr>
            <p:ph type="title"/>
          </p:nvPr>
        </p:nvSpPr>
        <p:spPr/>
        <p:txBody>
          <a:bodyPr/>
          <a:lstStyle/>
          <a:p>
            <a:pPr algn="l"/>
            <a:r>
              <a:rPr lang="en-US" sz="3200" b="1" dirty="0"/>
              <a:t>A2 · S2 Energy Analysis requirements</a:t>
            </a:r>
          </a:p>
        </p:txBody>
      </p:sp>
      <p:sp>
        <p:nvSpPr>
          <p:cNvPr id="200" name="Subsystem bar"/>
          <p:cNvSpPr/>
          <p:nvPr/>
        </p:nvSpPr>
        <p:spPr>
          <a:xfrm>
            <a:off x="457200" y="304800"/>
            <a:ext cx="711200" cy="63500"/>
          </a:xfrm>
          <a:prstGeom prst="rect">
            <a:avLst/>
          </a:prstGeom>
          <a:solidFill>
            <a:srgbClr val="0F7B6C"/>
          </a:solidFill>
          <a:ln>
            <a:noFill/>
          </a:ln>
        </p:spPr>
        <p:txBody>
          <a:bodyPr wrap="square" lIns="50800" tIns="50800" rIns="50800" bIns="50800" rtlCol="0" anchor="t">
            <a:noAutofit/>
          </a:bodyPr>
          <a:lstStyle/>
          <a:p>
            <a:endParaRPr lang="en-US" dirty="0"/>
          </a:p>
        </p:txBody>
      </p:sp>
      <p:graphicFrame>
        <p:nvGraphicFramePr>
          <p:cNvPr id="201" name="Table 201"/>
          <p:cNvGraphicFramePr>
            <a:graphicFrameLocks noGrp="1"/>
          </p:cNvGraphicFramePr>
          <p:nvPr/>
        </p:nvGraphicFramePr>
        <p:xfrm>
          <a:off x="457200" y="1244600"/>
          <a:ext cx="11277600" cy="4876800"/>
        </p:xfrm>
        <a:graphic>
          <a:graphicData uri="http://schemas.openxmlformats.org/drawingml/2006/table">
            <a:tbl>
              <a:tblPr firstRow="1"/>
              <a:tblGrid>
                <a:gridCol w="5638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04800">
                <a:tc>
                  <a:txBody>
                    <a:bodyPr/>
                    <a:lstStyle/>
                    <a:p>
                      <a:pPr marL="0" indent="0" algn="l">
                        <a:spcBef>
                          <a:spcPts val="0"/>
                        </a:spcBef>
                        <a:buNone/>
                      </a:pPr>
                      <a:r>
                        <a:rPr lang="en-US" sz="1200" b="1" dirty="0">
                          <a:solidFill>
                            <a:srgbClr val="1F2A2E"/>
                          </a:solidFill>
                        </a:rPr>
                        <a:t>Functional (FR)</a:t>
                      </a:r>
                      <a:endParaRPr lang="en-US" sz="1200" dirty="0"/>
                    </a:p>
                  </a:txBody>
                  <a:tcPr marL="76200" marR="76200" marT="38100" marB="38100" anchor="ctr">
                    <a:lnL w="0">
                      <a:noFill/>
                    </a:lnL>
                    <a:lnR w="0">
                      <a:noFill/>
                    </a:lnR>
                    <a:lnT w="0">
                      <a:noFill/>
                    </a:lnT>
                    <a:lnB w="15875">
                      <a:solidFill>
                        <a:srgbClr val="6B7579"/>
                      </a:solidFill>
                    </a:lnB>
                    <a:noFill/>
                  </a:tcPr>
                </a:tc>
                <a:tc>
                  <a:txBody>
                    <a:bodyPr/>
                    <a:lstStyle/>
                    <a:p>
                      <a:pPr marL="0" indent="0" algn="l">
                        <a:spcBef>
                          <a:spcPts val="0"/>
                        </a:spcBef>
                        <a:buNone/>
                      </a:pPr>
                      <a:r>
                        <a:rPr lang="en-US" sz="1200" b="1" dirty="0">
                          <a:solidFill>
                            <a:srgbClr val="1F2A2E"/>
                          </a:solidFill>
                        </a:rPr>
                        <a:t>Non-functional (NFR)</a:t>
                      </a:r>
                      <a:endParaRPr lang="en-US" sz="1200" dirty="0"/>
                    </a:p>
                  </a:txBody>
                  <a:tcPr marL="76200" marR="76200" marT="38100" marB="38100" anchor="ctr">
                    <a:lnL w="0">
                      <a:noFill/>
                    </a:lnL>
                    <a:lnR w="0">
                      <a:noFill/>
                    </a:lnR>
                    <a:lnT w="0">
                      <a:noFill/>
                    </a:lnT>
                    <a:lnB w="15875">
                      <a:solidFill>
                        <a:srgbClr val="6B7579"/>
                      </a:solidFill>
                    </a:lnB>
                    <a:noFill/>
                  </a:tcPr>
                </a:tc>
                <a:extLst>
                  <a:ext uri="{0D108BD9-81ED-4DB2-BD59-A6C34878D82A}">
                    <a16:rowId xmlns:a16="http://schemas.microsoft.com/office/drawing/2014/main" val="10000"/>
                  </a:ext>
                </a:extLst>
              </a:tr>
              <a:tr h="457200">
                <a:tc>
                  <a:txBody>
                    <a:bodyPr/>
                    <a:lstStyle/>
                    <a:p>
                      <a:pPr marL="0" indent="0" algn="l">
                        <a:spcBef>
                          <a:spcPts val="0"/>
                        </a:spcBef>
                        <a:buNone/>
                      </a:pPr>
                      <a:r>
                        <a:rPr lang="en-US" sz="1200" b="1" dirty="0">
                          <a:solidFill>
                            <a:srgbClr val="6B7579"/>
                          </a:solidFill>
                        </a:rPr>
                        <a:t>FR1  </a:t>
                      </a:r>
                      <a:r>
                        <a:rPr lang="en-US" sz="1200" dirty="0">
                          <a:solidFill>
                            <a:srgbClr val="1F2A2E"/>
                          </a:solidFill>
                        </a:rPr>
                        <a:t>Total kWh per day/week/month.</a:t>
                      </a:r>
                      <a:endParaRPr lang="en-US" sz="1200" dirty="0"/>
                    </a:p>
                  </a:txBody>
                  <a:tcPr marL="76200" marR="76200" marT="38100" marB="381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0F7B6C"/>
                          </a:solidFill>
                        </a:rPr>
                        <a:t>NFR1*  </a:t>
                      </a:r>
                      <a:r>
                        <a:rPr lang="en-US" sz="1200" dirty="0">
                          <a:solidFill>
                            <a:srgbClr val="1F2A2E"/>
                          </a:solidFill>
                        </a:rPr>
                        <a:t>Analyse 30 days of 1-minute data in under 5 s.</a:t>
                      </a:r>
                      <a:endParaRPr lang="en-US" sz="1200" dirty="0"/>
                    </a:p>
                  </a:txBody>
                  <a:tcPr marL="76200" marR="76200" marT="38100" marB="381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1"/>
                  </a:ext>
                </a:extLst>
              </a:tr>
              <a:tr h="457200">
                <a:tc>
                  <a:txBody>
                    <a:bodyPr/>
                    <a:lstStyle/>
                    <a:p>
                      <a:pPr marL="0" indent="0" algn="l">
                        <a:spcBef>
                          <a:spcPts val="0"/>
                        </a:spcBef>
                        <a:buNone/>
                      </a:pPr>
                      <a:r>
                        <a:rPr lang="en-US" sz="1200" b="1" dirty="0">
                          <a:solidFill>
                            <a:srgbClr val="6B7579"/>
                          </a:solidFill>
                        </a:rPr>
                        <a:t>FR2  </a:t>
                      </a:r>
                      <a:r>
                        <a:rPr lang="en-US" sz="1200" dirty="0">
                          <a:solidFill>
                            <a:srgbClr val="1F2A2E"/>
                          </a:solidFill>
                        </a:rPr>
                        <a:t>Peak kW and timestamp.</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NFR2  </a:t>
                      </a:r>
                      <a:r>
                        <a:rPr lang="en-US" sz="1200" dirty="0">
                          <a:solidFill>
                            <a:srgbClr val="1F2A2E"/>
                          </a:solidFill>
                        </a:rPr>
                        <a:t>Same input gives identical output.</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2"/>
                  </a:ext>
                </a:extLst>
              </a:tr>
              <a:tr h="457200">
                <a:tc>
                  <a:txBody>
                    <a:bodyPr/>
                    <a:lstStyle/>
                    <a:p>
                      <a:pPr marL="0" indent="0" algn="l">
                        <a:spcBef>
                          <a:spcPts val="0"/>
                        </a:spcBef>
                        <a:buNone/>
                      </a:pPr>
                      <a:r>
                        <a:rPr lang="en-US" sz="1200" b="1" dirty="0">
                          <a:solidFill>
                            <a:srgbClr val="6B7579"/>
                          </a:solidFill>
                        </a:rPr>
                        <a:t>FR3  </a:t>
                      </a:r>
                      <a:r>
                        <a:rPr lang="en-US" sz="1200" dirty="0">
                          <a:solidFill>
                            <a:srgbClr val="1F2A2E"/>
                          </a:solidFill>
                        </a:rPr>
                        <a:t>Breakdown by meter category.</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NFR3  </a:t>
                      </a:r>
                      <a:r>
                        <a:rPr lang="en-US" sz="1200" dirty="0">
                          <a:solidFill>
                            <a:srgbClr val="1F2A2E"/>
                          </a:solidFill>
                        </a:rPr>
                        <a:t>Results within 0.1% of hand-calculated test data.</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3"/>
                  </a:ext>
                </a:extLst>
              </a:tr>
              <a:tr h="457200">
                <a:tc>
                  <a:txBody>
                    <a:bodyPr/>
                    <a:lstStyle/>
                    <a:p>
                      <a:pPr marL="0" indent="0" algn="l">
                        <a:spcBef>
                          <a:spcPts val="0"/>
                        </a:spcBef>
                        <a:buNone/>
                      </a:pPr>
                      <a:r>
                        <a:rPr lang="en-US" sz="1200" b="1" dirty="0">
                          <a:solidFill>
                            <a:srgbClr val="6B7579"/>
                          </a:solidFill>
                        </a:rPr>
                        <a:t>FR4  </a:t>
                      </a:r>
                      <a:r>
                        <a:rPr lang="en-US" sz="1200" dirty="0">
                          <a:solidFill>
                            <a:srgbClr val="1F2A2E"/>
                          </a:solidFill>
                        </a:rPr>
                        <a:t>Cost estimate from tariff.</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NFR4  </a:t>
                      </a:r>
                      <a:r>
                        <a:rPr lang="en-US" sz="1200" dirty="0">
                          <a:solidFill>
                            <a:srgbClr val="1F2A2E"/>
                          </a:solidFill>
                        </a:rPr>
                        <a:t>Emission factors editable without code changes, with source and valid_from.</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4"/>
                  </a:ext>
                </a:extLst>
              </a:tr>
              <a:tr h="457200">
                <a:tc>
                  <a:txBody>
                    <a:bodyPr/>
                    <a:lstStyle/>
                    <a:p>
                      <a:pPr marL="0" indent="0" algn="l">
                        <a:spcBef>
                          <a:spcPts val="0"/>
                        </a:spcBef>
                        <a:buNone/>
                      </a:pPr>
                      <a:r>
                        <a:rPr lang="en-US" sz="1200" b="1" dirty="0">
                          <a:solidFill>
                            <a:srgbClr val="0F7B6C"/>
                          </a:solidFill>
                        </a:rPr>
                        <a:t>FR5*  </a:t>
                      </a:r>
                      <a:r>
                        <a:rPr lang="en-US" sz="1200" dirty="0">
                          <a:solidFill>
                            <a:srgbClr val="1F2A2E"/>
                          </a:solidFill>
                        </a:rPr>
                        <a:t>Convert kWh to kg CO2 with the region's emission factor.</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NFR5  </a:t>
                      </a:r>
                      <a:r>
                        <a:rPr lang="en-US" sz="1200" dirty="0">
                          <a:solidFill>
                            <a:srgbClr val="1F2A2E"/>
                          </a:solidFill>
                        </a:rPr>
                        <a:t>Anomaly threshold configurable 10–100%.</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5"/>
                  </a:ext>
                </a:extLst>
              </a:tr>
              <a:tr h="457200">
                <a:tc>
                  <a:txBody>
                    <a:bodyPr/>
                    <a:lstStyle/>
                    <a:p>
                      <a:pPr marL="0" indent="0" algn="l">
                        <a:spcBef>
                          <a:spcPts val="0"/>
                        </a:spcBef>
                        <a:buNone/>
                      </a:pPr>
                      <a:r>
                        <a:rPr lang="en-US" sz="1200" b="1" dirty="0">
                          <a:solidFill>
                            <a:srgbClr val="6B7579"/>
                          </a:solidFill>
                        </a:rPr>
                        <a:t>FR6  </a:t>
                      </a:r>
                      <a:r>
                        <a:rPr lang="en-US" sz="1200" dirty="0">
                          <a:solidFill>
                            <a:srgbClr val="1F2A2E"/>
                          </a:solidFill>
                        </a:rPr>
                        <a:t>Efficiency score 0–100 from kWh/m² against baseline.</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NFR6  </a:t>
                      </a:r>
                      <a:r>
                        <a:rPr lang="en-US" sz="1200" dirty="0">
                          <a:solidFill>
                            <a:srgbClr val="1F2A2E"/>
                          </a:solidFill>
                        </a:rPr>
                        <a:t>Never modifies EnergyReading.</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6"/>
                  </a:ext>
                </a:extLst>
              </a:tr>
              <a:tr h="457200">
                <a:tc>
                  <a:txBody>
                    <a:bodyPr/>
                    <a:lstStyle/>
                    <a:p>
                      <a:pPr marL="0" indent="0" algn="l">
                        <a:spcBef>
                          <a:spcPts val="0"/>
                        </a:spcBef>
                        <a:buNone/>
                      </a:pPr>
                      <a:r>
                        <a:rPr lang="en-US" sz="1200" b="1" dirty="0">
                          <a:solidFill>
                            <a:srgbClr val="6B7579"/>
                          </a:solidFill>
                        </a:rPr>
                        <a:t>FR7  </a:t>
                      </a:r>
                      <a:r>
                        <a:rPr lang="en-US" sz="1200" dirty="0">
                          <a:solidFill>
                            <a:srgbClr val="1F2A2E"/>
                          </a:solidFill>
                        </a:rPr>
                        <a:t>Flag readings deviating &gt;30% from the 7-day same-hour mean.</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NFR7  </a:t>
                      </a:r>
                      <a:r>
                        <a:rPr lang="en-US" sz="1200" dirty="0">
                          <a:solidFill>
                            <a:srgbClr val="1F2A2E"/>
                          </a:solidFill>
                        </a:rPr>
                        <a:t>Failed runs logged, no partial results saved.</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7"/>
                  </a:ext>
                </a:extLst>
              </a:tr>
              <a:tr h="457200">
                <a:tc>
                  <a:txBody>
                    <a:bodyPr/>
                    <a:lstStyle/>
                    <a:p>
                      <a:pPr marL="0" indent="0" algn="l">
                        <a:spcBef>
                          <a:spcPts val="0"/>
                        </a:spcBef>
                        <a:buNone/>
                      </a:pPr>
                      <a:r>
                        <a:rPr lang="en-US" sz="1200" b="1" dirty="0">
                          <a:solidFill>
                            <a:srgbClr val="6B7579"/>
                          </a:solidFill>
                        </a:rPr>
                        <a:t>FR8  </a:t>
                      </a:r>
                      <a:r>
                        <a:rPr lang="en-US" sz="1200" dirty="0">
                          <a:solidFill>
                            <a:srgbClr val="1F2A2E"/>
                          </a:solidFill>
                        </a:rPr>
                        <a:t>% change against the previous period.</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NFR8  </a:t>
                      </a:r>
                      <a:r>
                        <a:rPr lang="en-US" sz="1200" dirty="0">
                          <a:solidFill>
                            <a:srgbClr val="1F2A2E"/>
                          </a:solidFill>
                        </a:rPr>
                        <a:t>Formulas documented in code.</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8"/>
                  </a:ext>
                </a:extLst>
              </a:tr>
              <a:tr h="457200">
                <a:tc>
                  <a:txBody>
                    <a:bodyPr/>
                    <a:lstStyle/>
                    <a:p>
                      <a:pPr marL="0" indent="0" algn="l">
                        <a:spcBef>
                          <a:spcPts val="0"/>
                        </a:spcBef>
                        <a:buNone/>
                      </a:pPr>
                      <a:r>
                        <a:rPr lang="en-US" sz="1200" b="1" dirty="0">
                          <a:solidFill>
                            <a:srgbClr val="6B7579"/>
                          </a:solidFill>
                        </a:rPr>
                        <a:t>FR9  </a:t>
                      </a:r>
                      <a:r>
                        <a:rPr lang="en-US" sz="1200" dirty="0">
                          <a:solidFill>
                            <a:srgbClr val="1F2A2E"/>
                          </a:solidFill>
                        </a:rPr>
                        <a:t>Save each run as an AnalysisResult.</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NFR9  </a:t>
                      </a:r>
                      <a:r>
                        <a:rPr lang="en-US" sz="1200" dirty="0">
                          <a:solidFill>
                            <a:srgbClr val="1F2A2E"/>
                          </a:solidFill>
                        </a:rPr>
                        <a:t>Test coverage of 80% or more.</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9"/>
                  </a:ext>
                </a:extLst>
              </a:tr>
              <a:tr h="457200">
                <a:tc>
                  <a:txBody>
                    <a:bodyPr/>
                    <a:lstStyle/>
                    <a:p>
                      <a:pPr marL="0" indent="0" algn="l">
                        <a:spcBef>
                          <a:spcPts val="0"/>
                        </a:spcBef>
                        <a:buNone/>
                      </a:pPr>
                      <a:r>
                        <a:rPr lang="en-US" sz="1200" b="1" dirty="0">
                          <a:solidFill>
                            <a:srgbClr val="6B7579"/>
                          </a:solidFill>
                        </a:rPr>
                        <a:t>FR10  </a:t>
                      </a:r>
                      <a:r>
                        <a:rPr lang="en-US" sz="1200" dirty="0">
                          <a:solidFill>
                            <a:srgbClr val="1F2A2E"/>
                          </a:solidFill>
                        </a:rPr>
                        <a:t>Run nightly at 02:00 and on demand.</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NFR10  </a:t>
                      </a:r>
                      <a:r>
                        <a:rPr lang="en-US" sz="1200" dirty="0">
                          <a:solidFill>
                            <a:srgbClr val="1F2A2E"/>
                          </a:solidFill>
                        </a:rPr>
                        <a:t>Responses documented in OpenAPI.</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10"/>
                  </a:ext>
                </a:extLst>
              </a:tr>
            </a:tbl>
          </a:graphicData>
        </a:graphic>
      </p:graphicFrame>
      <p:sp>
        <p:nvSpPr>
          <p:cNvPr id="202" name="Shape 202"/>
          <p:cNvSpPr txBox="1"/>
          <p:nvPr/>
        </p:nvSpPr>
        <p:spPr>
          <a:xfrm>
            <a:off x="457200" y="6350000"/>
            <a:ext cx="112776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 shown on the main S2 slide</a:t>
            </a:r>
            <a:endParaRPr lang="en-US" sz="1100" dirty="0"/>
          </a:p>
        </p:txBody>
      </p:sp>
    </p:spTree>
    <p:extLst>
      <p:ext uri="{BB962C8B-B14F-4D97-AF65-F5344CB8AC3E}">
        <p14:creationId xmlns:p14="http://schemas.microsoft.com/office/powerpoint/2010/main" val="1156091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43365-EEB9-CA28-45F9-A816CBC2F2F4}"/>
              </a:ext>
            </a:extLst>
          </p:cNvPr>
          <p:cNvSpPr>
            <a:spLocks noGrp="1"/>
          </p:cNvSpPr>
          <p:nvPr>
            <p:ph type="title"/>
          </p:nvPr>
        </p:nvSpPr>
        <p:spPr/>
        <p:txBody>
          <a:bodyPr/>
          <a:lstStyle/>
          <a:p>
            <a:pPr algn="l"/>
            <a:r>
              <a:rPr lang="en-US" sz="3200" b="1" dirty="0"/>
              <a:t>A3 · S3 AI Sustainability Coach requirements</a:t>
            </a:r>
          </a:p>
        </p:txBody>
      </p:sp>
      <p:sp>
        <p:nvSpPr>
          <p:cNvPr id="200" name="Subsystem bar"/>
          <p:cNvSpPr/>
          <p:nvPr/>
        </p:nvSpPr>
        <p:spPr>
          <a:xfrm>
            <a:off x="457200" y="304800"/>
            <a:ext cx="711200" cy="63500"/>
          </a:xfrm>
          <a:prstGeom prst="rect">
            <a:avLst/>
          </a:prstGeom>
          <a:solidFill>
            <a:srgbClr val="7A5BA6"/>
          </a:solidFill>
          <a:ln>
            <a:noFill/>
          </a:ln>
        </p:spPr>
        <p:txBody>
          <a:bodyPr wrap="square" lIns="50800" tIns="50800" rIns="50800" bIns="50800" rtlCol="0" anchor="t">
            <a:noAutofit/>
          </a:bodyPr>
          <a:lstStyle/>
          <a:p>
            <a:endParaRPr lang="en-US" dirty="0"/>
          </a:p>
        </p:txBody>
      </p:sp>
      <p:graphicFrame>
        <p:nvGraphicFramePr>
          <p:cNvPr id="201" name="Table 201"/>
          <p:cNvGraphicFramePr>
            <a:graphicFrameLocks noGrp="1"/>
          </p:cNvGraphicFramePr>
          <p:nvPr/>
        </p:nvGraphicFramePr>
        <p:xfrm>
          <a:off x="457200" y="1244600"/>
          <a:ext cx="11277600" cy="4876800"/>
        </p:xfrm>
        <a:graphic>
          <a:graphicData uri="http://schemas.openxmlformats.org/drawingml/2006/table">
            <a:tbl>
              <a:tblPr firstRow="1"/>
              <a:tblGrid>
                <a:gridCol w="5638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04800">
                <a:tc>
                  <a:txBody>
                    <a:bodyPr/>
                    <a:lstStyle/>
                    <a:p>
                      <a:pPr marL="0" indent="0" algn="l">
                        <a:spcBef>
                          <a:spcPts val="0"/>
                        </a:spcBef>
                        <a:buNone/>
                      </a:pPr>
                      <a:r>
                        <a:rPr lang="en-US" sz="1200" b="1" dirty="0">
                          <a:solidFill>
                            <a:srgbClr val="1F2A2E"/>
                          </a:solidFill>
                        </a:rPr>
                        <a:t>Functional (FR)</a:t>
                      </a:r>
                      <a:endParaRPr lang="en-US" sz="1200" dirty="0"/>
                    </a:p>
                  </a:txBody>
                  <a:tcPr marL="76200" marR="76200" marT="38100" marB="38100" anchor="ctr">
                    <a:lnL w="0">
                      <a:noFill/>
                    </a:lnL>
                    <a:lnR w="0">
                      <a:noFill/>
                    </a:lnR>
                    <a:lnT w="0">
                      <a:noFill/>
                    </a:lnT>
                    <a:lnB w="15875">
                      <a:solidFill>
                        <a:srgbClr val="6B7579"/>
                      </a:solidFill>
                    </a:lnB>
                    <a:noFill/>
                  </a:tcPr>
                </a:tc>
                <a:tc>
                  <a:txBody>
                    <a:bodyPr/>
                    <a:lstStyle/>
                    <a:p>
                      <a:pPr marL="0" indent="0" algn="l">
                        <a:spcBef>
                          <a:spcPts val="0"/>
                        </a:spcBef>
                        <a:buNone/>
                      </a:pPr>
                      <a:r>
                        <a:rPr lang="en-US" sz="1200" b="1" dirty="0">
                          <a:solidFill>
                            <a:srgbClr val="1F2A2E"/>
                          </a:solidFill>
                        </a:rPr>
                        <a:t>Non-functional (NFR)</a:t>
                      </a:r>
                      <a:endParaRPr lang="en-US" sz="1200" dirty="0"/>
                    </a:p>
                  </a:txBody>
                  <a:tcPr marL="76200" marR="76200" marT="38100" marB="38100" anchor="ctr">
                    <a:lnL w="0">
                      <a:noFill/>
                    </a:lnL>
                    <a:lnR w="0">
                      <a:noFill/>
                    </a:lnR>
                    <a:lnT w="0">
                      <a:noFill/>
                    </a:lnT>
                    <a:lnB w="15875">
                      <a:solidFill>
                        <a:srgbClr val="6B7579"/>
                      </a:solidFill>
                    </a:lnB>
                    <a:noFill/>
                  </a:tcPr>
                </a:tc>
                <a:extLst>
                  <a:ext uri="{0D108BD9-81ED-4DB2-BD59-A6C34878D82A}">
                    <a16:rowId xmlns:a16="http://schemas.microsoft.com/office/drawing/2014/main" val="10000"/>
                  </a:ext>
                </a:extLst>
              </a:tr>
              <a:tr h="457200">
                <a:tc>
                  <a:txBody>
                    <a:bodyPr/>
                    <a:lstStyle/>
                    <a:p>
                      <a:pPr marL="0" indent="0" algn="l">
                        <a:spcBef>
                          <a:spcPts val="0"/>
                        </a:spcBef>
                        <a:buNone/>
                      </a:pPr>
                      <a:r>
                        <a:rPr lang="en-US" sz="1200" b="1" dirty="0">
                          <a:solidFill>
                            <a:srgbClr val="7A5BA6"/>
                          </a:solidFill>
                        </a:rPr>
                        <a:t>FR1*  </a:t>
                      </a:r>
                      <a:r>
                        <a:rPr lang="en-US" sz="1200" dirty="0">
                          <a:solidFill>
                            <a:srgbClr val="1F2A2E"/>
                          </a:solidFill>
                        </a:rPr>
                        <a:t>Generate 3–5 recommendations per analysis.</a:t>
                      </a:r>
                      <a:endParaRPr lang="en-US" sz="1200" dirty="0"/>
                    </a:p>
                  </a:txBody>
                  <a:tcPr marL="76200" marR="76200" marT="38100" marB="381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7A5BA6"/>
                          </a:solidFill>
                        </a:rPr>
                        <a:t>NFR1*  </a:t>
                      </a:r>
                      <a:r>
                        <a:rPr lang="en-US" sz="1200" dirty="0">
                          <a:solidFill>
                            <a:srgbClr val="1F2A2E"/>
                          </a:solidFill>
                        </a:rPr>
                        <a:t>15 s timeout, then fallback.</a:t>
                      </a:r>
                      <a:endParaRPr lang="en-US" sz="1200" dirty="0"/>
                    </a:p>
                  </a:txBody>
                  <a:tcPr marL="76200" marR="76200" marT="38100" marB="381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1"/>
                  </a:ext>
                </a:extLst>
              </a:tr>
              <a:tr h="457200">
                <a:tc>
                  <a:txBody>
                    <a:bodyPr/>
                    <a:lstStyle/>
                    <a:p>
                      <a:pPr marL="0" indent="0" algn="l">
                        <a:spcBef>
                          <a:spcPts val="0"/>
                        </a:spcBef>
                        <a:buNone/>
                      </a:pPr>
                      <a:r>
                        <a:rPr lang="en-US" sz="1200" b="1" dirty="0">
                          <a:solidFill>
                            <a:srgbClr val="6B7579"/>
                          </a:solidFill>
                        </a:rPr>
                        <a:t>FR2  </a:t>
                      </a:r>
                      <a:r>
                        <a:rPr lang="en-US" sz="1200" dirty="0">
                          <a:solidFill>
                            <a:srgbClr val="1F2A2E"/>
                          </a:solidFill>
                        </a:rPr>
                        <a:t>Each has title, description, category, kWh saving, priority.</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NFR2  </a:t>
                      </a:r>
                      <a:r>
                        <a:rPr lang="en-US" sz="1200" dirty="0">
                          <a:solidFill>
                            <a:srgbClr val="1F2A2E"/>
                          </a:solidFill>
                        </a:rPr>
                        <a:t>API key only in a server environment variable.</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2"/>
                  </a:ext>
                </a:extLst>
              </a:tr>
              <a:tr h="457200">
                <a:tc>
                  <a:txBody>
                    <a:bodyPr/>
                    <a:lstStyle/>
                    <a:p>
                      <a:pPr marL="0" indent="0" algn="l">
                        <a:spcBef>
                          <a:spcPts val="0"/>
                        </a:spcBef>
                        <a:buNone/>
                      </a:pPr>
                      <a:r>
                        <a:rPr lang="en-US" sz="1200" b="1" dirty="0">
                          <a:solidFill>
                            <a:srgbClr val="6B7579"/>
                          </a:solidFill>
                        </a:rPr>
                        <a:t>FR3  </a:t>
                      </a:r>
                      <a:r>
                        <a:rPr lang="en-US" sz="1200" dirty="0">
                          <a:solidFill>
                            <a:srgbClr val="1F2A2E"/>
                          </a:solidFill>
                        </a:rPr>
                        <a:t>Prompt contains only aggregated metrics, no personal data.</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NFR3  </a:t>
                      </a:r>
                      <a:r>
                        <a:rPr lang="en-US" sz="1200" dirty="0">
                          <a:solidFill>
                            <a:srgbClr val="1F2A2E"/>
                          </a:solidFill>
                        </a:rPr>
                        <a:t>At most 50 LLM calls per day (configurable).</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3"/>
                  </a:ext>
                </a:extLst>
              </a:tr>
              <a:tr h="457200">
                <a:tc>
                  <a:txBody>
                    <a:bodyPr/>
                    <a:lstStyle/>
                    <a:p>
                      <a:pPr marL="0" indent="0" algn="l">
                        <a:spcBef>
                          <a:spcPts val="0"/>
                        </a:spcBef>
                        <a:buNone/>
                      </a:pPr>
                      <a:r>
                        <a:rPr lang="en-US" sz="1200" b="1" dirty="0">
                          <a:solidFill>
                            <a:srgbClr val="6B7579"/>
                          </a:solidFill>
                        </a:rPr>
                        <a:t>FR4  </a:t>
                      </a:r>
                      <a:r>
                        <a:rPr lang="en-US" sz="1200" dirty="0">
                          <a:solidFill>
                            <a:srgbClr val="1F2A2E"/>
                          </a:solidFill>
                        </a:rPr>
                        <a:t>Reject model output that fails JSON schema validation.</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NFR4  </a:t>
                      </a:r>
                      <a:r>
                        <a:rPr lang="en-US" sz="1200" dirty="0">
                          <a:solidFill>
                            <a:srgbClr val="1F2A2E"/>
                          </a:solidFill>
                        </a:rPr>
                        <a:t>Recommendations labelled "AI-generated".</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4"/>
                  </a:ext>
                </a:extLst>
              </a:tr>
              <a:tr h="457200">
                <a:tc>
                  <a:txBody>
                    <a:bodyPr/>
                    <a:lstStyle/>
                    <a:p>
                      <a:pPr marL="0" indent="0" algn="l">
                        <a:spcBef>
                          <a:spcPts val="0"/>
                        </a:spcBef>
                        <a:buNone/>
                      </a:pPr>
                      <a:r>
                        <a:rPr lang="en-US" sz="1200" b="1" dirty="0">
                          <a:solidFill>
                            <a:srgbClr val="6B7579"/>
                          </a:solidFill>
                        </a:rPr>
                        <a:t>FR5  </a:t>
                      </a:r>
                      <a:r>
                        <a:rPr lang="en-US" sz="1200" dirty="0">
                          <a:solidFill>
                            <a:srgbClr val="1F2A2E"/>
                          </a:solidFill>
                        </a:rPr>
                        <a:t>Fall back to rule-based tips on API failure, marked is_fallback.</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NFR5  </a:t>
                      </a:r>
                      <a:r>
                        <a:rPr lang="en-US" sz="1200" dirty="0">
                          <a:solidFill>
                            <a:srgbClr val="1F2A2E"/>
                          </a:solidFill>
                        </a:rPr>
                        <a:t>Prompt templates versioned.</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5"/>
                  </a:ext>
                </a:extLst>
              </a:tr>
              <a:tr h="457200">
                <a:tc>
                  <a:txBody>
                    <a:bodyPr/>
                    <a:lstStyle/>
                    <a:p>
                      <a:pPr marL="0" indent="0" algn="l">
                        <a:spcBef>
                          <a:spcPts val="0"/>
                        </a:spcBef>
                        <a:buNone/>
                      </a:pPr>
                      <a:r>
                        <a:rPr lang="en-US" sz="1200" b="1" dirty="0">
                          <a:solidFill>
                            <a:srgbClr val="6B7579"/>
                          </a:solidFill>
                        </a:rPr>
                        <a:t>FR6  </a:t>
                      </a:r>
                      <a:r>
                        <a:rPr lang="en-US" sz="1200" dirty="0">
                          <a:solidFill>
                            <a:srgbClr val="1F2A2E"/>
                          </a:solidFill>
                        </a:rPr>
                        <a:t>User can accept, dismiss or mark implemented.</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NFR6  </a:t>
                      </a:r>
                      <a:r>
                        <a:rPr lang="en-US" sz="1200" dirty="0">
                          <a:solidFill>
                            <a:srgbClr val="1F2A2E"/>
                          </a:solidFill>
                        </a:rPr>
                        <a:t>Estimated saving capped at 50% of category consumption.</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6"/>
                  </a:ext>
                </a:extLst>
              </a:tr>
              <a:tr h="457200">
                <a:tc>
                  <a:txBody>
                    <a:bodyPr/>
                    <a:lstStyle/>
                    <a:p>
                      <a:pPr marL="0" indent="0" algn="l">
                        <a:spcBef>
                          <a:spcPts val="0"/>
                        </a:spcBef>
                        <a:buNone/>
                      </a:pPr>
                      <a:r>
                        <a:rPr lang="en-US" sz="1200" b="1" dirty="0">
                          <a:solidFill>
                            <a:srgbClr val="6B7579"/>
                          </a:solidFill>
                        </a:rPr>
                        <a:t>FR7  </a:t>
                      </a:r>
                      <a:r>
                        <a:rPr lang="en-US" sz="1200" dirty="0">
                          <a:solidFill>
                            <a:srgbClr val="1F2A2E"/>
                          </a:solidFill>
                        </a:rPr>
                        <a:t>User can rate 1–5 and comment.</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NFR7  </a:t>
                      </a:r>
                      <a:r>
                        <a:rPr lang="en-US" sz="1200" dirty="0">
                          <a:solidFill>
                            <a:srgbClr val="1F2A2E"/>
                          </a:solidFill>
                        </a:rPr>
                        <a:t>95% of generations finish in under 20 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7"/>
                  </a:ext>
                </a:extLst>
              </a:tr>
              <a:tr h="457200">
                <a:tc>
                  <a:txBody>
                    <a:bodyPr/>
                    <a:lstStyle/>
                    <a:p>
                      <a:pPr marL="0" indent="0" algn="l">
                        <a:spcBef>
                          <a:spcPts val="0"/>
                        </a:spcBef>
                        <a:buNone/>
                      </a:pPr>
                      <a:r>
                        <a:rPr lang="en-US" sz="1200" b="1" dirty="0">
                          <a:solidFill>
                            <a:srgbClr val="6B7579"/>
                          </a:solidFill>
                        </a:rPr>
                        <a:t>FR8  </a:t>
                      </a:r>
                      <a:r>
                        <a:rPr lang="en-US" sz="1200" dirty="0">
                          <a:solidFill>
                            <a:srgbClr val="1F2A2E"/>
                          </a:solidFill>
                        </a:rPr>
                        <a:t>Log every LLM call (model, tokens, latency, status).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NFR8  </a:t>
                      </a:r>
                      <a:r>
                        <a:rPr lang="en-US" sz="1200" dirty="0">
                          <a:solidFill>
                            <a:srgbClr val="1F2A2E"/>
                          </a:solidFill>
                        </a:rPr>
                        <a:t>Provider swappable through the LLMClient interface.</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8"/>
                  </a:ext>
                </a:extLst>
              </a:tr>
              <a:tr h="457200">
                <a:tc>
                  <a:txBody>
                    <a:bodyPr/>
                    <a:lstStyle/>
                    <a:p>
                      <a:pPr marL="0" indent="0" algn="l">
                        <a:spcBef>
                          <a:spcPts val="0"/>
                        </a:spcBef>
                        <a:buNone/>
                      </a:pPr>
                      <a:r>
                        <a:rPr lang="en-US" sz="1200" b="1" dirty="0">
                          <a:solidFill>
                            <a:srgbClr val="6B7579"/>
                          </a:solidFill>
                        </a:rPr>
                        <a:t>FR9  </a:t>
                      </a:r>
                      <a:r>
                        <a:rPr lang="en-US" sz="1200" dirty="0">
                          <a:solidFill>
                            <a:srgbClr val="1F2A2E"/>
                          </a:solidFill>
                        </a:rPr>
                        <a:t>No duplicate titles for the same building within 7 days.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NFR9  </a:t>
                      </a:r>
                      <a:r>
                        <a:rPr lang="en-US" sz="1200" dirty="0">
                          <a:solidFill>
                            <a:srgbClr val="1F2A2E"/>
                          </a:solidFill>
                        </a:rPr>
                        <a:t>One retry with backoff on HTTP 429/5xx.</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9"/>
                  </a:ext>
                </a:extLst>
              </a:tr>
              <a:tr h="457200">
                <a:tc>
                  <a:txBody>
                    <a:bodyPr/>
                    <a:lstStyle/>
                    <a:p>
                      <a:pPr marL="0" indent="0" algn="l">
                        <a:spcBef>
                          <a:spcPts val="0"/>
                        </a:spcBef>
                        <a:buNone/>
                      </a:pPr>
                      <a:r>
                        <a:rPr lang="en-US" sz="1200" b="1" dirty="0">
                          <a:solidFill>
                            <a:srgbClr val="6B7579"/>
                          </a:solidFill>
                        </a:rPr>
                        <a:t>FR10  </a:t>
                      </a:r>
                      <a:r>
                        <a:rPr lang="en-US" sz="1200" dirty="0">
                          <a:solidFill>
                            <a:srgbClr val="1F2A2E"/>
                          </a:solidFill>
                        </a:rPr>
                        <a:t>Filter by status and priority.</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NFR10  </a:t>
                      </a:r>
                      <a:r>
                        <a:rPr lang="en-US" sz="1200" dirty="0">
                          <a:solidFill>
                            <a:srgbClr val="1F2A2E"/>
                          </a:solidFill>
                        </a:rPr>
                        <a:t>Tests mock OpenAI, no live calls.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10"/>
                  </a:ext>
                </a:extLst>
              </a:tr>
            </a:tbl>
          </a:graphicData>
        </a:graphic>
      </p:graphicFrame>
      <p:sp>
        <p:nvSpPr>
          <p:cNvPr id="202" name="Shape 202"/>
          <p:cNvSpPr txBox="1"/>
          <p:nvPr/>
        </p:nvSpPr>
        <p:spPr>
          <a:xfrm>
            <a:off x="457200" y="6350000"/>
            <a:ext cx="112776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 shown on the main S3 slide</a:t>
            </a:r>
            <a:endParaRPr lang="en-US" sz="1100" dirty="0"/>
          </a:p>
        </p:txBody>
      </p:sp>
    </p:spTree>
    <p:extLst>
      <p:ext uri="{BB962C8B-B14F-4D97-AF65-F5344CB8AC3E}">
        <p14:creationId xmlns:p14="http://schemas.microsoft.com/office/powerpoint/2010/main" val="286994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7CB8F-2642-002C-416D-61CC4FB377FA}"/>
              </a:ext>
            </a:extLst>
          </p:cNvPr>
          <p:cNvSpPr>
            <a:spLocks noGrp="1"/>
          </p:cNvSpPr>
          <p:nvPr>
            <p:ph type="title"/>
          </p:nvPr>
        </p:nvSpPr>
        <p:spPr/>
        <p:txBody>
          <a:bodyPr/>
          <a:lstStyle/>
          <a:p>
            <a:pPr algn="l"/>
            <a:r>
              <a:rPr lang="en-US" sz="3200" b="1" dirty="0"/>
              <a:t>A4 · S4 Web Dashboard requirements</a:t>
            </a:r>
          </a:p>
        </p:txBody>
      </p:sp>
      <p:sp>
        <p:nvSpPr>
          <p:cNvPr id="200" name="Subsystem bar"/>
          <p:cNvSpPr/>
          <p:nvPr/>
        </p:nvSpPr>
        <p:spPr>
          <a:xfrm>
            <a:off x="457200" y="304800"/>
            <a:ext cx="711200" cy="63500"/>
          </a:xfrm>
          <a:prstGeom prst="rect">
            <a:avLst/>
          </a:prstGeom>
          <a:solidFill>
            <a:srgbClr val="C9822B"/>
          </a:solidFill>
          <a:ln>
            <a:noFill/>
          </a:ln>
        </p:spPr>
        <p:txBody>
          <a:bodyPr wrap="square" lIns="50800" tIns="50800" rIns="50800" bIns="50800" rtlCol="0" anchor="t">
            <a:noAutofit/>
          </a:bodyPr>
          <a:lstStyle/>
          <a:p>
            <a:endParaRPr lang="en-US" dirty="0"/>
          </a:p>
        </p:txBody>
      </p:sp>
      <p:graphicFrame>
        <p:nvGraphicFramePr>
          <p:cNvPr id="201" name="Table 201"/>
          <p:cNvGraphicFramePr>
            <a:graphicFrameLocks noGrp="1"/>
          </p:cNvGraphicFramePr>
          <p:nvPr/>
        </p:nvGraphicFramePr>
        <p:xfrm>
          <a:off x="457200" y="1244600"/>
          <a:ext cx="11277600" cy="4876800"/>
        </p:xfrm>
        <a:graphic>
          <a:graphicData uri="http://schemas.openxmlformats.org/drawingml/2006/table">
            <a:tbl>
              <a:tblPr firstRow="1"/>
              <a:tblGrid>
                <a:gridCol w="5638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04800">
                <a:tc>
                  <a:txBody>
                    <a:bodyPr/>
                    <a:lstStyle/>
                    <a:p>
                      <a:pPr marL="0" indent="0" algn="l">
                        <a:spcBef>
                          <a:spcPts val="0"/>
                        </a:spcBef>
                        <a:buNone/>
                      </a:pPr>
                      <a:r>
                        <a:rPr lang="en-US" sz="1200" b="1" dirty="0">
                          <a:solidFill>
                            <a:srgbClr val="1F2A2E"/>
                          </a:solidFill>
                        </a:rPr>
                        <a:t>Functional (FR)</a:t>
                      </a:r>
                      <a:endParaRPr lang="en-US" sz="1200" dirty="0"/>
                    </a:p>
                  </a:txBody>
                  <a:tcPr marL="76200" marR="76200" marT="38100" marB="38100" anchor="ctr">
                    <a:lnL w="0">
                      <a:noFill/>
                    </a:lnL>
                    <a:lnR w="0">
                      <a:noFill/>
                    </a:lnR>
                    <a:lnT w="0">
                      <a:noFill/>
                    </a:lnT>
                    <a:lnB w="15875">
                      <a:solidFill>
                        <a:srgbClr val="6B7579"/>
                      </a:solidFill>
                    </a:lnB>
                    <a:noFill/>
                  </a:tcPr>
                </a:tc>
                <a:tc>
                  <a:txBody>
                    <a:bodyPr/>
                    <a:lstStyle/>
                    <a:p>
                      <a:pPr marL="0" indent="0" algn="l">
                        <a:spcBef>
                          <a:spcPts val="0"/>
                        </a:spcBef>
                        <a:buNone/>
                      </a:pPr>
                      <a:r>
                        <a:rPr lang="en-US" sz="1200" b="1" dirty="0">
                          <a:solidFill>
                            <a:srgbClr val="1F2A2E"/>
                          </a:solidFill>
                        </a:rPr>
                        <a:t>Non-functional (NFR)</a:t>
                      </a:r>
                      <a:endParaRPr lang="en-US" sz="1200" dirty="0"/>
                    </a:p>
                  </a:txBody>
                  <a:tcPr marL="76200" marR="76200" marT="38100" marB="38100" anchor="ctr">
                    <a:lnL w="0">
                      <a:noFill/>
                    </a:lnL>
                    <a:lnR w="0">
                      <a:noFill/>
                    </a:lnR>
                    <a:lnT w="0">
                      <a:noFill/>
                    </a:lnT>
                    <a:lnB w="15875">
                      <a:solidFill>
                        <a:srgbClr val="6B7579"/>
                      </a:solidFill>
                    </a:lnB>
                    <a:noFill/>
                  </a:tcPr>
                </a:tc>
                <a:extLst>
                  <a:ext uri="{0D108BD9-81ED-4DB2-BD59-A6C34878D82A}">
                    <a16:rowId xmlns:a16="http://schemas.microsoft.com/office/drawing/2014/main" val="10000"/>
                  </a:ext>
                </a:extLst>
              </a:tr>
              <a:tr h="457200">
                <a:tc>
                  <a:txBody>
                    <a:bodyPr/>
                    <a:lstStyle/>
                    <a:p>
                      <a:pPr marL="0" indent="0" algn="l">
                        <a:spcBef>
                          <a:spcPts val="0"/>
                        </a:spcBef>
                        <a:buNone/>
                      </a:pPr>
                      <a:r>
                        <a:rPr lang="en-US" sz="1200" b="1" dirty="0">
                          <a:solidFill>
                            <a:srgbClr val="6B7579"/>
                          </a:solidFill>
                        </a:rPr>
                        <a:t>FR1  </a:t>
                      </a:r>
                      <a:r>
                        <a:rPr lang="en-US" sz="1200" dirty="0">
                          <a:solidFill>
                            <a:srgbClr val="1F2A2E"/>
                          </a:solidFill>
                        </a:rPr>
                        <a:t>Register, log in, log out.</a:t>
                      </a:r>
                      <a:endParaRPr lang="en-US" sz="1200" dirty="0"/>
                    </a:p>
                  </a:txBody>
                  <a:tcPr marL="76200" marR="76200" marT="38100" marB="381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C9822B"/>
                          </a:solidFill>
                        </a:rPr>
                        <a:t>NFR1*  </a:t>
                      </a:r>
                      <a:r>
                        <a:rPr lang="en-US" sz="1200" dirty="0">
                          <a:solidFill>
                            <a:srgbClr val="1F2A2E"/>
                          </a:solidFill>
                        </a:rPr>
                        <a:t>Dashboard loads in under 3 s with 30 days of data.</a:t>
                      </a:r>
                      <a:endParaRPr lang="en-US" sz="1200" dirty="0"/>
                    </a:p>
                  </a:txBody>
                  <a:tcPr marL="76200" marR="76200" marT="38100" marB="381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1"/>
                  </a:ext>
                </a:extLst>
              </a:tr>
              <a:tr h="457200">
                <a:tc>
                  <a:txBody>
                    <a:bodyPr/>
                    <a:lstStyle/>
                    <a:p>
                      <a:pPr marL="0" indent="0" algn="l">
                        <a:spcBef>
                          <a:spcPts val="0"/>
                        </a:spcBef>
                        <a:buNone/>
                      </a:pPr>
                      <a:r>
                        <a:rPr lang="en-US" sz="1200" b="1" dirty="0">
                          <a:solidFill>
                            <a:srgbClr val="C9822B"/>
                          </a:solidFill>
                        </a:rPr>
                        <a:t>FR2*  </a:t>
                      </a:r>
                      <a:r>
                        <a:rPr lang="en-US" sz="1200" dirty="0">
                          <a:solidFill>
                            <a:srgbClr val="1F2A2E"/>
                          </a:solidFill>
                        </a:rPr>
                        <a:t>Dashboard shows current kW, today's kWh, today's CO2 and top 3 recommendations.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NFR2  </a:t>
                      </a:r>
                      <a:r>
                        <a:rPr lang="en-US" sz="1200" dirty="0">
                          <a:solidFill>
                            <a:srgbClr val="1F2A2E"/>
                          </a:solidFill>
                        </a:rPr>
                        <a:t>Responsive from 375 px to 1440 px.</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2"/>
                  </a:ext>
                </a:extLst>
              </a:tr>
              <a:tr h="457200">
                <a:tc>
                  <a:txBody>
                    <a:bodyPr/>
                    <a:lstStyle/>
                    <a:p>
                      <a:pPr marL="0" indent="0" algn="l">
                        <a:spcBef>
                          <a:spcPts val="0"/>
                        </a:spcBef>
                        <a:buNone/>
                      </a:pPr>
                      <a:r>
                        <a:rPr lang="en-US" sz="1200" b="1" dirty="0">
                          <a:solidFill>
                            <a:srgbClr val="6B7579"/>
                          </a:solidFill>
                        </a:rPr>
                        <a:t>FR3  </a:t>
                      </a:r>
                      <a:r>
                        <a:rPr lang="en-US" sz="1200" dirty="0">
                          <a:solidFill>
                            <a:srgbClr val="1F2A2E"/>
                          </a:solidFill>
                        </a:rPr>
                        <a:t>Consumption chart with day/week/month filter.</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NFR3  </a:t>
                      </a:r>
                      <a:r>
                        <a:rPr lang="en-US" sz="1200" dirty="0">
                          <a:solidFill>
                            <a:srgbClr val="1F2A2E"/>
                          </a:solidFill>
                        </a:rPr>
                        <a:t>WCAG 2.1 AA contrast and keyboard navigation.</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3"/>
                  </a:ext>
                </a:extLst>
              </a:tr>
              <a:tr h="457200">
                <a:tc>
                  <a:txBody>
                    <a:bodyPr/>
                    <a:lstStyle/>
                    <a:p>
                      <a:pPr marL="0" indent="0" algn="l">
                        <a:spcBef>
                          <a:spcPts val="0"/>
                        </a:spcBef>
                        <a:buNone/>
                      </a:pPr>
                      <a:r>
                        <a:rPr lang="en-US" sz="1200" b="1" dirty="0">
                          <a:solidFill>
                            <a:srgbClr val="6B7579"/>
                          </a:solidFill>
                        </a:rPr>
                        <a:t>FR4  </a:t>
                      </a:r>
                      <a:r>
                        <a:rPr lang="en-US" sz="1200" dirty="0">
                          <a:solidFill>
                            <a:srgbClr val="1F2A2E"/>
                          </a:solidFill>
                        </a:rPr>
                        <a:t>Building selector.</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NFR4  </a:t>
                      </a:r>
                      <a:r>
                        <a:rPr lang="en-US" sz="1200" dirty="0">
                          <a:solidFill>
                            <a:srgbClr val="1F2A2E"/>
                          </a:solidFill>
                        </a:rPr>
                        <a:t>Unauthenticated requests get 401 and redirect to login.</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4"/>
                  </a:ext>
                </a:extLst>
              </a:tr>
              <a:tr h="457200">
                <a:tc>
                  <a:txBody>
                    <a:bodyPr/>
                    <a:lstStyle/>
                    <a:p>
                      <a:pPr marL="0" indent="0" algn="l">
                        <a:spcBef>
                          <a:spcPts val="0"/>
                        </a:spcBef>
                        <a:buNone/>
                      </a:pPr>
                      <a:r>
                        <a:rPr lang="en-US" sz="1200" b="1" dirty="0">
                          <a:solidFill>
                            <a:srgbClr val="6B7579"/>
                          </a:solidFill>
                        </a:rPr>
                        <a:t>FR5  </a:t>
                      </a:r>
                      <a:r>
                        <a:rPr lang="en-US" sz="1200" dirty="0">
                          <a:solidFill>
                            <a:srgbClr val="1F2A2E"/>
                          </a:solidFill>
                        </a:rPr>
                        <a:t>Analytics page with breakdown, peak and anomalies.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NFR5  </a:t>
                      </a:r>
                      <a:r>
                        <a:rPr lang="en-US" sz="1200" dirty="0">
                          <a:solidFill>
                            <a:srgbClr val="1F2A2E"/>
                          </a:solidFill>
                        </a:rPr>
                        <a:t>Passwords hashed by Django (PBKDF2).</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5"/>
                  </a:ext>
                </a:extLst>
              </a:tr>
              <a:tr h="457200">
                <a:tc>
                  <a:txBody>
                    <a:bodyPr/>
                    <a:lstStyle/>
                    <a:p>
                      <a:pPr marL="0" indent="0" algn="l">
                        <a:spcBef>
                          <a:spcPts val="0"/>
                        </a:spcBef>
                        <a:buNone/>
                      </a:pPr>
                      <a:r>
                        <a:rPr lang="en-US" sz="1200" b="1" dirty="0">
                          <a:solidFill>
                            <a:srgbClr val="6B7579"/>
                          </a:solidFill>
                        </a:rPr>
                        <a:t>FR6  </a:t>
                      </a:r>
                      <a:r>
                        <a:rPr lang="en-US" sz="1200" dirty="0">
                          <a:solidFill>
                            <a:srgbClr val="1F2A2E"/>
                          </a:solidFill>
                        </a:rPr>
                        <a:t>Recommendations page with accept/dismiss and rating.</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NFR6  </a:t>
                      </a:r>
                      <a:r>
                        <a:rPr lang="en-US" sz="1200" dirty="0">
                          <a:solidFill>
                            <a:srgbClr val="1F2A2E"/>
                          </a:solidFill>
                        </a:rPr>
                        <a:t>All API calls go through one ApiClient module.</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6"/>
                  </a:ext>
                </a:extLst>
              </a:tr>
              <a:tr h="457200">
                <a:tc>
                  <a:txBody>
                    <a:bodyPr/>
                    <a:lstStyle/>
                    <a:p>
                      <a:pPr marL="0" indent="0" algn="l">
                        <a:spcBef>
                          <a:spcPts val="0"/>
                        </a:spcBef>
                        <a:buNone/>
                      </a:pPr>
                      <a:r>
                        <a:rPr lang="en-US" sz="1200" b="1" dirty="0">
                          <a:solidFill>
                            <a:srgbClr val="6B7579"/>
                          </a:solidFill>
                        </a:rPr>
                        <a:t>FR7  </a:t>
                      </a:r>
                      <a:r>
                        <a:rPr lang="en-US" sz="1200" dirty="0">
                          <a:solidFill>
                            <a:srgbClr val="1F2A2E"/>
                          </a:solidFill>
                        </a:rPr>
                        <a:t>Settings for units, theme, default building, alert threshold.</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NFR7  </a:t>
                      </a:r>
                      <a:r>
                        <a:rPr lang="en-US" sz="1200" dirty="0">
                          <a:solidFill>
                            <a:srgbClr val="1F2A2E"/>
                          </a:solidFill>
                        </a:rPr>
                        <a:t>Works on current Chrome, Edge and Firefox.</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7"/>
                  </a:ext>
                </a:extLst>
              </a:tr>
              <a:tr h="457200">
                <a:tc>
                  <a:txBody>
                    <a:bodyPr/>
                    <a:lstStyle/>
                    <a:p>
                      <a:pPr marL="0" indent="0" algn="l">
                        <a:spcBef>
                          <a:spcPts val="0"/>
                        </a:spcBef>
                        <a:buNone/>
                      </a:pPr>
                      <a:r>
                        <a:rPr lang="en-US" sz="1200" b="1" dirty="0">
                          <a:solidFill>
                            <a:srgbClr val="6B7579"/>
                          </a:solidFill>
                        </a:rPr>
                        <a:t>FR8  </a:t>
                      </a:r>
                      <a:r>
                        <a:rPr lang="en-US" sz="1200" dirty="0">
                          <a:solidFill>
                            <a:srgbClr val="1F2A2E"/>
                          </a:solidFill>
                        </a:rPr>
                        <a:t>Notifications on anomalies or threshold breaches.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NFR8  </a:t>
                      </a:r>
                      <a:r>
                        <a:rPr lang="en-US" sz="1200" dirty="0">
                          <a:solidFill>
                            <a:srgbClr val="1F2A2E"/>
                          </a:solidFill>
                        </a:rPr>
                        <a:t>Consistent units (kWh, kW, kg CO2).</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8"/>
                  </a:ext>
                </a:extLst>
              </a:tr>
              <a:tr h="457200">
                <a:tc>
                  <a:txBody>
                    <a:bodyPr/>
                    <a:lstStyle/>
                    <a:p>
                      <a:pPr marL="0" indent="0" algn="l">
                        <a:spcBef>
                          <a:spcPts val="0"/>
                        </a:spcBef>
                        <a:buNone/>
                      </a:pPr>
                      <a:r>
                        <a:rPr lang="en-US" sz="1200" b="1" dirty="0">
                          <a:solidFill>
                            <a:srgbClr val="6B7579"/>
                          </a:solidFill>
                        </a:rPr>
                        <a:t>FR9  </a:t>
                      </a:r>
                      <a:r>
                        <a:rPr lang="en-US" sz="1200" dirty="0">
                          <a:solidFill>
                            <a:srgbClr val="1F2A2E"/>
                          </a:solidFill>
                        </a:rPr>
                        <a:t>Building and meter management forms.</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NFR9  </a:t>
                      </a:r>
                      <a:r>
                        <a:rPr lang="en-US" sz="1200" dirty="0">
                          <a:solidFill>
                            <a:srgbClr val="1F2A2E"/>
                          </a:solidFill>
                        </a:rPr>
                        <a:t>Charts refresh every 60 s without page reload.</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9"/>
                  </a:ext>
                </a:extLst>
              </a:tr>
              <a:tr h="457200">
                <a:tc>
                  <a:txBody>
                    <a:bodyPr/>
                    <a:lstStyle/>
                    <a:p>
                      <a:pPr marL="0" indent="0" algn="l">
                        <a:spcBef>
                          <a:spcPts val="0"/>
                        </a:spcBef>
                        <a:buNone/>
                      </a:pPr>
                      <a:r>
                        <a:rPr lang="en-US" sz="1200" b="1" dirty="0">
                          <a:solidFill>
                            <a:srgbClr val="6B7579"/>
                          </a:solidFill>
                        </a:rPr>
                        <a:t>FR10  </a:t>
                      </a:r>
                      <a:r>
                        <a:rPr lang="en-US" sz="1200" dirty="0">
                          <a:solidFill>
                            <a:srgbClr val="1F2A2E"/>
                          </a:solidFill>
                        </a:rPr>
                        <a:t>Loading, empty and error states on every view.</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b="1" dirty="0">
                          <a:solidFill>
                            <a:srgbClr val="6B7579"/>
                          </a:solidFill>
                        </a:rPr>
                        <a:t>NFR10  </a:t>
                      </a:r>
                      <a:r>
                        <a:rPr lang="en-US" sz="1200" dirty="0">
                          <a:solidFill>
                            <a:srgbClr val="1F2A2E"/>
                          </a:solidFill>
                        </a:rPr>
                        <a:t>Lint and component tests pass in CI.</a:t>
                      </a:r>
                      <a:endParaRPr lang="en-US" sz="1200" dirty="0"/>
                    </a:p>
                  </a:txBody>
                  <a:tcPr marL="76200" marR="76200" marT="38100" marB="381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10"/>
                  </a:ext>
                </a:extLst>
              </a:tr>
            </a:tbl>
          </a:graphicData>
        </a:graphic>
      </p:graphicFrame>
      <p:sp>
        <p:nvSpPr>
          <p:cNvPr id="202" name="Shape 202"/>
          <p:cNvSpPr txBox="1"/>
          <p:nvPr/>
        </p:nvSpPr>
        <p:spPr>
          <a:xfrm>
            <a:off x="457200" y="6350000"/>
            <a:ext cx="112776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 shown on the main S4 slide</a:t>
            </a:r>
            <a:endParaRPr lang="en-US" sz="1100" dirty="0"/>
          </a:p>
        </p:txBody>
      </p:sp>
    </p:spTree>
    <p:extLst>
      <p:ext uri="{BB962C8B-B14F-4D97-AF65-F5344CB8AC3E}">
        <p14:creationId xmlns:p14="http://schemas.microsoft.com/office/powerpoint/2010/main" val="3513576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F7B03-C40D-9F73-8452-63D0B1CE6BC9}"/>
              </a:ext>
            </a:extLst>
          </p:cNvPr>
          <p:cNvSpPr>
            <a:spLocks noGrp="1"/>
          </p:cNvSpPr>
          <p:nvPr>
            <p:ph type="title"/>
          </p:nvPr>
        </p:nvSpPr>
        <p:spPr/>
        <p:txBody>
          <a:bodyPr/>
          <a:lstStyle/>
          <a:p>
            <a:pPr algn="l"/>
            <a:r>
              <a:rPr lang="en-US" sz="3200" b="1" dirty="0"/>
              <a:t>A5 · S1 Buildings &amp; Meters wireframe</a:t>
            </a:r>
          </a:p>
        </p:txBody>
      </p:sp>
      <p:sp>
        <p:nvSpPr>
          <p:cNvPr id="200" name="Subsystem bar"/>
          <p:cNvSpPr/>
          <p:nvPr/>
        </p:nvSpPr>
        <p:spPr>
          <a:xfrm>
            <a:off x="457200" y="304800"/>
            <a:ext cx="711200" cy="63500"/>
          </a:xfrm>
          <a:prstGeom prst="rect">
            <a:avLst/>
          </a:prstGeom>
          <a:solidFill>
            <a:srgbClr val="2E6F95"/>
          </a:solidFill>
          <a:ln>
            <a:noFill/>
          </a:ln>
        </p:spPr>
        <p:txBody>
          <a:bodyPr wrap="square" lIns="50800" tIns="50800" rIns="50800" bIns="50800" rtlCol="0" anchor="t">
            <a:noAutofit/>
          </a:bodyPr>
          <a:lstStyle/>
          <a:p>
            <a:endParaRPr lang="en-US" dirty="0"/>
          </a:p>
        </p:txBody>
      </p:sp>
      <p:sp>
        <p:nvSpPr>
          <p:cNvPr id="201" name="Shape 201"/>
          <p:cNvSpPr/>
          <p:nvPr/>
        </p:nvSpPr>
        <p:spPr>
          <a:xfrm>
            <a:off x="457200" y="1219200"/>
            <a:ext cx="11277600" cy="5029200"/>
          </a:xfrm>
          <a:prstGeom prst="rect">
            <a:avLst/>
          </a:prstGeom>
          <a:solidFill>
            <a:srgbClr val="FFFFFF"/>
          </a:solidFill>
          <a:ln w="12700">
            <a:solidFill>
              <a:srgbClr val="A9B1B3"/>
            </a:solidFill>
          </a:ln>
        </p:spPr>
        <p:txBody>
          <a:bodyPr wrap="square" lIns="50800" tIns="50800" rIns="50800" bIns="50800" rtlCol="0" anchor="t">
            <a:noAutofit/>
          </a:bodyPr>
          <a:lstStyle/>
          <a:p>
            <a:endParaRPr lang="en-US" dirty="0"/>
          </a:p>
        </p:txBody>
      </p:sp>
      <p:sp>
        <p:nvSpPr>
          <p:cNvPr id="202" name="Shape 202"/>
          <p:cNvSpPr/>
          <p:nvPr/>
        </p:nvSpPr>
        <p:spPr>
          <a:xfrm>
            <a:off x="457200" y="1219200"/>
            <a:ext cx="11277600" cy="279400"/>
          </a:xfrm>
          <a:prstGeom prst="rect">
            <a:avLst/>
          </a:prstGeom>
          <a:solidFill>
            <a:srgbClr val="EDEFEC"/>
          </a:solidFill>
          <a:ln w="12700">
            <a:solidFill>
              <a:srgbClr val="A9B1B3"/>
            </a:solidFill>
          </a:ln>
        </p:spPr>
        <p:txBody>
          <a:bodyPr wrap="square" lIns="50800" tIns="50800" rIns="50800" bIns="50800" rtlCol="0" anchor="t">
            <a:noAutofit/>
          </a:bodyPr>
          <a:lstStyle/>
          <a:p>
            <a:endParaRPr lang="en-US" dirty="0"/>
          </a:p>
        </p:txBody>
      </p:sp>
      <p:sp>
        <p:nvSpPr>
          <p:cNvPr id="203" name="Shape 203"/>
          <p:cNvSpPr/>
          <p:nvPr/>
        </p:nvSpPr>
        <p:spPr>
          <a:xfrm>
            <a:off x="5588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04" name="Shape 204"/>
          <p:cNvSpPr/>
          <p:nvPr/>
        </p:nvSpPr>
        <p:spPr>
          <a:xfrm>
            <a:off x="6858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05" name="Shape 205"/>
          <p:cNvSpPr/>
          <p:nvPr/>
        </p:nvSpPr>
        <p:spPr>
          <a:xfrm>
            <a:off x="8128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06" name="Shape 206"/>
          <p:cNvSpPr/>
          <p:nvPr/>
        </p:nvSpPr>
        <p:spPr>
          <a:xfrm>
            <a:off x="1016000" y="1270000"/>
            <a:ext cx="4064000" cy="177800"/>
          </a:xfrm>
          <a:prstGeom prst="rect">
            <a:avLst/>
          </a:prstGeom>
          <a:solidFill>
            <a:srgbClr val="FFFFFF"/>
          </a:solidFill>
          <a:ln w="6350">
            <a:solidFill>
              <a:srgbClr val="D5D9D6"/>
            </a:solidFill>
          </a:ln>
        </p:spPr>
        <p:txBody>
          <a:bodyPr wrap="square" lIns="76200" tIns="0" rIns="0" bIns="0" rtlCol="0" anchor="ctr">
            <a:noAutofit/>
          </a:bodyPr>
          <a:lstStyle/>
          <a:p>
            <a:pPr marL="0" indent="0" algn="l">
              <a:spcBef>
                <a:spcPts val="0"/>
              </a:spcBef>
              <a:buNone/>
            </a:pPr>
            <a:r>
              <a:rPr lang="en-US" sz="850" dirty="0">
                <a:solidFill>
                  <a:srgbClr val="6B7579"/>
                </a:solidFill>
              </a:rPr>
              <a:t>smartenergy.local/buildings</a:t>
            </a:r>
            <a:endParaRPr lang="en-US" sz="850" dirty="0"/>
          </a:p>
        </p:txBody>
      </p:sp>
      <p:sp>
        <p:nvSpPr>
          <p:cNvPr id="207" name="Shape 207"/>
          <p:cNvSpPr/>
          <p:nvPr/>
        </p:nvSpPr>
        <p:spPr>
          <a:xfrm>
            <a:off x="457200" y="1498600"/>
            <a:ext cx="1574800" cy="4749800"/>
          </a:xfrm>
          <a:prstGeom prst="rect">
            <a:avLst/>
          </a:prstGeom>
          <a:solidFill>
            <a:srgbClr val="EDEFEC"/>
          </a:solidFill>
          <a:ln>
            <a:noFill/>
          </a:ln>
        </p:spPr>
        <p:txBody>
          <a:bodyPr wrap="square" lIns="50800" tIns="50800" rIns="50800" bIns="50800" rtlCol="0" anchor="t">
            <a:noAutofit/>
          </a:bodyPr>
          <a:lstStyle/>
          <a:p>
            <a:endParaRPr lang="en-US" dirty="0"/>
          </a:p>
        </p:txBody>
      </p:sp>
      <p:sp>
        <p:nvSpPr>
          <p:cNvPr id="208" name="Shape 208"/>
          <p:cNvSpPr txBox="1"/>
          <p:nvPr/>
        </p:nvSpPr>
        <p:spPr>
          <a:xfrm>
            <a:off x="609600" y="16256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1F2A2E"/>
                </a:solidFill>
              </a:rPr>
              <a:t>Smart Energy</a:t>
            </a:r>
            <a:endParaRPr lang="en-US" sz="1100" dirty="0"/>
          </a:p>
        </p:txBody>
      </p:sp>
      <p:sp>
        <p:nvSpPr>
          <p:cNvPr id="209" name="Shape 209"/>
          <p:cNvSpPr txBox="1"/>
          <p:nvPr/>
        </p:nvSpPr>
        <p:spPr>
          <a:xfrm>
            <a:off x="635000" y="19812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Dashboard</a:t>
            </a:r>
            <a:endParaRPr lang="en-US" sz="1100" dirty="0"/>
          </a:p>
        </p:txBody>
      </p:sp>
      <p:sp>
        <p:nvSpPr>
          <p:cNvPr id="210" name="Shape 210"/>
          <p:cNvSpPr/>
          <p:nvPr/>
        </p:nvSpPr>
        <p:spPr>
          <a:xfrm>
            <a:off x="533400" y="2273300"/>
            <a:ext cx="1422400" cy="2794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11" name="Shape 211"/>
          <p:cNvSpPr txBox="1"/>
          <p:nvPr/>
        </p:nvSpPr>
        <p:spPr>
          <a:xfrm>
            <a:off x="635000" y="23114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1F2A2E"/>
                </a:solidFill>
              </a:rPr>
              <a:t>Buildings</a:t>
            </a:r>
            <a:endParaRPr lang="en-US" sz="1100" dirty="0"/>
          </a:p>
        </p:txBody>
      </p:sp>
      <p:sp>
        <p:nvSpPr>
          <p:cNvPr id="212" name="Shape 212"/>
          <p:cNvSpPr txBox="1"/>
          <p:nvPr/>
        </p:nvSpPr>
        <p:spPr>
          <a:xfrm>
            <a:off x="635000" y="26416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Analytics</a:t>
            </a:r>
            <a:endParaRPr lang="en-US" sz="1100" dirty="0"/>
          </a:p>
        </p:txBody>
      </p:sp>
      <p:sp>
        <p:nvSpPr>
          <p:cNvPr id="213" name="Shape 213"/>
          <p:cNvSpPr txBox="1"/>
          <p:nvPr/>
        </p:nvSpPr>
        <p:spPr>
          <a:xfrm>
            <a:off x="635000" y="29718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Recommendations</a:t>
            </a:r>
            <a:endParaRPr lang="en-US" sz="1100" dirty="0"/>
          </a:p>
        </p:txBody>
      </p:sp>
      <p:sp>
        <p:nvSpPr>
          <p:cNvPr id="214" name="Shape 214"/>
          <p:cNvSpPr txBox="1"/>
          <p:nvPr/>
        </p:nvSpPr>
        <p:spPr>
          <a:xfrm>
            <a:off x="635000" y="33020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Settings</a:t>
            </a:r>
            <a:endParaRPr lang="en-US" sz="1100" dirty="0"/>
          </a:p>
        </p:txBody>
      </p:sp>
      <p:sp>
        <p:nvSpPr>
          <p:cNvPr id="215" name="Shape 215"/>
          <p:cNvSpPr/>
          <p:nvPr/>
        </p:nvSpPr>
        <p:spPr>
          <a:xfrm>
            <a:off x="2184400" y="1625600"/>
            <a:ext cx="2997200" cy="22860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16" name="Shape 216"/>
          <p:cNvSpPr txBox="1"/>
          <p:nvPr/>
        </p:nvSpPr>
        <p:spPr>
          <a:xfrm>
            <a:off x="2286000" y="1701800"/>
            <a:ext cx="2794000" cy="203200"/>
          </a:xfrm>
          <a:prstGeom prst="rect">
            <a:avLst/>
          </a:prstGeom>
          <a:noFill/>
          <a:ln>
            <a:noFill/>
          </a:ln>
        </p:spPr>
        <p:txBody>
          <a:bodyPr wrap="square" lIns="0" tIns="0" rIns="0" bIns="0" rtlCol="0" anchor="t">
            <a:noAutofit/>
          </a:bodyPr>
          <a:lstStyle/>
          <a:p>
            <a:pPr marL="0" indent="0" algn="l">
              <a:spcBef>
                <a:spcPts val="0"/>
              </a:spcBef>
              <a:buNone/>
            </a:pPr>
            <a:r>
              <a:rPr lang="en-US" sz="1200" b="1" dirty="0">
                <a:solidFill>
                  <a:srgbClr val="1F2A2E"/>
                </a:solidFill>
              </a:rPr>
              <a:t>Buildings</a:t>
            </a:r>
            <a:endParaRPr lang="en-US" sz="1200" dirty="0"/>
          </a:p>
        </p:txBody>
      </p:sp>
      <p:sp>
        <p:nvSpPr>
          <p:cNvPr id="217" name="Shape 217"/>
          <p:cNvSpPr/>
          <p:nvPr/>
        </p:nvSpPr>
        <p:spPr>
          <a:xfrm>
            <a:off x="2286000" y="1955800"/>
            <a:ext cx="2794000" cy="304800"/>
          </a:xfrm>
          <a:prstGeom prst="rect">
            <a:avLst/>
          </a:prstGeom>
          <a:solidFill>
            <a:srgbClr val="EDEFEC"/>
          </a:solidFill>
          <a:ln w="6350">
            <a:solidFill>
              <a:srgbClr val="E0E3E0"/>
            </a:solidFill>
          </a:ln>
        </p:spPr>
        <p:txBody>
          <a:bodyPr wrap="square" lIns="50800" tIns="50800" rIns="50800" bIns="50800" rtlCol="0" anchor="t">
            <a:noAutofit/>
          </a:bodyPr>
          <a:lstStyle/>
          <a:p>
            <a:endParaRPr lang="en-US" dirty="0"/>
          </a:p>
        </p:txBody>
      </p:sp>
      <p:sp>
        <p:nvSpPr>
          <p:cNvPr id="218" name="Shape 218"/>
          <p:cNvSpPr txBox="1"/>
          <p:nvPr/>
        </p:nvSpPr>
        <p:spPr>
          <a:xfrm>
            <a:off x="2362200" y="2019300"/>
            <a:ext cx="1905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1F2A2E"/>
                </a:solidFill>
              </a:rPr>
              <a:t>HQ Office · 3 meters</a:t>
            </a:r>
            <a:endParaRPr lang="en-US" sz="1000" dirty="0"/>
          </a:p>
        </p:txBody>
      </p:sp>
      <p:sp>
        <p:nvSpPr>
          <p:cNvPr id="219" name="Shape 219"/>
          <p:cNvSpPr txBox="1"/>
          <p:nvPr/>
        </p:nvSpPr>
        <p:spPr>
          <a:xfrm>
            <a:off x="4343400" y="2019300"/>
            <a:ext cx="660400" cy="203200"/>
          </a:xfrm>
          <a:prstGeom prst="rect">
            <a:avLst/>
          </a:prstGeom>
          <a:noFill/>
          <a:ln>
            <a:noFill/>
          </a:ln>
        </p:spPr>
        <p:txBody>
          <a:bodyPr wrap="square" lIns="0" tIns="0" rIns="0" bIns="0" rtlCol="0" anchor="t">
            <a:noAutofit/>
          </a:bodyPr>
          <a:lstStyle/>
          <a:p>
            <a:pPr marL="0" indent="0" algn="r">
              <a:spcBef>
                <a:spcPts val="0"/>
              </a:spcBef>
              <a:buNone/>
            </a:pPr>
            <a:r>
              <a:rPr lang="en-US" sz="1000" dirty="0">
                <a:solidFill>
                  <a:srgbClr val="6B7579"/>
                </a:solidFill>
              </a:rPr>
              <a:t>Edit</a:t>
            </a:r>
            <a:endParaRPr lang="en-US" sz="1000" dirty="0"/>
          </a:p>
        </p:txBody>
      </p:sp>
      <p:sp>
        <p:nvSpPr>
          <p:cNvPr id="220" name="Shape 220"/>
          <p:cNvSpPr/>
          <p:nvPr/>
        </p:nvSpPr>
        <p:spPr>
          <a:xfrm>
            <a:off x="2286000" y="2336800"/>
            <a:ext cx="2794000" cy="304800"/>
          </a:xfrm>
          <a:prstGeom prst="rect">
            <a:avLst/>
          </a:prstGeom>
          <a:solidFill>
            <a:srgbClr val="FFFFFF"/>
          </a:solidFill>
          <a:ln w="6350">
            <a:solidFill>
              <a:srgbClr val="E0E3E0"/>
            </a:solidFill>
          </a:ln>
        </p:spPr>
        <p:txBody>
          <a:bodyPr wrap="square" lIns="50800" tIns="50800" rIns="50800" bIns="50800" rtlCol="0" anchor="t">
            <a:noAutofit/>
          </a:bodyPr>
          <a:lstStyle/>
          <a:p>
            <a:endParaRPr lang="en-US" dirty="0"/>
          </a:p>
        </p:txBody>
      </p:sp>
      <p:sp>
        <p:nvSpPr>
          <p:cNvPr id="221" name="Shape 221"/>
          <p:cNvSpPr txBox="1"/>
          <p:nvPr/>
        </p:nvSpPr>
        <p:spPr>
          <a:xfrm>
            <a:off x="2362200" y="2400300"/>
            <a:ext cx="1905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1F2A2E"/>
                </a:solidFill>
              </a:rPr>
              <a:t>Library · 2 meters</a:t>
            </a:r>
            <a:endParaRPr lang="en-US" sz="1000" dirty="0"/>
          </a:p>
        </p:txBody>
      </p:sp>
      <p:sp>
        <p:nvSpPr>
          <p:cNvPr id="222" name="Shape 222"/>
          <p:cNvSpPr txBox="1"/>
          <p:nvPr/>
        </p:nvSpPr>
        <p:spPr>
          <a:xfrm>
            <a:off x="4343400" y="2400300"/>
            <a:ext cx="660400" cy="203200"/>
          </a:xfrm>
          <a:prstGeom prst="rect">
            <a:avLst/>
          </a:prstGeom>
          <a:noFill/>
          <a:ln>
            <a:noFill/>
          </a:ln>
        </p:spPr>
        <p:txBody>
          <a:bodyPr wrap="square" lIns="0" tIns="0" rIns="0" bIns="0" rtlCol="0" anchor="t">
            <a:noAutofit/>
          </a:bodyPr>
          <a:lstStyle/>
          <a:p>
            <a:pPr marL="0" indent="0" algn="r">
              <a:spcBef>
                <a:spcPts val="0"/>
              </a:spcBef>
              <a:buNone/>
            </a:pPr>
            <a:r>
              <a:rPr lang="en-US" sz="1000" dirty="0">
                <a:solidFill>
                  <a:srgbClr val="6B7579"/>
                </a:solidFill>
              </a:rPr>
              <a:t>Edit</a:t>
            </a:r>
            <a:endParaRPr lang="en-US" sz="1000" dirty="0"/>
          </a:p>
        </p:txBody>
      </p:sp>
      <p:sp>
        <p:nvSpPr>
          <p:cNvPr id="223" name="Shape 223"/>
          <p:cNvSpPr/>
          <p:nvPr/>
        </p:nvSpPr>
        <p:spPr>
          <a:xfrm>
            <a:off x="2286000" y="2717800"/>
            <a:ext cx="2794000" cy="304800"/>
          </a:xfrm>
          <a:prstGeom prst="rect">
            <a:avLst/>
          </a:prstGeom>
          <a:solidFill>
            <a:srgbClr val="FFFFFF"/>
          </a:solidFill>
          <a:ln w="6350">
            <a:solidFill>
              <a:srgbClr val="E0E3E0"/>
            </a:solidFill>
          </a:ln>
        </p:spPr>
        <p:txBody>
          <a:bodyPr wrap="square" lIns="50800" tIns="50800" rIns="50800" bIns="50800" rtlCol="0" anchor="t">
            <a:noAutofit/>
          </a:bodyPr>
          <a:lstStyle/>
          <a:p>
            <a:endParaRPr lang="en-US" dirty="0"/>
          </a:p>
        </p:txBody>
      </p:sp>
      <p:sp>
        <p:nvSpPr>
          <p:cNvPr id="224" name="Shape 224"/>
          <p:cNvSpPr txBox="1"/>
          <p:nvPr/>
        </p:nvSpPr>
        <p:spPr>
          <a:xfrm>
            <a:off x="2362200" y="2781300"/>
            <a:ext cx="1905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1F2A2E"/>
                </a:solidFill>
              </a:rPr>
              <a:t>Lab Block · 4 meters</a:t>
            </a:r>
            <a:endParaRPr lang="en-US" sz="1000" dirty="0"/>
          </a:p>
        </p:txBody>
      </p:sp>
      <p:sp>
        <p:nvSpPr>
          <p:cNvPr id="225" name="Shape 225"/>
          <p:cNvSpPr txBox="1"/>
          <p:nvPr/>
        </p:nvSpPr>
        <p:spPr>
          <a:xfrm>
            <a:off x="4343400" y="2781300"/>
            <a:ext cx="660400" cy="203200"/>
          </a:xfrm>
          <a:prstGeom prst="rect">
            <a:avLst/>
          </a:prstGeom>
          <a:noFill/>
          <a:ln>
            <a:noFill/>
          </a:ln>
        </p:spPr>
        <p:txBody>
          <a:bodyPr wrap="square" lIns="0" tIns="0" rIns="0" bIns="0" rtlCol="0" anchor="t">
            <a:noAutofit/>
          </a:bodyPr>
          <a:lstStyle/>
          <a:p>
            <a:pPr marL="0" indent="0" algn="r">
              <a:spcBef>
                <a:spcPts val="0"/>
              </a:spcBef>
              <a:buNone/>
            </a:pPr>
            <a:r>
              <a:rPr lang="en-US" sz="1000" dirty="0">
                <a:solidFill>
                  <a:srgbClr val="6B7579"/>
                </a:solidFill>
              </a:rPr>
              <a:t>Edit</a:t>
            </a:r>
            <a:endParaRPr lang="en-US" sz="1000" dirty="0"/>
          </a:p>
        </p:txBody>
      </p:sp>
      <p:sp>
        <p:nvSpPr>
          <p:cNvPr id="226" name="Shape 226"/>
          <p:cNvSpPr/>
          <p:nvPr/>
        </p:nvSpPr>
        <p:spPr>
          <a:xfrm>
            <a:off x="2286000" y="3530600"/>
            <a:ext cx="1524000" cy="254000"/>
          </a:xfrm>
          <a:prstGeom prst="roundRect">
            <a:avLst>
              <a:gd name="adj" fmla="val 20000"/>
            </a:avLst>
          </a:prstGeom>
          <a:solidFill>
            <a:srgbClr val="6B7579"/>
          </a:solidFill>
          <a:ln w="9525">
            <a:solidFill>
              <a:srgbClr val="6B7579"/>
            </a:solidFill>
          </a:ln>
        </p:spPr>
        <p:txBody>
          <a:bodyPr wrap="square" lIns="0" tIns="0" rIns="0" bIns="0" rtlCol="0" anchor="ctr">
            <a:noAutofit/>
          </a:bodyPr>
          <a:lstStyle/>
          <a:p>
            <a:pPr marL="0" indent="0" algn="ctr">
              <a:spcBef>
                <a:spcPts val="0"/>
              </a:spcBef>
              <a:buNone/>
            </a:pPr>
            <a:r>
              <a:rPr lang="en-US" sz="1000" dirty="0">
                <a:solidFill>
                  <a:srgbClr val="FFFFFF"/>
                </a:solidFill>
              </a:rPr>
              <a:t>+ Add building</a:t>
            </a:r>
            <a:endParaRPr lang="en-US" sz="1000" dirty="0"/>
          </a:p>
        </p:txBody>
      </p:sp>
      <p:sp>
        <p:nvSpPr>
          <p:cNvPr id="227" name="Shape 227"/>
          <p:cNvSpPr/>
          <p:nvPr/>
        </p:nvSpPr>
        <p:spPr>
          <a:xfrm>
            <a:off x="5334000" y="1625600"/>
            <a:ext cx="3683000" cy="22860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28" name="Shape 228"/>
          <p:cNvSpPr txBox="1"/>
          <p:nvPr/>
        </p:nvSpPr>
        <p:spPr>
          <a:xfrm>
            <a:off x="5435600" y="1701800"/>
            <a:ext cx="3479800" cy="203200"/>
          </a:xfrm>
          <a:prstGeom prst="rect">
            <a:avLst/>
          </a:prstGeom>
          <a:noFill/>
          <a:ln>
            <a:noFill/>
          </a:ln>
        </p:spPr>
        <p:txBody>
          <a:bodyPr wrap="square" lIns="0" tIns="0" rIns="0" bIns="0" rtlCol="0" anchor="t">
            <a:noAutofit/>
          </a:bodyPr>
          <a:lstStyle/>
          <a:p>
            <a:pPr marL="0" indent="0" algn="l">
              <a:spcBef>
                <a:spcPts val="0"/>
              </a:spcBef>
              <a:buNone/>
            </a:pPr>
            <a:r>
              <a:rPr lang="en-US" sz="1200" b="1" dirty="0">
                <a:solidFill>
                  <a:srgbClr val="1F2A2E"/>
                </a:solidFill>
              </a:rPr>
              <a:t>Add / edit building</a:t>
            </a:r>
            <a:endParaRPr lang="en-US" sz="1200" dirty="0"/>
          </a:p>
        </p:txBody>
      </p:sp>
      <p:sp>
        <p:nvSpPr>
          <p:cNvPr id="229" name="Shape 229"/>
          <p:cNvSpPr txBox="1"/>
          <p:nvPr/>
        </p:nvSpPr>
        <p:spPr>
          <a:xfrm>
            <a:off x="5461000" y="1930400"/>
            <a:ext cx="1651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Name</a:t>
            </a:r>
            <a:endParaRPr lang="en-US" sz="1000" dirty="0"/>
          </a:p>
        </p:txBody>
      </p:sp>
      <p:sp>
        <p:nvSpPr>
          <p:cNvPr id="230" name="Shape 230"/>
          <p:cNvSpPr/>
          <p:nvPr/>
        </p:nvSpPr>
        <p:spPr>
          <a:xfrm>
            <a:off x="5461000" y="2108200"/>
            <a:ext cx="1651000" cy="2286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31" name="Shape 231"/>
          <p:cNvSpPr txBox="1"/>
          <p:nvPr/>
        </p:nvSpPr>
        <p:spPr>
          <a:xfrm>
            <a:off x="7239000" y="1930400"/>
            <a:ext cx="1651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Type</a:t>
            </a:r>
            <a:endParaRPr lang="en-US" sz="1000" dirty="0"/>
          </a:p>
        </p:txBody>
      </p:sp>
      <p:sp>
        <p:nvSpPr>
          <p:cNvPr id="232" name="Shape 232"/>
          <p:cNvSpPr/>
          <p:nvPr/>
        </p:nvSpPr>
        <p:spPr>
          <a:xfrm>
            <a:off x="7239000" y="2108200"/>
            <a:ext cx="1651000" cy="2286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33" name="Shape 233"/>
          <p:cNvSpPr txBox="1"/>
          <p:nvPr/>
        </p:nvSpPr>
        <p:spPr>
          <a:xfrm>
            <a:off x="5461000" y="2413000"/>
            <a:ext cx="3429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Address</a:t>
            </a:r>
            <a:endParaRPr lang="en-US" sz="1000" dirty="0"/>
          </a:p>
        </p:txBody>
      </p:sp>
      <p:sp>
        <p:nvSpPr>
          <p:cNvPr id="234" name="Shape 234"/>
          <p:cNvSpPr/>
          <p:nvPr/>
        </p:nvSpPr>
        <p:spPr>
          <a:xfrm>
            <a:off x="5461000" y="2590800"/>
            <a:ext cx="3429000" cy="2286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35" name="Shape 235"/>
          <p:cNvSpPr txBox="1"/>
          <p:nvPr/>
        </p:nvSpPr>
        <p:spPr>
          <a:xfrm>
            <a:off x="5461000" y="2895600"/>
            <a:ext cx="1651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Floor area (m²)</a:t>
            </a:r>
            <a:endParaRPr lang="en-US" sz="1000" dirty="0"/>
          </a:p>
        </p:txBody>
      </p:sp>
      <p:sp>
        <p:nvSpPr>
          <p:cNvPr id="236" name="Shape 236"/>
          <p:cNvSpPr/>
          <p:nvPr/>
        </p:nvSpPr>
        <p:spPr>
          <a:xfrm>
            <a:off x="5461000" y="3073400"/>
            <a:ext cx="1651000" cy="2286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37" name="Shape 237"/>
          <p:cNvSpPr txBox="1"/>
          <p:nvPr/>
        </p:nvSpPr>
        <p:spPr>
          <a:xfrm>
            <a:off x="7239000" y="2895600"/>
            <a:ext cx="1651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Meters</a:t>
            </a:r>
            <a:endParaRPr lang="en-US" sz="1000" dirty="0"/>
          </a:p>
        </p:txBody>
      </p:sp>
      <p:sp>
        <p:nvSpPr>
          <p:cNvPr id="238" name="Shape 238"/>
          <p:cNvSpPr/>
          <p:nvPr/>
        </p:nvSpPr>
        <p:spPr>
          <a:xfrm>
            <a:off x="7239000" y="3098800"/>
            <a:ext cx="762000" cy="203200"/>
          </a:xfrm>
          <a:prstGeom prst="rect">
            <a:avLst/>
          </a:prstGeom>
          <a:solidFill>
            <a:srgbClr val="EDEFEC"/>
          </a:solidFill>
          <a:ln>
            <a:noFill/>
          </a:ln>
        </p:spPr>
        <p:txBody>
          <a:bodyPr wrap="square" lIns="50800" tIns="50800" rIns="50800" bIns="50800" rtlCol="0" anchor="t">
            <a:noAutofit/>
          </a:bodyPr>
          <a:lstStyle/>
          <a:p>
            <a:endParaRPr lang="en-US" dirty="0"/>
          </a:p>
        </p:txBody>
      </p:sp>
      <p:sp>
        <p:nvSpPr>
          <p:cNvPr id="239" name="Shape 239"/>
          <p:cNvSpPr/>
          <p:nvPr/>
        </p:nvSpPr>
        <p:spPr>
          <a:xfrm>
            <a:off x="8077200" y="3098800"/>
            <a:ext cx="812800" cy="203200"/>
          </a:xfrm>
          <a:prstGeom prst="rect">
            <a:avLst/>
          </a:prstGeom>
          <a:solidFill>
            <a:srgbClr val="EDEFEC"/>
          </a:solidFill>
          <a:ln>
            <a:noFill/>
          </a:ln>
        </p:spPr>
        <p:txBody>
          <a:bodyPr wrap="square" lIns="50800" tIns="50800" rIns="50800" bIns="50800" rtlCol="0" anchor="t">
            <a:noAutofit/>
          </a:bodyPr>
          <a:lstStyle/>
          <a:p>
            <a:endParaRPr lang="en-US" dirty="0"/>
          </a:p>
        </p:txBody>
      </p:sp>
      <p:sp>
        <p:nvSpPr>
          <p:cNvPr id="240" name="Shape 240"/>
          <p:cNvSpPr/>
          <p:nvPr/>
        </p:nvSpPr>
        <p:spPr>
          <a:xfrm>
            <a:off x="5461000" y="3530600"/>
            <a:ext cx="1016000" cy="254000"/>
          </a:xfrm>
          <a:prstGeom prst="roundRect">
            <a:avLst>
              <a:gd name="adj" fmla="val 20000"/>
            </a:avLst>
          </a:prstGeom>
          <a:solidFill>
            <a:srgbClr val="6B7579"/>
          </a:solidFill>
          <a:ln w="9525">
            <a:solidFill>
              <a:srgbClr val="6B7579"/>
            </a:solidFill>
          </a:ln>
        </p:spPr>
        <p:txBody>
          <a:bodyPr wrap="square" lIns="0" tIns="0" rIns="0" bIns="0" rtlCol="0" anchor="ctr">
            <a:noAutofit/>
          </a:bodyPr>
          <a:lstStyle/>
          <a:p>
            <a:pPr marL="0" indent="0" algn="ctr">
              <a:spcBef>
                <a:spcPts val="0"/>
              </a:spcBef>
              <a:buNone/>
            </a:pPr>
            <a:r>
              <a:rPr lang="en-US" sz="1000" dirty="0">
                <a:solidFill>
                  <a:srgbClr val="FFFFFF"/>
                </a:solidFill>
              </a:rPr>
              <a:t>Save</a:t>
            </a:r>
            <a:endParaRPr lang="en-US" sz="1000" dirty="0"/>
          </a:p>
        </p:txBody>
      </p:sp>
      <p:sp>
        <p:nvSpPr>
          <p:cNvPr id="241" name="Shape 241"/>
          <p:cNvSpPr/>
          <p:nvPr/>
        </p:nvSpPr>
        <p:spPr>
          <a:xfrm>
            <a:off x="6578600" y="3530600"/>
            <a:ext cx="1016000"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Cancel</a:t>
            </a:r>
            <a:endParaRPr lang="en-US" sz="1000" dirty="0"/>
          </a:p>
        </p:txBody>
      </p:sp>
      <p:sp>
        <p:nvSpPr>
          <p:cNvPr id="242" name="Shape 242"/>
          <p:cNvSpPr/>
          <p:nvPr/>
        </p:nvSpPr>
        <p:spPr>
          <a:xfrm>
            <a:off x="9169400" y="1625600"/>
            <a:ext cx="2413000" cy="22860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43" name="Shape 243"/>
          <p:cNvSpPr txBox="1"/>
          <p:nvPr/>
        </p:nvSpPr>
        <p:spPr>
          <a:xfrm>
            <a:off x="9271000" y="1701800"/>
            <a:ext cx="2209800" cy="203200"/>
          </a:xfrm>
          <a:prstGeom prst="rect">
            <a:avLst/>
          </a:prstGeom>
          <a:noFill/>
          <a:ln>
            <a:noFill/>
          </a:ln>
        </p:spPr>
        <p:txBody>
          <a:bodyPr wrap="square" lIns="0" tIns="0" rIns="0" bIns="0" rtlCol="0" anchor="t">
            <a:noAutofit/>
          </a:bodyPr>
          <a:lstStyle/>
          <a:p>
            <a:pPr marL="0" indent="0" algn="l">
              <a:spcBef>
                <a:spcPts val="0"/>
              </a:spcBef>
              <a:buNone/>
            </a:pPr>
            <a:r>
              <a:rPr lang="en-US" sz="1200" b="1" dirty="0">
                <a:solidFill>
                  <a:srgbClr val="1F2A2E"/>
                </a:solidFill>
              </a:rPr>
              <a:t>Telemetry generator</a:t>
            </a:r>
            <a:endParaRPr lang="en-US" sz="1200" dirty="0"/>
          </a:p>
        </p:txBody>
      </p:sp>
      <p:sp>
        <p:nvSpPr>
          <p:cNvPr id="244" name="Shape 244"/>
          <p:cNvSpPr txBox="1"/>
          <p:nvPr/>
        </p:nvSpPr>
        <p:spPr>
          <a:xfrm>
            <a:off x="9296400" y="1981200"/>
            <a:ext cx="2159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Status</a:t>
            </a:r>
            <a:endParaRPr lang="en-US" sz="1000" dirty="0"/>
          </a:p>
        </p:txBody>
      </p:sp>
      <p:sp>
        <p:nvSpPr>
          <p:cNvPr id="245" name="Shape 245"/>
          <p:cNvSpPr/>
          <p:nvPr/>
        </p:nvSpPr>
        <p:spPr>
          <a:xfrm>
            <a:off x="9296400" y="2184400"/>
            <a:ext cx="914400" cy="279400"/>
          </a:xfrm>
          <a:prstGeom prst="roundRect">
            <a:avLst>
              <a:gd name="adj" fmla="val 50000"/>
            </a:avLst>
          </a:prstGeom>
          <a:solidFill>
            <a:srgbClr val="6B7579"/>
          </a:solidFill>
          <a:ln>
            <a:noFill/>
          </a:ln>
        </p:spPr>
        <p:txBody>
          <a:bodyPr wrap="square" lIns="0" tIns="0" rIns="0" bIns="0" rtlCol="0" anchor="ctr">
            <a:noAutofit/>
          </a:bodyPr>
          <a:lstStyle/>
          <a:p>
            <a:pPr marL="0" indent="0" algn="ctr">
              <a:spcBef>
                <a:spcPts val="0"/>
              </a:spcBef>
              <a:buNone/>
            </a:pPr>
            <a:r>
              <a:rPr lang="en-US" sz="1000" b="1" dirty="0">
                <a:solidFill>
                  <a:srgbClr val="FFFFFF"/>
                </a:solidFill>
              </a:rPr>
              <a:t>ON</a:t>
            </a:r>
            <a:endParaRPr lang="en-US" sz="1000" dirty="0"/>
          </a:p>
        </p:txBody>
      </p:sp>
      <p:sp>
        <p:nvSpPr>
          <p:cNvPr id="246" name="Shape 246"/>
          <p:cNvSpPr/>
          <p:nvPr/>
        </p:nvSpPr>
        <p:spPr>
          <a:xfrm>
            <a:off x="10261600" y="2184400"/>
            <a:ext cx="914400" cy="279400"/>
          </a:xfrm>
          <a:prstGeom prst="roundRect">
            <a:avLst>
              <a:gd name="adj" fmla="val 5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6B7579"/>
                </a:solidFill>
              </a:rPr>
              <a:t>OFF</a:t>
            </a:r>
            <a:endParaRPr lang="en-US" sz="1000" dirty="0"/>
          </a:p>
        </p:txBody>
      </p:sp>
      <p:sp>
        <p:nvSpPr>
          <p:cNvPr id="247" name="Shape 247"/>
          <p:cNvSpPr txBox="1"/>
          <p:nvPr/>
        </p:nvSpPr>
        <p:spPr>
          <a:xfrm>
            <a:off x="9296400" y="2590800"/>
            <a:ext cx="1905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Interval (s), 10–3600</a:t>
            </a:r>
            <a:endParaRPr lang="en-US" sz="1000" dirty="0"/>
          </a:p>
        </p:txBody>
      </p:sp>
      <p:sp>
        <p:nvSpPr>
          <p:cNvPr id="248" name="Shape 248"/>
          <p:cNvSpPr/>
          <p:nvPr/>
        </p:nvSpPr>
        <p:spPr>
          <a:xfrm>
            <a:off x="9296400" y="2768600"/>
            <a:ext cx="1905000" cy="2286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49" name="Shape 249"/>
          <p:cNvSpPr txBox="1"/>
          <p:nvPr/>
        </p:nvSpPr>
        <p:spPr>
          <a:xfrm>
            <a:off x="9296400" y="3098800"/>
            <a:ext cx="2159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Last reading: 14:02:00 UTC</a:t>
            </a:r>
            <a:endParaRPr lang="en-US" sz="1000" dirty="0"/>
          </a:p>
        </p:txBody>
      </p:sp>
      <p:sp>
        <p:nvSpPr>
          <p:cNvPr id="250" name="Shape 250"/>
          <p:cNvSpPr txBox="1"/>
          <p:nvPr/>
        </p:nvSpPr>
        <p:spPr>
          <a:xfrm>
            <a:off x="9296400" y="3327400"/>
            <a:ext cx="2159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Active meters: 9</a:t>
            </a:r>
            <a:endParaRPr lang="en-US" sz="1000" dirty="0"/>
          </a:p>
        </p:txBody>
      </p:sp>
      <p:sp>
        <p:nvSpPr>
          <p:cNvPr id="251" name="Shape 251"/>
          <p:cNvSpPr/>
          <p:nvPr/>
        </p:nvSpPr>
        <p:spPr>
          <a:xfrm>
            <a:off x="2184400" y="4064000"/>
            <a:ext cx="9398000" cy="20320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52" name="Shape 252"/>
          <p:cNvSpPr txBox="1"/>
          <p:nvPr/>
        </p:nvSpPr>
        <p:spPr>
          <a:xfrm>
            <a:off x="2286000" y="4140200"/>
            <a:ext cx="9194800" cy="203200"/>
          </a:xfrm>
          <a:prstGeom prst="rect">
            <a:avLst/>
          </a:prstGeom>
          <a:noFill/>
          <a:ln>
            <a:noFill/>
          </a:ln>
        </p:spPr>
        <p:txBody>
          <a:bodyPr wrap="square" lIns="0" tIns="0" rIns="0" bIns="0" rtlCol="0" anchor="t">
            <a:noAutofit/>
          </a:bodyPr>
          <a:lstStyle/>
          <a:p>
            <a:pPr marL="0" indent="0" algn="l">
              <a:spcBef>
                <a:spcPts val="0"/>
              </a:spcBef>
              <a:buNone/>
            </a:pPr>
            <a:r>
              <a:rPr lang="en-US" sz="1200" b="1" dirty="0">
                <a:solidFill>
                  <a:srgbClr val="1F2A2E"/>
                </a:solidFill>
              </a:rPr>
              <a:t>Live readings · refreshes every 60 s</a:t>
            </a:r>
            <a:endParaRPr lang="en-US" sz="1200" dirty="0"/>
          </a:p>
        </p:txBody>
      </p:sp>
      <p:sp>
        <p:nvSpPr>
          <p:cNvPr id="253" name="Shape 253"/>
          <p:cNvSpPr txBox="1"/>
          <p:nvPr/>
        </p:nvSpPr>
        <p:spPr>
          <a:xfrm>
            <a:off x="2311400" y="43942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b="1" dirty="0">
                <a:solidFill>
                  <a:srgbClr val="1F2A2E"/>
                </a:solidFill>
              </a:rPr>
              <a:t>Time (UTC)</a:t>
            </a:r>
            <a:endParaRPr lang="en-US" sz="1000" dirty="0"/>
          </a:p>
        </p:txBody>
      </p:sp>
      <p:sp>
        <p:nvSpPr>
          <p:cNvPr id="254" name="Shape 254"/>
          <p:cNvSpPr txBox="1"/>
          <p:nvPr/>
        </p:nvSpPr>
        <p:spPr>
          <a:xfrm>
            <a:off x="3835400" y="43942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b="1" dirty="0">
                <a:solidFill>
                  <a:srgbClr val="1F2A2E"/>
                </a:solidFill>
              </a:rPr>
              <a:t>Meter</a:t>
            </a:r>
            <a:endParaRPr lang="en-US" sz="1000" dirty="0"/>
          </a:p>
        </p:txBody>
      </p:sp>
      <p:sp>
        <p:nvSpPr>
          <p:cNvPr id="255" name="Shape 255"/>
          <p:cNvSpPr txBox="1"/>
          <p:nvPr/>
        </p:nvSpPr>
        <p:spPr>
          <a:xfrm>
            <a:off x="5359400" y="43942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b="1" dirty="0">
                <a:solidFill>
                  <a:srgbClr val="1F2A2E"/>
                </a:solidFill>
              </a:rPr>
              <a:t>Category</a:t>
            </a:r>
            <a:endParaRPr lang="en-US" sz="1000" dirty="0"/>
          </a:p>
        </p:txBody>
      </p:sp>
      <p:sp>
        <p:nvSpPr>
          <p:cNvPr id="256" name="Shape 256"/>
          <p:cNvSpPr txBox="1"/>
          <p:nvPr/>
        </p:nvSpPr>
        <p:spPr>
          <a:xfrm>
            <a:off x="6883400" y="43942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b="1" dirty="0">
                <a:solidFill>
                  <a:srgbClr val="1F2A2E"/>
                </a:solidFill>
              </a:rPr>
              <a:t>kWh</a:t>
            </a:r>
            <a:endParaRPr lang="en-US" sz="1000" dirty="0"/>
          </a:p>
        </p:txBody>
      </p:sp>
      <p:sp>
        <p:nvSpPr>
          <p:cNvPr id="257" name="Shape 257"/>
          <p:cNvSpPr txBox="1"/>
          <p:nvPr/>
        </p:nvSpPr>
        <p:spPr>
          <a:xfrm>
            <a:off x="8407400" y="43942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b="1" dirty="0">
                <a:solidFill>
                  <a:srgbClr val="1F2A2E"/>
                </a:solidFill>
              </a:rPr>
              <a:t>kW</a:t>
            </a:r>
            <a:endParaRPr lang="en-US" sz="1000" dirty="0"/>
          </a:p>
        </p:txBody>
      </p:sp>
      <p:sp>
        <p:nvSpPr>
          <p:cNvPr id="258" name="Shape 258"/>
          <p:cNvSpPr txBox="1"/>
          <p:nvPr/>
        </p:nvSpPr>
        <p:spPr>
          <a:xfrm>
            <a:off x="9931400" y="43942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b="1" dirty="0">
                <a:solidFill>
                  <a:srgbClr val="1F2A2E"/>
                </a:solidFill>
              </a:rPr>
              <a:t>Source</a:t>
            </a:r>
            <a:endParaRPr lang="en-US" sz="1000" dirty="0"/>
          </a:p>
        </p:txBody>
      </p:sp>
      <p:cxnSp>
        <p:nvCxnSpPr>
          <p:cNvPr id="259" name="Line 259"/>
          <p:cNvCxnSpPr/>
          <p:nvPr/>
        </p:nvCxnSpPr>
        <p:spPr>
          <a:xfrm>
            <a:off x="2311400" y="4610100"/>
            <a:ext cx="9144000" cy="0"/>
          </a:xfrm>
          <a:prstGeom prst="line">
            <a:avLst/>
          </a:prstGeom>
          <a:ln w="9525">
            <a:solidFill>
              <a:srgbClr val="A9B1B3"/>
            </a:solidFill>
          </a:ln>
        </p:spPr>
      </p:cxnSp>
      <p:sp>
        <p:nvSpPr>
          <p:cNvPr id="260" name="Shape 260"/>
          <p:cNvSpPr txBox="1"/>
          <p:nvPr/>
        </p:nvSpPr>
        <p:spPr>
          <a:xfrm>
            <a:off x="2311400" y="4673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14:02:00</a:t>
            </a:r>
            <a:endParaRPr lang="en-US" sz="1000" dirty="0"/>
          </a:p>
        </p:txBody>
      </p:sp>
      <p:sp>
        <p:nvSpPr>
          <p:cNvPr id="261" name="Shape 261"/>
          <p:cNvSpPr txBox="1"/>
          <p:nvPr/>
        </p:nvSpPr>
        <p:spPr>
          <a:xfrm>
            <a:off x="3835400" y="4673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HQ-HVAC-1</a:t>
            </a:r>
            <a:endParaRPr lang="en-US" sz="1000" dirty="0"/>
          </a:p>
        </p:txBody>
      </p:sp>
      <p:sp>
        <p:nvSpPr>
          <p:cNvPr id="262" name="Shape 262"/>
          <p:cNvSpPr txBox="1"/>
          <p:nvPr/>
        </p:nvSpPr>
        <p:spPr>
          <a:xfrm>
            <a:off x="5359400" y="4673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HVAC</a:t>
            </a:r>
            <a:endParaRPr lang="en-US" sz="1000" dirty="0"/>
          </a:p>
        </p:txBody>
      </p:sp>
      <p:sp>
        <p:nvSpPr>
          <p:cNvPr id="263" name="Shape 263"/>
          <p:cNvSpPr txBox="1"/>
          <p:nvPr/>
        </p:nvSpPr>
        <p:spPr>
          <a:xfrm>
            <a:off x="6883400" y="4673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1.42</a:t>
            </a:r>
            <a:endParaRPr lang="en-US" sz="1000" dirty="0"/>
          </a:p>
        </p:txBody>
      </p:sp>
      <p:sp>
        <p:nvSpPr>
          <p:cNvPr id="264" name="Shape 264"/>
          <p:cNvSpPr txBox="1"/>
          <p:nvPr/>
        </p:nvSpPr>
        <p:spPr>
          <a:xfrm>
            <a:off x="8407400" y="4673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85.2</a:t>
            </a:r>
            <a:endParaRPr lang="en-US" sz="1000" dirty="0"/>
          </a:p>
        </p:txBody>
      </p:sp>
      <p:sp>
        <p:nvSpPr>
          <p:cNvPr id="265" name="Shape 265"/>
          <p:cNvSpPr txBox="1"/>
          <p:nvPr/>
        </p:nvSpPr>
        <p:spPr>
          <a:xfrm>
            <a:off x="9931400" y="4673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SIMULATED</a:t>
            </a:r>
            <a:endParaRPr lang="en-US" sz="1000" dirty="0"/>
          </a:p>
        </p:txBody>
      </p:sp>
      <p:cxnSp>
        <p:nvCxnSpPr>
          <p:cNvPr id="266" name="Line 266"/>
          <p:cNvCxnSpPr/>
          <p:nvPr/>
        </p:nvCxnSpPr>
        <p:spPr>
          <a:xfrm>
            <a:off x="2311400" y="4889500"/>
            <a:ext cx="9144000" cy="0"/>
          </a:xfrm>
          <a:prstGeom prst="line">
            <a:avLst/>
          </a:prstGeom>
          <a:ln w="6350">
            <a:solidFill>
              <a:srgbClr val="E0E3E0"/>
            </a:solidFill>
          </a:ln>
        </p:spPr>
      </p:cxnSp>
      <p:sp>
        <p:nvSpPr>
          <p:cNvPr id="267" name="Shape 267"/>
          <p:cNvSpPr txBox="1"/>
          <p:nvPr/>
        </p:nvSpPr>
        <p:spPr>
          <a:xfrm>
            <a:off x="2311400" y="4927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14:02:00</a:t>
            </a:r>
            <a:endParaRPr lang="en-US" sz="1000" dirty="0"/>
          </a:p>
        </p:txBody>
      </p:sp>
      <p:sp>
        <p:nvSpPr>
          <p:cNvPr id="268" name="Shape 268"/>
          <p:cNvSpPr txBox="1"/>
          <p:nvPr/>
        </p:nvSpPr>
        <p:spPr>
          <a:xfrm>
            <a:off x="3835400" y="4927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HQ-LIGHT-1</a:t>
            </a:r>
            <a:endParaRPr lang="en-US" sz="1000" dirty="0"/>
          </a:p>
        </p:txBody>
      </p:sp>
      <p:sp>
        <p:nvSpPr>
          <p:cNvPr id="269" name="Shape 269"/>
          <p:cNvSpPr txBox="1"/>
          <p:nvPr/>
        </p:nvSpPr>
        <p:spPr>
          <a:xfrm>
            <a:off x="5359400" y="4927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LIGHTING</a:t>
            </a:r>
            <a:endParaRPr lang="en-US" sz="1000" dirty="0"/>
          </a:p>
        </p:txBody>
      </p:sp>
      <p:sp>
        <p:nvSpPr>
          <p:cNvPr id="270" name="Shape 270"/>
          <p:cNvSpPr txBox="1"/>
          <p:nvPr/>
        </p:nvSpPr>
        <p:spPr>
          <a:xfrm>
            <a:off x="6883400" y="4927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0.31</a:t>
            </a:r>
            <a:endParaRPr lang="en-US" sz="1000" dirty="0"/>
          </a:p>
        </p:txBody>
      </p:sp>
      <p:sp>
        <p:nvSpPr>
          <p:cNvPr id="271" name="Shape 271"/>
          <p:cNvSpPr txBox="1"/>
          <p:nvPr/>
        </p:nvSpPr>
        <p:spPr>
          <a:xfrm>
            <a:off x="8407400" y="4927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18.6</a:t>
            </a:r>
            <a:endParaRPr lang="en-US" sz="1000" dirty="0"/>
          </a:p>
        </p:txBody>
      </p:sp>
      <p:sp>
        <p:nvSpPr>
          <p:cNvPr id="272" name="Shape 272"/>
          <p:cNvSpPr txBox="1"/>
          <p:nvPr/>
        </p:nvSpPr>
        <p:spPr>
          <a:xfrm>
            <a:off x="9931400" y="4927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SIMULATED</a:t>
            </a:r>
            <a:endParaRPr lang="en-US" sz="1000" dirty="0"/>
          </a:p>
        </p:txBody>
      </p:sp>
      <p:cxnSp>
        <p:nvCxnSpPr>
          <p:cNvPr id="273" name="Line 273"/>
          <p:cNvCxnSpPr/>
          <p:nvPr/>
        </p:nvCxnSpPr>
        <p:spPr>
          <a:xfrm>
            <a:off x="2311400" y="5143500"/>
            <a:ext cx="9144000" cy="0"/>
          </a:xfrm>
          <a:prstGeom prst="line">
            <a:avLst/>
          </a:prstGeom>
          <a:ln w="6350">
            <a:solidFill>
              <a:srgbClr val="E0E3E0"/>
            </a:solidFill>
          </a:ln>
        </p:spPr>
      </p:cxnSp>
      <p:sp>
        <p:nvSpPr>
          <p:cNvPr id="274" name="Shape 274"/>
          <p:cNvSpPr txBox="1"/>
          <p:nvPr/>
        </p:nvSpPr>
        <p:spPr>
          <a:xfrm>
            <a:off x="2311400" y="5181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14:01:00</a:t>
            </a:r>
            <a:endParaRPr lang="en-US" sz="1000" dirty="0"/>
          </a:p>
        </p:txBody>
      </p:sp>
      <p:sp>
        <p:nvSpPr>
          <p:cNvPr id="275" name="Shape 275"/>
          <p:cNvSpPr txBox="1"/>
          <p:nvPr/>
        </p:nvSpPr>
        <p:spPr>
          <a:xfrm>
            <a:off x="3835400" y="5181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LIB-PLUG-2</a:t>
            </a:r>
            <a:endParaRPr lang="en-US" sz="1000" dirty="0"/>
          </a:p>
        </p:txBody>
      </p:sp>
      <p:sp>
        <p:nvSpPr>
          <p:cNvPr id="276" name="Shape 276"/>
          <p:cNvSpPr txBox="1"/>
          <p:nvPr/>
        </p:nvSpPr>
        <p:spPr>
          <a:xfrm>
            <a:off x="5359400" y="5181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PLUG</a:t>
            </a:r>
            <a:endParaRPr lang="en-US" sz="1000" dirty="0"/>
          </a:p>
        </p:txBody>
      </p:sp>
      <p:sp>
        <p:nvSpPr>
          <p:cNvPr id="277" name="Shape 277"/>
          <p:cNvSpPr txBox="1"/>
          <p:nvPr/>
        </p:nvSpPr>
        <p:spPr>
          <a:xfrm>
            <a:off x="6883400" y="5181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0.12</a:t>
            </a:r>
            <a:endParaRPr lang="en-US" sz="1000" dirty="0"/>
          </a:p>
        </p:txBody>
      </p:sp>
      <p:sp>
        <p:nvSpPr>
          <p:cNvPr id="278" name="Shape 278"/>
          <p:cNvSpPr txBox="1"/>
          <p:nvPr/>
        </p:nvSpPr>
        <p:spPr>
          <a:xfrm>
            <a:off x="8407400" y="5181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7.4</a:t>
            </a:r>
            <a:endParaRPr lang="en-US" sz="1000" dirty="0"/>
          </a:p>
        </p:txBody>
      </p:sp>
      <p:sp>
        <p:nvSpPr>
          <p:cNvPr id="279" name="Shape 279"/>
          <p:cNvSpPr txBox="1"/>
          <p:nvPr/>
        </p:nvSpPr>
        <p:spPr>
          <a:xfrm>
            <a:off x="9931400" y="5181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MANUAL</a:t>
            </a:r>
            <a:endParaRPr lang="en-US" sz="1000" dirty="0"/>
          </a:p>
        </p:txBody>
      </p:sp>
      <p:cxnSp>
        <p:nvCxnSpPr>
          <p:cNvPr id="280" name="Line 280"/>
          <p:cNvCxnSpPr/>
          <p:nvPr/>
        </p:nvCxnSpPr>
        <p:spPr>
          <a:xfrm>
            <a:off x="2311400" y="5397500"/>
            <a:ext cx="9144000" cy="0"/>
          </a:xfrm>
          <a:prstGeom prst="line">
            <a:avLst/>
          </a:prstGeom>
          <a:ln w="6350">
            <a:solidFill>
              <a:srgbClr val="E0E3E0"/>
            </a:solidFill>
          </a:ln>
        </p:spPr>
      </p:cxnSp>
      <p:sp>
        <p:nvSpPr>
          <p:cNvPr id="281" name="Shape 281"/>
          <p:cNvSpPr txBox="1"/>
          <p:nvPr/>
        </p:nvSpPr>
        <p:spPr>
          <a:xfrm>
            <a:off x="2311400" y="5435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14:01:00</a:t>
            </a:r>
            <a:endParaRPr lang="en-US" sz="1000" dirty="0"/>
          </a:p>
        </p:txBody>
      </p:sp>
      <p:sp>
        <p:nvSpPr>
          <p:cNvPr id="282" name="Shape 282"/>
          <p:cNvSpPr txBox="1"/>
          <p:nvPr/>
        </p:nvSpPr>
        <p:spPr>
          <a:xfrm>
            <a:off x="3835400" y="5435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LAB-SOLAR-1</a:t>
            </a:r>
            <a:endParaRPr lang="en-US" sz="1000" dirty="0"/>
          </a:p>
        </p:txBody>
      </p:sp>
      <p:sp>
        <p:nvSpPr>
          <p:cNvPr id="283" name="Shape 283"/>
          <p:cNvSpPr txBox="1"/>
          <p:nvPr/>
        </p:nvSpPr>
        <p:spPr>
          <a:xfrm>
            <a:off x="5359400" y="5435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SOLAR</a:t>
            </a:r>
            <a:endParaRPr lang="en-US" sz="1000" dirty="0"/>
          </a:p>
        </p:txBody>
      </p:sp>
      <p:sp>
        <p:nvSpPr>
          <p:cNvPr id="284" name="Shape 284"/>
          <p:cNvSpPr txBox="1"/>
          <p:nvPr/>
        </p:nvSpPr>
        <p:spPr>
          <a:xfrm>
            <a:off x="6883400" y="5435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0.40</a:t>
            </a:r>
            <a:endParaRPr lang="en-US" sz="1000" dirty="0"/>
          </a:p>
        </p:txBody>
      </p:sp>
      <p:sp>
        <p:nvSpPr>
          <p:cNvPr id="285" name="Shape 285"/>
          <p:cNvSpPr txBox="1"/>
          <p:nvPr/>
        </p:nvSpPr>
        <p:spPr>
          <a:xfrm>
            <a:off x="8407400" y="5435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24.0</a:t>
            </a:r>
            <a:endParaRPr lang="en-US" sz="1000" dirty="0"/>
          </a:p>
        </p:txBody>
      </p:sp>
      <p:sp>
        <p:nvSpPr>
          <p:cNvPr id="286" name="Shape 286"/>
          <p:cNvSpPr txBox="1"/>
          <p:nvPr/>
        </p:nvSpPr>
        <p:spPr>
          <a:xfrm>
            <a:off x="9931400" y="5435600"/>
            <a:ext cx="1473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SIMULATED</a:t>
            </a:r>
            <a:endParaRPr lang="en-US" sz="1000" dirty="0"/>
          </a:p>
        </p:txBody>
      </p:sp>
      <p:cxnSp>
        <p:nvCxnSpPr>
          <p:cNvPr id="287" name="Line 287"/>
          <p:cNvCxnSpPr/>
          <p:nvPr/>
        </p:nvCxnSpPr>
        <p:spPr>
          <a:xfrm>
            <a:off x="2311400" y="5651500"/>
            <a:ext cx="9144000" cy="0"/>
          </a:xfrm>
          <a:prstGeom prst="line">
            <a:avLst/>
          </a:prstGeom>
          <a:ln w="6350">
            <a:solidFill>
              <a:srgbClr val="E0E3E0"/>
            </a:solidFill>
          </a:ln>
        </p:spPr>
      </p:cxnSp>
      <p:sp>
        <p:nvSpPr>
          <p:cNvPr id="288" name="Shape 288"/>
          <p:cNvSpPr/>
          <p:nvPr/>
        </p:nvSpPr>
        <p:spPr>
          <a:xfrm>
            <a:off x="10693400" y="4140200"/>
            <a:ext cx="787400"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Export CSV</a:t>
            </a:r>
            <a:endParaRPr lang="en-US" sz="1000" dirty="0"/>
          </a:p>
        </p:txBody>
      </p:sp>
      <p:sp>
        <p:nvSpPr>
          <p:cNvPr id="289" name="Shape 289"/>
          <p:cNvSpPr txBox="1"/>
          <p:nvPr/>
        </p:nvSpPr>
        <p:spPr>
          <a:xfrm>
            <a:off x="457200" y="6438900"/>
            <a:ext cx="112776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Low-fidelity wireframe, not yet implemented. Layout and labels only; final styling follows the deck palette.</a:t>
            </a:r>
            <a:endParaRPr lang="en-US" sz="1100" dirty="0"/>
          </a:p>
        </p:txBody>
      </p:sp>
    </p:spTree>
    <p:extLst>
      <p:ext uri="{BB962C8B-B14F-4D97-AF65-F5344CB8AC3E}">
        <p14:creationId xmlns:p14="http://schemas.microsoft.com/office/powerpoint/2010/main" val="3642853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1FB72-8FFD-ED1E-3DED-6CCD8159E4AA}"/>
              </a:ext>
            </a:extLst>
          </p:cNvPr>
          <p:cNvSpPr>
            <a:spLocks noGrp="1"/>
          </p:cNvSpPr>
          <p:nvPr>
            <p:ph type="title"/>
          </p:nvPr>
        </p:nvSpPr>
        <p:spPr/>
        <p:txBody>
          <a:bodyPr/>
          <a:lstStyle/>
          <a:p>
            <a:pPr algn="l"/>
            <a:r>
              <a:rPr lang="en-US" sz="3200" b="1" dirty="0"/>
              <a:t>A6 · S2 Analytics wireframe</a:t>
            </a:r>
          </a:p>
        </p:txBody>
      </p:sp>
      <p:sp>
        <p:nvSpPr>
          <p:cNvPr id="200" name="Subsystem bar"/>
          <p:cNvSpPr/>
          <p:nvPr/>
        </p:nvSpPr>
        <p:spPr>
          <a:xfrm>
            <a:off x="457200" y="304800"/>
            <a:ext cx="711200" cy="63500"/>
          </a:xfrm>
          <a:prstGeom prst="rect">
            <a:avLst/>
          </a:prstGeom>
          <a:solidFill>
            <a:srgbClr val="0F7B6C"/>
          </a:solidFill>
          <a:ln>
            <a:noFill/>
          </a:ln>
        </p:spPr>
        <p:txBody>
          <a:bodyPr wrap="square" lIns="50800" tIns="50800" rIns="50800" bIns="50800" rtlCol="0" anchor="t">
            <a:noAutofit/>
          </a:bodyPr>
          <a:lstStyle/>
          <a:p>
            <a:endParaRPr lang="en-US" dirty="0"/>
          </a:p>
        </p:txBody>
      </p:sp>
      <p:sp>
        <p:nvSpPr>
          <p:cNvPr id="201" name="Shape 201"/>
          <p:cNvSpPr/>
          <p:nvPr/>
        </p:nvSpPr>
        <p:spPr>
          <a:xfrm>
            <a:off x="457200" y="1219200"/>
            <a:ext cx="11277600" cy="5029200"/>
          </a:xfrm>
          <a:prstGeom prst="rect">
            <a:avLst/>
          </a:prstGeom>
          <a:solidFill>
            <a:srgbClr val="FFFFFF"/>
          </a:solidFill>
          <a:ln w="12700">
            <a:solidFill>
              <a:srgbClr val="A9B1B3"/>
            </a:solidFill>
          </a:ln>
        </p:spPr>
        <p:txBody>
          <a:bodyPr wrap="square" lIns="50800" tIns="50800" rIns="50800" bIns="50800" rtlCol="0" anchor="t">
            <a:noAutofit/>
          </a:bodyPr>
          <a:lstStyle/>
          <a:p>
            <a:endParaRPr lang="en-US" dirty="0"/>
          </a:p>
        </p:txBody>
      </p:sp>
      <p:sp>
        <p:nvSpPr>
          <p:cNvPr id="202" name="Shape 202"/>
          <p:cNvSpPr/>
          <p:nvPr/>
        </p:nvSpPr>
        <p:spPr>
          <a:xfrm>
            <a:off x="457200" y="1219200"/>
            <a:ext cx="11277600" cy="279400"/>
          </a:xfrm>
          <a:prstGeom prst="rect">
            <a:avLst/>
          </a:prstGeom>
          <a:solidFill>
            <a:srgbClr val="EDEFEC"/>
          </a:solidFill>
          <a:ln w="12700">
            <a:solidFill>
              <a:srgbClr val="A9B1B3"/>
            </a:solidFill>
          </a:ln>
        </p:spPr>
        <p:txBody>
          <a:bodyPr wrap="square" lIns="50800" tIns="50800" rIns="50800" bIns="50800" rtlCol="0" anchor="t">
            <a:noAutofit/>
          </a:bodyPr>
          <a:lstStyle/>
          <a:p>
            <a:endParaRPr lang="en-US" dirty="0"/>
          </a:p>
        </p:txBody>
      </p:sp>
      <p:sp>
        <p:nvSpPr>
          <p:cNvPr id="203" name="Shape 203"/>
          <p:cNvSpPr/>
          <p:nvPr/>
        </p:nvSpPr>
        <p:spPr>
          <a:xfrm>
            <a:off x="5588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04" name="Shape 204"/>
          <p:cNvSpPr/>
          <p:nvPr/>
        </p:nvSpPr>
        <p:spPr>
          <a:xfrm>
            <a:off x="6858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05" name="Shape 205"/>
          <p:cNvSpPr/>
          <p:nvPr/>
        </p:nvSpPr>
        <p:spPr>
          <a:xfrm>
            <a:off x="8128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06" name="Shape 206"/>
          <p:cNvSpPr/>
          <p:nvPr/>
        </p:nvSpPr>
        <p:spPr>
          <a:xfrm>
            <a:off x="1016000" y="1270000"/>
            <a:ext cx="4064000" cy="177800"/>
          </a:xfrm>
          <a:prstGeom prst="rect">
            <a:avLst/>
          </a:prstGeom>
          <a:solidFill>
            <a:srgbClr val="FFFFFF"/>
          </a:solidFill>
          <a:ln w="6350">
            <a:solidFill>
              <a:srgbClr val="D5D9D6"/>
            </a:solidFill>
          </a:ln>
        </p:spPr>
        <p:txBody>
          <a:bodyPr wrap="square" lIns="76200" tIns="0" rIns="0" bIns="0" rtlCol="0" anchor="ctr">
            <a:noAutofit/>
          </a:bodyPr>
          <a:lstStyle/>
          <a:p>
            <a:pPr marL="0" indent="0" algn="l">
              <a:spcBef>
                <a:spcPts val="0"/>
              </a:spcBef>
              <a:buNone/>
            </a:pPr>
            <a:r>
              <a:rPr lang="en-US" sz="850" dirty="0">
                <a:solidFill>
                  <a:srgbClr val="6B7579"/>
                </a:solidFill>
              </a:rPr>
              <a:t>smartenergy.local/analytics</a:t>
            </a:r>
            <a:endParaRPr lang="en-US" sz="850" dirty="0"/>
          </a:p>
        </p:txBody>
      </p:sp>
      <p:sp>
        <p:nvSpPr>
          <p:cNvPr id="207" name="Shape 207"/>
          <p:cNvSpPr/>
          <p:nvPr/>
        </p:nvSpPr>
        <p:spPr>
          <a:xfrm>
            <a:off x="457200" y="1498600"/>
            <a:ext cx="1574800" cy="4749800"/>
          </a:xfrm>
          <a:prstGeom prst="rect">
            <a:avLst/>
          </a:prstGeom>
          <a:solidFill>
            <a:srgbClr val="EDEFEC"/>
          </a:solidFill>
          <a:ln>
            <a:noFill/>
          </a:ln>
        </p:spPr>
        <p:txBody>
          <a:bodyPr wrap="square" lIns="50800" tIns="50800" rIns="50800" bIns="50800" rtlCol="0" anchor="t">
            <a:noAutofit/>
          </a:bodyPr>
          <a:lstStyle/>
          <a:p>
            <a:endParaRPr lang="en-US" dirty="0"/>
          </a:p>
        </p:txBody>
      </p:sp>
      <p:sp>
        <p:nvSpPr>
          <p:cNvPr id="208" name="Shape 208"/>
          <p:cNvSpPr txBox="1"/>
          <p:nvPr/>
        </p:nvSpPr>
        <p:spPr>
          <a:xfrm>
            <a:off x="609600" y="16256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1F2A2E"/>
                </a:solidFill>
              </a:rPr>
              <a:t>Smart Energy</a:t>
            </a:r>
            <a:endParaRPr lang="en-US" sz="1100" dirty="0"/>
          </a:p>
        </p:txBody>
      </p:sp>
      <p:sp>
        <p:nvSpPr>
          <p:cNvPr id="209" name="Shape 209"/>
          <p:cNvSpPr txBox="1"/>
          <p:nvPr/>
        </p:nvSpPr>
        <p:spPr>
          <a:xfrm>
            <a:off x="635000" y="19812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Dashboard</a:t>
            </a:r>
            <a:endParaRPr lang="en-US" sz="1100" dirty="0"/>
          </a:p>
        </p:txBody>
      </p:sp>
      <p:sp>
        <p:nvSpPr>
          <p:cNvPr id="210" name="Shape 210"/>
          <p:cNvSpPr txBox="1"/>
          <p:nvPr/>
        </p:nvSpPr>
        <p:spPr>
          <a:xfrm>
            <a:off x="635000" y="23114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Buildings</a:t>
            </a:r>
            <a:endParaRPr lang="en-US" sz="1100" dirty="0"/>
          </a:p>
        </p:txBody>
      </p:sp>
      <p:sp>
        <p:nvSpPr>
          <p:cNvPr id="211" name="Shape 211"/>
          <p:cNvSpPr/>
          <p:nvPr/>
        </p:nvSpPr>
        <p:spPr>
          <a:xfrm>
            <a:off x="533400" y="2603500"/>
            <a:ext cx="1422400" cy="2794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12" name="Shape 212"/>
          <p:cNvSpPr txBox="1"/>
          <p:nvPr/>
        </p:nvSpPr>
        <p:spPr>
          <a:xfrm>
            <a:off x="635000" y="26416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1F2A2E"/>
                </a:solidFill>
              </a:rPr>
              <a:t>Analytics</a:t>
            </a:r>
            <a:endParaRPr lang="en-US" sz="1100" dirty="0"/>
          </a:p>
        </p:txBody>
      </p:sp>
      <p:sp>
        <p:nvSpPr>
          <p:cNvPr id="213" name="Shape 213"/>
          <p:cNvSpPr txBox="1"/>
          <p:nvPr/>
        </p:nvSpPr>
        <p:spPr>
          <a:xfrm>
            <a:off x="635000" y="29718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Recommendations</a:t>
            </a:r>
            <a:endParaRPr lang="en-US" sz="1100" dirty="0"/>
          </a:p>
        </p:txBody>
      </p:sp>
      <p:sp>
        <p:nvSpPr>
          <p:cNvPr id="214" name="Shape 214"/>
          <p:cNvSpPr txBox="1"/>
          <p:nvPr/>
        </p:nvSpPr>
        <p:spPr>
          <a:xfrm>
            <a:off x="635000" y="33020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Settings</a:t>
            </a:r>
            <a:endParaRPr lang="en-US" sz="1100" dirty="0"/>
          </a:p>
        </p:txBody>
      </p:sp>
      <p:sp>
        <p:nvSpPr>
          <p:cNvPr id="215" name="Shape 215"/>
          <p:cNvSpPr txBox="1"/>
          <p:nvPr/>
        </p:nvSpPr>
        <p:spPr>
          <a:xfrm>
            <a:off x="2184400" y="1651000"/>
            <a:ext cx="508000" cy="203200"/>
          </a:xfrm>
          <a:prstGeom prst="rect">
            <a:avLst/>
          </a:prstGeom>
          <a:noFill/>
          <a:ln>
            <a:noFill/>
          </a:ln>
        </p:spPr>
        <p:txBody>
          <a:bodyPr wrap="square" lIns="0" tIns="0" rIns="0" bIns="0" rtlCol="0" anchor="t">
            <a:noAutofit/>
          </a:bodyPr>
          <a:lstStyle/>
          <a:p>
            <a:pPr marL="0" indent="0" algn="l">
              <a:spcBef>
                <a:spcPts val="0"/>
              </a:spcBef>
              <a:buNone/>
            </a:pPr>
            <a:r>
              <a:rPr lang="en-US" sz="1000" b="1" dirty="0">
                <a:solidFill>
                  <a:srgbClr val="1F2A2E"/>
                </a:solidFill>
              </a:rPr>
              <a:t>Period</a:t>
            </a:r>
            <a:endParaRPr lang="en-US" sz="1000" dirty="0"/>
          </a:p>
        </p:txBody>
      </p:sp>
      <p:sp>
        <p:nvSpPr>
          <p:cNvPr id="216" name="Shape 216"/>
          <p:cNvSpPr/>
          <p:nvPr/>
        </p:nvSpPr>
        <p:spPr>
          <a:xfrm>
            <a:off x="2743200" y="1625600"/>
            <a:ext cx="685800"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Day</a:t>
            </a:r>
            <a:endParaRPr lang="en-US" sz="1000" dirty="0"/>
          </a:p>
        </p:txBody>
      </p:sp>
      <p:sp>
        <p:nvSpPr>
          <p:cNvPr id="217" name="Shape 217"/>
          <p:cNvSpPr/>
          <p:nvPr/>
        </p:nvSpPr>
        <p:spPr>
          <a:xfrm>
            <a:off x="3479800" y="1625600"/>
            <a:ext cx="685800" cy="254000"/>
          </a:xfrm>
          <a:prstGeom prst="roundRect">
            <a:avLst>
              <a:gd name="adj" fmla="val 20000"/>
            </a:avLst>
          </a:prstGeom>
          <a:solidFill>
            <a:srgbClr val="6B7579"/>
          </a:solidFill>
          <a:ln w="9525">
            <a:solidFill>
              <a:srgbClr val="6B7579"/>
            </a:solidFill>
          </a:ln>
        </p:spPr>
        <p:txBody>
          <a:bodyPr wrap="square" lIns="0" tIns="0" rIns="0" bIns="0" rtlCol="0" anchor="ctr">
            <a:noAutofit/>
          </a:bodyPr>
          <a:lstStyle/>
          <a:p>
            <a:pPr marL="0" indent="0" algn="ctr">
              <a:spcBef>
                <a:spcPts val="0"/>
              </a:spcBef>
              <a:buNone/>
            </a:pPr>
            <a:r>
              <a:rPr lang="en-US" sz="1000" dirty="0">
                <a:solidFill>
                  <a:srgbClr val="FFFFFF"/>
                </a:solidFill>
              </a:rPr>
              <a:t>Week</a:t>
            </a:r>
            <a:endParaRPr lang="en-US" sz="1000" dirty="0"/>
          </a:p>
        </p:txBody>
      </p:sp>
      <p:sp>
        <p:nvSpPr>
          <p:cNvPr id="218" name="Shape 218"/>
          <p:cNvSpPr/>
          <p:nvPr/>
        </p:nvSpPr>
        <p:spPr>
          <a:xfrm>
            <a:off x="4216400" y="1625600"/>
            <a:ext cx="685800"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Month</a:t>
            </a:r>
            <a:endParaRPr lang="en-US" sz="1000" dirty="0"/>
          </a:p>
        </p:txBody>
      </p:sp>
      <p:sp>
        <p:nvSpPr>
          <p:cNvPr id="219" name="Shape 219"/>
          <p:cNvSpPr/>
          <p:nvPr/>
        </p:nvSpPr>
        <p:spPr>
          <a:xfrm>
            <a:off x="5105400" y="1625600"/>
            <a:ext cx="2159000" cy="254000"/>
          </a:xfrm>
          <a:prstGeom prst="rect">
            <a:avLst/>
          </a:prstGeom>
          <a:solidFill>
            <a:srgbClr val="FFFFFF"/>
          </a:solidFill>
          <a:ln w="9525">
            <a:solidFill>
              <a:srgbClr val="A9B1B3"/>
            </a:solidFill>
          </a:ln>
        </p:spPr>
        <p:txBody>
          <a:bodyPr wrap="square" lIns="76200" tIns="0" rIns="0" bIns="0" rtlCol="0" anchor="ctr">
            <a:noAutofit/>
          </a:bodyPr>
          <a:lstStyle/>
          <a:p>
            <a:pPr marL="0" indent="0" algn="l">
              <a:spcBef>
                <a:spcPts val="0"/>
              </a:spcBef>
              <a:buNone/>
            </a:pPr>
            <a:r>
              <a:rPr lang="en-US" sz="1000" dirty="0">
                <a:solidFill>
                  <a:srgbClr val="6B7579"/>
                </a:solidFill>
              </a:rPr>
              <a:t>6 Oct – 12 Oct 2026</a:t>
            </a:r>
            <a:endParaRPr lang="en-US" sz="1000" dirty="0"/>
          </a:p>
        </p:txBody>
      </p:sp>
      <p:sp>
        <p:nvSpPr>
          <p:cNvPr id="220" name="Shape 220"/>
          <p:cNvSpPr txBox="1"/>
          <p:nvPr/>
        </p:nvSpPr>
        <p:spPr>
          <a:xfrm>
            <a:off x="7518400" y="1651000"/>
            <a:ext cx="3810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vs previous period: −6.4%</a:t>
            </a:r>
            <a:endParaRPr lang="en-US" sz="1000" dirty="0"/>
          </a:p>
        </p:txBody>
      </p:sp>
      <p:sp>
        <p:nvSpPr>
          <p:cNvPr id="221" name="Shape 221"/>
          <p:cNvSpPr/>
          <p:nvPr/>
        </p:nvSpPr>
        <p:spPr>
          <a:xfrm>
            <a:off x="2184400" y="2006600"/>
            <a:ext cx="2235200" cy="7874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22" name="Shape 222"/>
          <p:cNvSpPr txBox="1"/>
          <p:nvPr/>
        </p:nvSpPr>
        <p:spPr>
          <a:xfrm>
            <a:off x="2311400" y="2082800"/>
            <a:ext cx="1981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Total energy</a:t>
            </a:r>
            <a:endParaRPr lang="en-US" sz="1000" dirty="0"/>
          </a:p>
        </p:txBody>
      </p:sp>
      <p:sp>
        <p:nvSpPr>
          <p:cNvPr id="223" name="Shape 223"/>
          <p:cNvSpPr txBox="1"/>
          <p:nvPr/>
        </p:nvSpPr>
        <p:spPr>
          <a:xfrm>
            <a:off x="2311400" y="2311400"/>
            <a:ext cx="1981200" cy="279400"/>
          </a:xfrm>
          <a:prstGeom prst="rect">
            <a:avLst/>
          </a:prstGeom>
          <a:noFill/>
          <a:ln>
            <a:noFill/>
          </a:ln>
        </p:spPr>
        <p:txBody>
          <a:bodyPr wrap="square" lIns="0" tIns="0" rIns="0" bIns="0" rtlCol="0" anchor="t">
            <a:noAutofit/>
          </a:bodyPr>
          <a:lstStyle/>
          <a:p>
            <a:pPr marL="0" indent="0" algn="l">
              <a:spcBef>
                <a:spcPts val="0"/>
              </a:spcBef>
              <a:buNone/>
            </a:pPr>
            <a:r>
              <a:rPr lang="en-US" sz="1500" b="1" dirty="0">
                <a:solidFill>
                  <a:srgbClr val="1F2A2E"/>
                </a:solidFill>
              </a:rPr>
              <a:t>4,820 kWh</a:t>
            </a:r>
            <a:endParaRPr lang="en-US" sz="1500" dirty="0"/>
          </a:p>
        </p:txBody>
      </p:sp>
      <p:sp>
        <p:nvSpPr>
          <p:cNvPr id="224" name="Shape 224"/>
          <p:cNvSpPr/>
          <p:nvPr/>
        </p:nvSpPr>
        <p:spPr>
          <a:xfrm>
            <a:off x="4572000" y="2006600"/>
            <a:ext cx="2235200" cy="7874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25" name="Shape 225"/>
          <p:cNvSpPr txBox="1"/>
          <p:nvPr/>
        </p:nvSpPr>
        <p:spPr>
          <a:xfrm>
            <a:off x="4699000" y="2082800"/>
            <a:ext cx="1981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Peak demand</a:t>
            </a:r>
            <a:endParaRPr lang="en-US" sz="1000" dirty="0"/>
          </a:p>
        </p:txBody>
      </p:sp>
      <p:sp>
        <p:nvSpPr>
          <p:cNvPr id="226" name="Shape 226"/>
          <p:cNvSpPr txBox="1"/>
          <p:nvPr/>
        </p:nvSpPr>
        <p:spPr>
          <a:xfrm>
            <a:off x="4699000" y="2311400"/>
            <a:ext cx="1981200" cy="279400"/>
          </a:xfrm>
          <a:prstGeom prst="rect">
            <a:avLst/>
          </a:prstGeom>
          <a:noFill/>
          <a:ln>
            <a:noFill/>
          </a:ln>
        </p:spPr>
        <p:txBody>
          <a:bodyPr wrap="square" lIns="0" tIns="0" rIns="0" bIns="0" rtlCol="0" anchor="t">
            <a:noAutofit/>
          </a:bodyPr>
          <a:lstStyle/>
          <a:p>
            <a:pPr marL="0" indent="0" algn="l">
              <a:spcBef>
                <a:spcPts val="0"/>
              </a:spcBef>
              <a:buNone/>
            </a:pPr>
            <a:r>
              <a:rPr lang="en-US" sz="1500" b="1" dirty="0">
                <a:solidFill>
                  <a:srgbClr val="1F2A2E"/>
                </a:solidFill>
              </a:rPr>
              <a:t>96 kW · Tue 14:05</a:t>
            </a:r>
            <a:endParaRPr lang="en-US" sz="1500" dirty="0"/>
          </a:p>
        </p:txBody>
      </p:sp>
      <p:sp>
        <p:nvSpPr>
          <p:cNvPr id="227" name="Shape 227"/>
          <p:cNvSpPr/>
          <p:nvPr/>
        </p:nvSpPr>
        <p:spPr>
          <a:xfrm>
            <a:off x="6959600" y="2006600"/>
            <a:ext cx="2235200" cy="7874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28" name="Shape 228"/>
          <p:cNvSpPr txBox="1"/>
          <p:nvPr/>
        </p:nvSpPr>
        <p:spPr>
          <a:xfrm>
            <a:off x="7086600" y="2082800"/>
            <a:ext cx="1981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Estimated cost</a:t>
            </a:r>
            <a:endParaRPr lang="en-US" sz="1000" dirty="0"/>
          </a:p>
        </p:txBody>
      </p:sp>
      <p:sp>
        <p:nvSpPr>
          <p:cNvPr id="229" name="Shape 229"/>
          <p:cNvSpPr txBox="1"/>
          <p:nvPr/>
        </p:nvSpPr>
        <p:spPr>
          <a:xfrm>
            <a:off x="7086600" y="2311400"/>
            <a:ext cx="1981200" cy="279400"/>
          </a:xfrm>
          <a:prstGeom prst="rect">
            <a:avLst/>
          </a:prstGeom>
          <a:noFill/>
          <a:ln>
            <a:noFill/>
          </a:ln>
        </p:spPr>
        <p:txBody>
          <a:bodyPr wrap="square" lIns="0" tIns="0" rIns="0" bIns="0" rtlCol="0" anchor="t">
            <a:noAutofit/>
          </a:bodyPr>
          <a:lstStyle/>
          <a:p>
            <a:pPr marL="0" indent="0" algn="l">
              <a:spcBef>
                <a:spcPts val="0"/>
              </a:spcBef>
              <a:buNone/>
            </a:pPr>
            <a:r>
              <a:rPr lang="en-US" sz="1500" b="1" dirty="0">
                <a:solidFill>
                  <a:srgbClr val="1F2A2E"/>
                </a:solidFill>
              </a:rPr>
              <a:t>$578</a:t>
            </a:r>
            <a:endParaRPr lang="en-US" sz="1500" dirty="0"/>
          </a:p>
        </p:txBody>
      </p:sp>
      <p:sp>
        <p:nvSpPr>
          <p:cNvPr id="230" name="Shape 230"/>
          <p:cNvSpPr/>
          <p:nvPr/>
        </p:nvSpPr>
        <p:spPr>
          <a:xfrm>
            <a:off x="9347200" y="2006600"/>
            <a:ext cx="2235200" cy="7874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31" name="Shape 231"/>
          <p:cNvSpPr txBox="1"/>
          <p:nvPr/>
        </p:nvSpPr>
        <p:spPr>
          <a:xfrm>
            <a:off x="9474200" y="2082800"/>
            <a:ext cx="19812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Emissions</a:t>
            </a:r>
            <a:endParaRPr lang="en-US" sz="1000" dirty="0"/>
          </a:p>
        </p:txBody>
      </p:sp>
      <p:sp>
        <p:nvSpPr>
          <p:cNvPr id="232" name="Shape 232"/>
          <p:cNvSpPr txBox="1"/>
          <p:nvPr/>
        </p:nvSpPr>
        <p:spPr>
          <a:xfrm>
            <a:off x="9474200" y="2311400"/>
            <a:ext cx="1981200" cy="279400"/>
          </a:xfrm>
          <a:prstGeom prst="rect">
            <a:avLst/>
          </a:prstGeom>
          <a:noFill/>
          <a:ln>
            <a:noFill/>
          </a:ln>
        </p:spPr>
        <p:txBody>
          <a:bodyPr wrap="square" lIns="0" tIns="0" rIns="0" bIns="0" rtlCol="0" anchor="t">
            <a:noAutofit/>
          </a:bodyPr>
          <a:lstStyle/>
          <a:p>
            <a:pPr marL="0" indent="0" algn="l">
              <a:spcBef>
                <a:spcPts val="0"/>
              </a:spcBef>
              <a:buNone/>
            </a:pPr>
            <a:r>
              <a:rPr lang="en-US" sz="1500" b="1" dirty="0">
                <a:solidFill>
                  <a:srgbClr val="1F2A2E"/>
                </a:solidFill>
              </a:rPr>
              <a:t>2,170 kg CO2</a:t>
            </a:r>
            <a:endParaRPr lang="en-US" sz="1500" dirty="0"/>
          </a:p>
        </p:txBody>
      </p:sp>
      <p:sp>
        <p:nvSpPr>
          <p:cNvPr id="233" name="Shape 233"/>
          <p:cNvSpPr/>
          <p:nvPr/>
        </p:nvSpPr>
        <p:spPr>
          <a:xfrm>
            <a:off x="2184400" y="2946400"/>
            <a:ext cx="5664200" cy="31496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34" name="Shape 234"/>
          <p:cNvSpPr txBox="1"/>
          <p:nvPr/>
        </p:nvSpPr>
        <p:spPr>
          <a:xfrm>
            <a:off x="2286000" y="3022600"/>
            <a:ext cx="5461000" cy="203200"/>
          </a:xfrm>
          <a:prstGeom prst="rect">
            <a:avLst/>
          </a:prstGeom>
          <a:noFill/>
          <a:ln>
            <a:noFill/>
          </a:ln>
        </p:spPr>
        <p:txBody>
          <a:bodyPr wrap="square" lIns="0" tIns="0" rIns="0" bIns="0" rtlCol="0" anchor="t">
            <a:noAutofit/>
          </a:bodyPr>
          <a:lstStyle/>
          <a:p>
            <a:pPr marL="0" indent="0" algn="l">
              <a:spcBef>
                <a:spcPts val="0"/>
              </a:spcBef>
              <a:buNone/>
            </a:pPr>
            <a:r>
              <a:rPr lang="en-US" sz="1200" b="1" dirty="0">
                <a:solidFill>
                  <a:srgbClr val="1F2A2E"/>
                </a:solidFill>
              </a:rPr>
              <a:t>Consumption trend (kWh per day)</a:t>
            </a:r>
            <a:endParaRPr lang="en-US" sz="1200" dirty="0"/>
          </a:p>
        </p:txBody>
      </p:sp>
      <p:cxnSp>
        <p:nvCxnSpPr>
          <p:cNvPr id="235" name="Line 235"/>
          <p:cNvCxnSpPr/>
          <p:nvPr/>
        </p:nvCxnSpPr>
        <p:spPr>
          <a:xfrm>
            <a:off x="2438400" y="5842000"/>
            <a:ext cx="5207000" cy="0"/>
          </a:xfrm>
          <a:prstGeom prst="line">
            <a:avLst/>
          </a:prstGeom>
          <a:ln w="9525">
            <a:solidFill>
              <a:srgbClr val="A9B1B3"/>
            </a:solidFill>
          </a:ln>
        </p:spPr>
      </p:cxnSp>
      <p:cxnSp>
        <p:nvCxnSpPr>
          <p:cNvPr id="236" name="Line 236"/>
          <p:cNvCxnSpPr/>
          <p:nvPr/>
        </p:nvCxnSpPr>
        <p:spPr>
          <a:xfrm flipV="1">
            <a:off x="2438400" y="3327400"/>
            <a:ext cx="0" cy="2514600"/>
          </a:xfrm>
          <a:prstGeom prst="line">
            <a:avLst/>
          </a:prstGeom>
          <a:ln w="9525">
            <a:solidFill>
              <a:srgbClr val="A9B1B3"/>
            </a:solidFill>
          </a:ln>
        </p:spPr>
      </p:cxnSp>
      <p:cxnSp>
        <p:nvCxnSpPr>
          <p:cNvPr id="237" name="Line 237"/>
          <p:cNvCxnSpPr/>
          <p:nvPr/>
        </p:nvCxnSpPr>
        <p:spPr>
          <a:xfrm>
            <a:off x="2438400" y="4318000"/>
            <a:ext cx="762000" cy="317500"/>
          </a:xfrm>
          <a:prstGeom prst="line">
            <a:avLst/>
          </a:prstGeom>
          <a:ln w="19050">
            <a:solidFill>
              <a:srgbClr val="6B7579"/>
            </a:solidFill>
          </a:ln>
        </p:spPr>
      </p:cxnSp>
      <p:cxnSp>
        <p:nvCxnSpPr>
          <p:cNvPr id="238" name="Line 238"/>
          <p:cNvCxnSpPr/>
          <p:nvPr/>
        </p:nvCxnSpPr>
        <p:spPr>
          <a:xfrm flipV="1">
            <a:off x="3200400" y="4064000"/>
            <a:ext cx="762000" cy="571500"/>
          </a:xfrm>
          <a:prstGeom prst="line">
            <a:avLst/>
          </a:prstGeom>
          <a:ln w="19050">
            <a:solidFill>
              <a:srgbClr val="6B7579"/>
            </a:solidFill>
          </a:ln>
        </p:spPr>
      </p:cxnSp>
      <p:cxnSp>
        <p:nvCxnSpPr>
          <p:cNvPr id="239" name="Line 239"/>
          <p:cNvCxnSpPr/>
          <p:nvPr/>
        </p:nvCxnSpPr>
        <p:spPr>
          <a:xfrm>
            <a:off x="3962400" y="4064000"/>
            <a:ext cx="762000" cy="381000"/>
          </a:xfrm>
          <a:prstGeom prst="line">
            <a:avLst/>
          </a:prstGeom>
          <a:ln w="19050">
            <a:solidFill>
              <a:srgbClr val="6B7579"/>
            </a:solidFill>
          </a:ln>
        </p:spPr>
      </p:cxnSp>
      <p:cxnSp>
        <p:nvCxnSpPr>
          <p:cNvPr id="240" name="Line 240"/>
          <p:cNvCxnSpPr/>
          <p:nvPr/>
        </p:nvCxnSpPr>
        <p:spPr>
          <a:xfrm flipV="1">
            <a:off x="4724400" y="3873500"/>
            <a:ext cx="762000" cy="571500"/>
          </a:xfrm>
          <a:prstGeom prst="line">
            <a:avLst/>
          </a:prstGeom>
          <a:ln w="19050">
            <a:solidFill>
              <a:srgbClr val="6B7579"/>
            </a:solidFill>
          </a:ln>
        </p:spPr>
      </p:cxnSp>
      <p:cxnSp>
        <p:nvCxnSpPr>
          <p:cNvPr id="241" name="Line 241"/>
          <p:cNvCxnSpPr/>
          <p:nvPr/>
        </p:nvCxnSpPr>
        <p:spPr>
          <a:xfrm>
            <a:off x="5486400" y="3873500"/>
            <a:ext cx="762000" cy="698500"/>
          </a:xfrm>
          <a:prstGeom prst="line">
            <a:avLst/>
          </a:prstGeom>
          <a:ln w="19050">
            <a:solidFill>
              <a:srgbClr val="6B7579"/>
            </a:solidFill>
          </a:ln>
        </p:spPr>
      </p:cxnSp>
      <p:cxnSp>
        <p:nvCxnSpPr>
          <p:cNvPr id="242" name="Line 242"/>
          <p:cNvCxnSpPr/>
          <p:nvPr/>
        </p:nvCxnSpPr>
        <p:spPr>
          <a:xfrm flipV="1">
            <a:off x="6248400" y="4254500"/>
            <a:ext cx="762000" cy="317500"/>
          </a:xfrm>
          <a:prstGeom prst="line">
            <a:avLst/>
          </a:prstGeom>
          <a:ln w="19050">
            <a:solidFill>
              <a:srgbClr val="6B7579"/>
            </a:solidFill>
          </a:ln>
        </p:spPr>
      </p:cxnSp>
      <p:cxnSp>
        <p:nvCxnSpPr>
          <p:cNvPr id="243" name="Line 243"/>
          <p:cNvCxnSpPr/>
          <p:nvPr/>
        </p:nvCxnSpPr>
        <p:spPr>
          <a:xfrm>
            <a:off x="7010400" y="4254500"/>
            <a:ext cx="635000" cy="444500"/>
          </a:xfrm>
          <a:prstGeom prst="line">
            <a:avLst/>
          </a:prstGeom>
          <a:ln w="19050">
            <a:solidFill>
              <a:srgbClr val="6B7579"/>
            </a:solidFill>
          </a:ln>
        </p:spPr>
      </p:cxnSp>
      <p:sp>
        <p:nvSpPr>
          <p:cNvPr id="244" name="Shape 244"/>
          <p:cNvSpPr/>
          <p:nvPr/>
        </p:nvSpPr>
        <p:spPr>
          <a:xfrm>
            <a:off x="5435600" y="3822700"/>
            <a:ext cx="101600" cy="101600"/>
          </a:xfrm>
          <a:prstGeom prst="ellipse">
            <a:avLst/>
          </a:prstGeom>
          <a:solidFill>
            <a:srgbClr val="1F2A2E"/>
          </a:solidFill>
          <a:ln>
            <a:noFill/>
          </a:ln>
        </p:spPr>
        <p:txBody>
          <a:bodyPr wrap="square" lIns="50800" tIns="50800" rIns="50800" bIns="50800" rtlCol="0" anchor="t">
            <a:noAutofit/>
          </a:bodyPr>
          <a:lstStyle/>
          <a:p>
            <a:endParaRPr lang="en-US" dirty="0"/>
          </a:p>
        </p:txBody>
      </p:sp>
      <p:sp>
        <p:nvSpPr>
          <p:cNvPr id="245" name="Shape 245"/>
          <p:cNvSpPr txBox="1"/>
          <p:nvPr/>
        </p:nvSpPr>
        <p:spPr>
          <a:xfrm>
            <a:off x="5613400" y="3657600"/>
            <a:ext cx="1143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Peak</a:t>
            </a:r>
            <a:endParaRPr lang="en-US" sz="1000" dirty="0"/>
          </a:p>
        </p:txBody>
      </p:sp>
      <p:sp>
        <p:nvSpPr>
          <p:cNvPr id="246" name="Shape 246"/>
          <p:cNvSpPr/>
          <p:nvPr/>
        </p:nvSpPr>
        <p:spPr>
          <a:xfrm>
            <a:off x="8001000" y="2946400"/>
            <a:ext cx="3581400" cy="14732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47" name="Shape 247"/>
          <p:cNvSpPr txBox="1"/>
          <p:nvPr/>
        </p:nvSpPr>
        <p:spPr>
          <a:xfrm>
            <a:off x="8102600" y="3022600"/>
            <a:ext cx="3378200" cy="203200"/>
          </a:xfrm>
          <a:prstGeom prst="rect">
            <a:avLst/>
          </a:prstGeom>
          <a:noFill/>
          <a:ln>
            <a:noFill/>
          </a:ln>
        </p:spPr>
        <p:txBody>
          <a:bodyPr wrap="square" lIns="0" tIns="0" rIns="0" bIns="0" rtlCol="0" anchor="t">
            <a:noAutofit/>
          </a:bodyPr>
          <a:lstStyle/>
          <a:p>
            <a:pPr marL="0" indent="0" algn="l">
              <a:spcBef>
                <a:spcPts val="0"/>
              </a:spcBef>
              <a:buNone/>
            </a:pPr>
            <a:r>
              <a:rPr lang="en-US" sz="1200" b="1" dirty="0">
                <a:solidFill>
                  <a:srgbClr val="1F2A2E"/>
                </a:solidFill>
              </a:rPr>
              <a:t>Breakdown by category</a:t>
            </a:r>
            <a:endParaRPr lang="en-US" sz="1200" dirty="0"/>
          </a:p>
        </p:txBody>
      </p:sp>
      <p:sp>
        <p:nvSpPr>
          <p:cNvPr id="248" name="Shape 248"/>
          <p:cNvSpPr txBox="1"/>
          <p:nvPr/>
        </p:nvSpPr>
        <p:spPr>
          <a:xfrm>
            <a:off x="8128000" y="3251200"/>
            <a:ext cx="889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HVAC 62%</a:t>
            </a:r>
            <a:endParaRPr lang="en-US" sz="1000" dirty="0"/>
          </a:p>
        </p:txBody>
      </p:sp>
      <p:sp>
        <p:nvSpPr>
          <p:cNvPr id="249" name="Shape 249"/>
          <p:cNvSpPr/>
          <p:nvPr/>
        </p:nvSpPr>
        <p:spPr>
          <a:xfrm>
            <a:off x="9042400" y="3289300"/>
            <a:ext cx="2413000" cy="127000"/>
          </a:xfrm>
          <a:prstGeom prst="rect">
            <a:avLst/>
          </a:prstGeom>
          <a:solidFill>
            <a:srgbClr val="A9B1B3"/>
          </a:solidFill>
          <a:ln>
            <a:noFill/>
          </a:ln>
        </p:spPr>
        <p:txBody>
          <a:bodyPr wrap="square" lIns="50800" tIns="50800" rIns="50800" bIns="50800" rtlCol="0" anchor="t">
            <a:noAutofit/>
          </a:bodyPr>
          <a:lstStyle/>
          <a:p>
            <a:endParaRPr lang="en-US" dirty="0"/>
          </a:p>
        </p:txBody>
      </p:sp>
      <p:sp>
        <p:nvSpPr>
          <p:cNvPr id="250" name="Shape 250"/>
          <p:cNvSpPr txBox="1"/>
          <p:nvPr/>
        </p:nvSpPr>
        <p:spPr>
          <a:xfrm>
            <a:off x="8128000" y="3530600"/>
            <a:ext cx="889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Lighting 20%</a:t>
            </a:r>
            <a:endParaRPr lang="en-US" sz="1000" dirty="0"/>
          </a:p>
        </p:txBody>
      </p:sp>
      <p:sp>
        <p:nvSpPr>
          <p:cNvPr id="251" name="Shape 251"/>
          <p:cNvSpPr/>
          <p:nvPr/>
        </p:nvSpPr>
        <p:spPr>
          <a:xfrm>
            <a:off x="9042400" y="3568700"/>
            <a:ext cx="778387" cy="1270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52" name="Shape 252"/>
          <p:cNvSpPr txBox="1"/>
          <p:nvPr/>
        </p:nvSpPr>
        <p:spPr>
          <a:xfrm>
            <a:off x="8128000" y="3810000"/>
            <a:ext cx="889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Plugs 13%</a:t>
            </a:r>
            <a:endParaRPr lang="en-US" sz="1000" dirty="0"/>
          </a:p>
        </p:txBody>
      </p:sp>
      <p:sp>
        <p:nvSpPr>
          <p:cNvPr id="253" name="Shape 253"/>
          <p:cNvSpPr/>
          <p:nvPr/>
        </p:nvSpPr>
        <p:spPr>
          <a:xfrm>
            <a:off x="9042400" y="3848100"/>
            <a:ext cx="505952" cy="1270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54" name="Shape 254"/>
          <p:cNvSpPr txBox="1"/>
          <p:nvPr/>
        </p:nvSpPr>
        <p:spPr>
          <a:xfrm>
            <a:off x="8128000" y="4089400"/>
            <a:ext cx="889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Solar 5%</a:t>
            </a:r>
            <a:endParaRPr lang="en-US" sz="1000" dirty="0"/>
          </a:p>
        </p:txBody>
      </p:sp>
      <p:sp>
        <p:nvSpPr>
          <p:cNvPr id="255" name="Shape 255"/>
          <p:cNvSpPr/>
          <p:nvPr/>
        </p:nvSpPr>
        <p:spPr>
          <a:xfrm>
            <a:off x="9042400" y="4127500"/>
            <a:ext cx="194597" cy="1270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56" name="Shape 256"/>
          <p:cNvSpPr/>
          <p:nvPr/>
        </p:nvSpPr>
        <p:spPr>
          <a:xfrm>
            <a:off x="8001000" y="4521200"/>
            <a:ext cx="3581400" cy="15748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57" name="Shape 257"/>
          <p:cNvSpPr txBox="1"/>
          <p:nvPr/>
        </p:nvSpPr>
        <p:spPr>
          <a:xfrm>
            <a:off x="8102600" y="4597400"/>
            <a:ext cx="3378200" cy="203200"/>
          </a:xfrm>
          <a:prstGeom prst="rect">
            <a:avLst/>
          </a:prstGeom>
          <a:noFill/>
          <a:ln>
            <a:noFill/>
          </a:ln>
        </p:spPr>
        <p:txBody>
          <a:bodyPr wrap="square" lIns="0" tIns="0" rIns="0" bIns="0" rtlCol="0" anchor="t">
            <a:noAutofit/>
          </a:bodyPr>
          <a:lstStyle/>
          <a:p>
            <a:pPr marL="0" indent="0" algn="l">
              <a:spcBef>
                <a:spcPts val="0"/>
              </a:spcBef>
              <a:buNone/>
            </a:pPr>
            <a:r>
              <a:rPr lang="en-US" sz="1200" b="1" dirty="0">
                <a:solidFill>
                  <a:srgbClr val="1F2A2E"/>
                </a:solidFill>
              </a:rPr>
              <a:t>Anomalies</a:t>
            </a:r>
            <a:endParaRPr lang="en-US" sz="1200" dirty="0"/>
          </a:p>
        </p:txBody>
      </p:sp>
      <p:sp>
        <p:nvSpPr>
          <p:cNvPr id="258" name="Shape 258"/>
          <p:cNvSpPr txBox="1"/>
          <p:nvPr/>
        </p:nvSpPr>
        <p:spPr>
          <a:xfrm>
            <a:off x="8128000" y="4826000"/>
            <a:ext cx="1058333" cy="203200"/>
          </a:xfrm>
          <a:prstGeom prst="rect">
            <a:avLst/>
          </a:prstGeom>
          <a:noFill/>
          <a:ln>
            <a:noFill/>
          </a:ln>
        </p:spPr>
        <p:txBody>
          <a:bodyPr wrap="square" lIns="0" tIns="0" rIns="0" bIns="0" rtlCol="0" anchor="t">
            <a:noAutofit/>
          </a:bodyPr>
          <a:lstStyle/>
          <a:p>
            <a:pPr marL="0" indent="0" algn="l">
              <a:spcBef>
                <a:spcPts val="0"/>
              </a:spcBef>
              <a:buNone/>
            </a:pPr>
            <a:r>
              <a:rPr lang="en-US" sz="1000" b="1" dirty="0">
                <a:solidFill>
                  <a:srgbClr val="1F2A2E"/>
                </a:solidFill>
              </a:rPr>
              <a:t>When</a:t>
            </a:r>
            <a:endParaRPr lang="en-US" sz="1000" dirty="0"/>
          </a:p>
        </p:txBody>
      </p:sp>
      <p:sp>
        <p:nvSpPr>
          <p:cNvPr id="259" name="Shape 259"/>
          <p:cNvSpPr txBox="1"/>
          <p:nvPr/>
        </p:nvSpPr>
        <p:spPr>
          <a:xfrm>
            <a:off x="9237133" y="4826000"/>
            <a:ext cx="1058333" cy="203200"/>
          </a:xfrm>
          <a:prstGeom prst="rect">
            <a:avLst/>
          </a:prstGeom>
          <a:noFill/>
          <a:ln>
            <a:noFill/>
          </a:ln>
        </p:spPr>
        <p:txBody>
          <a:bodyPr wrap="square" lIns="0" tIns="0" rIns="0" bIns="0" rtlCol="0" anchor="t">
            <a:noAutofit/>
          </a:bodyPr>
          <a:lstStyle/>
          <a:p>
            <a:pPr marL="0" indent="0" algn="l">
              <a:spcBef>
                <a:spcPts val="0"/>
              </a:spcBef>
              <a:buNone/>
            </a:pPr>
            <a:r>
              <a:rPr lang="en-US" sz="1000" b="1" dirty="0">
                <a:solidFill>
                  <a:srgbClr val="1F2A2E"/>
                </a:solidFill>
              </a:rPr>
              <a:t>Meter</a:t>
            </a:r>
            <a:endParaRPr lang="en-US" sz="1000" dirty="0"/>
          </a:p>
        </p:txBody>
      </p:sp>
      <p:sp>
        <p:nvSpPr>
          <p:cNvPr id="260" name="Shape 260"/>
          <p:cNvSpPr txBox="1"/>
          <p:nvPr/>
        </p:nvSpPr>
        <p:spPr>
          <a:xfrm>
            <a:off x="10346267" y="4826000"/>
            <a:ext cx="1058333" cy="203200"/>
          </a:xfrm>
          <a:prstGeom prst="rect">
            <a:avLst/>
          </a:prstGeom>
          <a:noFill/>
          <a:ln>
            <a:noFill/>
          </a:ln>
        </p:spPr>
        <p:txBody>
          <a:bodyPr wrap="square" lIns="0" tIns="0" rIns="0" bIns="0" rtlCol="0" anchor="t">
            <a:noAutofit/>
          </a:bodyPr>
          <a:lstStyle/>
          <a:p>
            <a:pPr marL="0" indent="0" algn="l">
              <a:spcBef>
                <a:spcPts val="0"/>
              </a:spcBef>
              <a:buNone/>
            </a:pPr>
            <a:r>
              <a:rPr lang="en-US" sz="1000" b="1" dirty="0">
                <a:solidFill>
                  <a:srgbClr val="1F2A2E"/>
                </a:solidFill>
              </a:rPr>
              <a:t>Deviation</a:t>
            </a:r>
            <a:endParaRPr lang="en-US" sz="1000" dirty="0"/>
          </a:p>
        </p:txBody>
      </p:sp>
      <p:cxnSp>
        <p:nvCxnSpPr>
          <p:cNvPr id="261" name="Line 261"/>
          <p:cNvCxnSpPr/>
          <p:nvPr/>
        </p:nvCxnSpPr>
        <p:spPr>
          <a:xfrm>
            <a:off x="8128000" y="5041900"/>
            <a:ext cx="3327400" cy="0"/>
          </a:xfrm>
          <a:prstGeom prst="line">
            <a:avLst/>
          </a:prstGeom>
          <a:ln w="9525">
            <a:solidFill>
              <a:srgbClr val="A9B1B3"/>
            </a:solidFill>
          </a:ln>
        </p:spPr>
      </p:cxnSp>
      <p:sp>
        <p:nvSpPr>
          <p:cNvPr id="262" name="Shape 262"/>
          <p:cNvSpPr txBox="1"/>
          <p:nvPr/>
        </p:nvSpPr>
        <p:spPr>
          <a:xfrm>
            <a:off x="8128000" y="5105400"/>
            <a:ext cx="1058333"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Tue 14:05</a:t>
            </a:r>
            <a:endParaRPr lang="en-US" sz="1000" dirty="0"/>
          </a:p>
        </p:txBody>
      </p:sp>
      <p:sp>
        <p:nvSpPr>
          <p:cNvPr id="263" name="Shape 263"/>
          <p:cNvSpPr txBox="1"/>
          <p:nvPr/>
        </p:nvSpPr>
        <p:spPr>
          <a:xfrm>
            <a:off x="9237133" y="5105400"/>
            <a:ext cx="1058333"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HQ-HVAC-1</a:t>
            </a:r>
            <a:endParaRPr lang="en-US" sz="1000" dirty="0"/>
          </a:p>
        </p:txBody>
      </p:sp>
      <p:sp>
        <p:nvSpPr>
          <p:cNvPr id="264" name="Shape 264"/>
          <p:cNvSpPr txBox="1"/>
          <p:nvPr/>
        </p:nvSpPr>
        <p:spPr>
          <a:xfrm>
            <a:off x="10346267" y="5105400"/>
            <a:ext cx="1058333"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+42%</a:t>
            </a:r>
            <a:endParaRPr lang="en-US" sz="1000" dirty="0"/>
          </a:p>
        </p:txBody>
      </p:sp>
      <p:cxnSp>
        <p:nvCxnSpPr>
          <p:cNvPr id="265" name="Line 265"/>
          <p:cNvCxnSpPr/>
          <p:nvPr/>
        </p:nvCxnSpPr>
        <p:spPr>
          <a:xfrm>
            <a:off x="8128000" y="5321300"/>
            <a:ext cx="3327400" cy="0"/>
          </a:xfrm>
          <a:prstGeom prst="line">
            <a:avLst/>
          </a:prstGeom>
          <a:ln w="6350">
            <a:solidFill>
              <a:srgbClr val="E0E3E0"/>
            </a:solidFill>
          </a:ln>
        </p:spPr>
      </p:cxnSp>
      <p:sp>
        <p:nvSpPr>
          <p:cNvPr id="266" name="Shape 266"/>
          <p:cNvSpPr txBox="1"/>
          <p:nvPr/>
        </p:nvSpPr>
        <p:spPr>
          <a:xfrm>
            <a:off x="8128000" y="5359400"/>
            <a:ext cx="1058333"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Thu 03:10</a:t>
            </a:r>
            <a:endParaRPr lang="en-US" sz="1000" dirty="0"/>
          </a:p>
        </p:txBody>
      </p:sp>
      <p:sp>
        <p:nvSpPr>
          <p:cNvPr id="267" name="Shape 267"/>
          <p:cNvSpPr txBox="1"/>
          <p:nvPr/>
        </p:nvSpPr>
        <p:spPr>
          <a:xfrm>
            <a:off x="9237133" y="5359400"/>
            <a:ext cx="1058333"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LAB-PLUG-2</a:t>
            </a:r>
            <a:endParaRPr lang="en-US" sz="1000" dirty="0"/>
          </a:p>
        </p:txBody>
      </p:sp>
      <p:sp>
        <p:nvSpPr>
          <p:cNvPr id="268" name="Shape 268"/>
          <p:cNvSpPr txBox="1"/>
          <p:nvPr/>
        </p:nvSpPr>
        <p:spPr>
          <a:xfrm>
            <a:off x="10346267" y="5359400"/>
            <a:ext cx="1058333"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+35%</a:t>
            </a:r>
            <a:endParaRPr lang="en-US" sz="1000" dirty="0"/>
          </a:p>
        </p:txBody>
      </p:sp>
      <p:cxnSp>
        <p:nvCxnSpPr>
          <p:cNvPr id="269" name="Line 269"/>
          <p:cNvCxnSpPr/>
          <p:nvPr/>
        </p:nvCxnSpPr>
        <p:spPr>
          <a:xfrm>
            <a:off x="8128000" y="5575300"/>
            <a:ext cx="3327400" cy="0"/>
          </a:xfrm>
          <a:prstGeom prst="line">
            <a:avLst/>
          </a:prstGeom>
          <a:ln w="6350">
            <a:solidFill>
              <a:srgbClr val="E0E3E0"/>
            </a:solidFill>
          </a:ln>
        </p:spPr>
      </p:cxnSp>
      <p:sp>
        <p:nvSpPr>
          <p:cNvPr id="270" name="Shape 270"/>
          <p:cNvSpPr txBox="1"/>
          <p:nvPr/>
        </p:nvSpPr>
        <p:spPr>
          <a:xfrm>
            <a:off x="8128000" y="5613400"/>
            <a:ext cx="1058333"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Sat 11:20</a:t>
            </a:r>
            <a:endParaRPr lang="en-US" sz="1000" dirty="0"/>
          </a:p>
        </p:txBody>
      </p:sp>
      <p:sp>
        <p:nvSpPr>
          <p:cNvPr id="271" name="Shape 271"/>
          <p:cNvSpPr txBox="1"/>
          <p:nvPr/>
        </p:nvSpPr>
        <p:spPr>
          <a:xfrm>
            <a:off x="9237133" y="5613400"/>
            <a:ext cx="1058333"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LIB-LIGHT-1</a:t>
            </a:r>
            <a:endParaRPr lang="en-US" sz="1000" dirty="0"/>
          </a:p>
        </p:txBody>
      </p:sp>
      <p:sp>
        <p:nvSpPr>
          <p:cNvPr id="272" name="Shape 272"/>
          <p:cNvSpPr txBox="1"/>
          <p:nvPr/>
        </p:nvSpPr>
        <p:spPr>
          <a:xfrm>
            <a:off x="10346267" y="5613400"/>
            <a:ext cx="1058333"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+31%</a:t>
            </a:r>
            <a:endParaRPr lang="en-US" sz="1000" dirty="0"/>
          </a:p>
        </p:txBody>
      </p:sp>
      <p:cxnSp>
        <p:nvCxnSpPr>
          <p:cNvPr id="273" name="Line 273"/>
          <p:cNvCxnSpPr/>
          <p:nvPr/>
        </p:nvCxnSpPr>
        <p:spPr>
          <a:xfrm>
            <a:off x="8128000" y="5829300"/>
            <a:ext cx="3327400" cy="0"/>
          </a:xfrm>
          <a:prstGeom prst="line">
            <a:avLst/>
          </a:prstGeom>
          <a:ln w="6350">
            <a:solidFill>
              <a:srgbClr val="E0E3E0"/>
            </a:solidFill>
          </a:ln>
        </p:spPr>
      </p:cxnSp>
      <p:sp>
        <p:nvSpPr>
          <p:cNvPr id="274" name="Shape 274"/>
          <p:cNvSpPr txBox="1"/>
          <p:nvPr/>
        </p:nvSpPr>
        <p:spPr>
          <a:xfrm>
            <a:off x="457200" y="6438900"/>
            <a:ext cx="112776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Low-fidelity wireframe, not yet implemented. Layout and labels only; final styling follows the deck palette.</a:t>
            </a:r>
            <a:endParaRPr lang="en-US" sz="1100" dirty="0"/>
          </a:p>
        </p:txBody>
      </p:sp>
    </p:spTree>
    <p:extLst>
      <p:ext uri="{BB962C8B-B14F-4D97-AF65-F5344CB8AC3E}">
        <p14:creationId xmlns:p14="http://schemas.microsoft.com/office/powerpoint/2010/main" val="397374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E47B5-8AC0-D66F-3A1E-51BBE0F85893}"/>
              </a:ext>
            </a:extLst>
          </p:cNvPr>
          <p:cNvSpPr>
            <a:spLocks noGrp="1"/>
          </p:cNvSpPr>
          <p:nvPr>
            <p:ph type="title"/>
          </p:nvPr>
        </p:nvSpPr>
        <p:spPr/>
        <p:txBody>
          <a:bodyPr/>
          <a:lstStyle/>
          <a:p>
            <a:pPr algn="l"/>
            <a:r>
              <a:rPr lang="en-US" sz="3200" b="1" dirty="0"/>
              <a:t>A7 · S3 Recommendations wireframe</a:t>
            </a:r>
          </a:p>
        </p:txBody>
      </p:sp>
      <p:sp>
        <p:nvSpPr>
          <p:cNvPr id="200" name="Subsystem bar"/>
          <p:cNvSpPr/>
          <p:nvPr/>
        </p:nvSpPr>
        <p:spPr>
          <a:xfrm>
            <a:off x="457200" y="304800"/>
            <a:ext cx="711200" cy="63500"/>
          </a:xfrm>
          <a:prstGeom prst="rect">
            <a:avLst/>
          </a:prstGeom>
          <a:solidFill>
            <a:srgbClr val="7A5BA6"/>
          </a:solidFill>
          <a:ln>
            <a:noFill/>
          </a:ln>
        </p:spPr>
        <p:txBody>
          <a:bodyPr wrap="square" lIns="50800" tIns="50800" rIns="50800" bIns="50800" rtlCol="0" anchor="t">
            <a:noAutofit/>
          </a:bodyPr>
          <a:lstStyle/>
          <a:p>
            <a:endParaRPr lang="en-US" dirty="0"/>
          </a:p>
        </p:txBody>
      </p:sp>
      <p:sp>
        <p:nvSpPr>
          <p:cNvPr id="201" name="Shape 201"/>
          <p:cNvSpPr/>
          <p:nvPr/>
        </p:nvSpPr>
        <p:spPr>
          <a:xfrm>
            <a:off x="457200" y="1219200"/>
            <a:ext cx="11277600" cy="5029200"/>
          </a:xfrm>
          <a:prstGeom prst="rect">
            <a:avLst/>
          </a:prstGeom>
          <a:solidFill>
            <a:srgbClr val="FFFFFF"/>
          </a:solidFill>
          <a:ln w="12700">
            <a:solidFill>
              <a:srgbClr val="A9B1B3"/>
            </a:solidFill>
          </a:ln>
        </p:spPr>
        <p:txBody>
          <a:bodyPr wrap="square" lIns="50800" tIns="50800" rIns="50800" bIns="50800" rtlCol="0" anchor="t">
            <a:noAutofit/>
          </a:bodyPr>
          <a:lstStyle/>
          <a:p>
            <a:endParaRPr lang="en-US" dirty="0"/>
          </a:p>
        </p:txBody>
      </p:sp>
      <p:sp>
        <p:nvSpPr>
          <p:cNvPr id="202" name="Shape 202"/>
          <p:cNvSpPr/>
          <p:nvPr/>
        </p:nvSpPr>
        <p:spPr>
          <a:xfrm>
            <a:off x="457200" y="1219200"/>
            <a:ext cx="11277600" cy="279400"/>
          </a:xfrm>
          <a:prstGeom prst="rect">
            <a:avLst/>
          </a:prstGeom>
          <a:solidFill>
            <a:srgbClr val="EDEFEC"/>
          </a:solidFill>
          <a:ln w="12700">
            <a:solidFill>
              <a:srgbClr val="A9B1B3"/>
            </a:solidFill>
          </a:ln>
        </p:spPr>
        <p:txBody>
          <a:bodyPr wrap="square" lIns="50800" tIns="50800" rIns="50800" bIns="50800" rtlCol="0" anchor="t">
            <a:noAutofit/>
          </a:bodyPr>
          <a:lstStyle/>
          <a:p>
            <a:endParaRPr lang="en-US" dirty="0"/>
          </a:p>
        </p:txBody>
      </p:sp>
      <p:sp>
        <p:nvSpPr>
          <p:cNvPr id="203" name="Shape 203"/>
          <p:cNvSpPr/>
          <p:nvPr/>
        </p:nvSpPr>
        <p:spPr>
          <a:xfrm>
            <a:off x="5588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04" name="Shape 204"/>
          <p:cNvSpPr/>
          <p:nvPr/>
        </p:nvSpPr>
        <p:spPr>
          <a:xfrm>
            <a:off x="6858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05" name="Shape 205"/>
          <p:cNvSpPr/>
          <p:nvPr/>
        </p:nvSpPr>
        <p:spPr>
          <a:xfrm>
            <a:off x="8128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06" name="Shape 206"/>
          <p:cNvSpPr/>
          <p:nvPr/>
        </p:nvSpPr>
        <p:spPr>
          <a:xfrm>
            <a:off x="1016000" y="1270000"/>
            <a:ext cx="4064000" cy="177800"/>
          </a:xfrm>
          <a:prstGeom prst="rect">
            <a:avLst/>
          </a:prstGeom>
          <a:solidFill>
            <a:srgbClr val="FFFFFF"/>
          </a:solidFill>
          <a:ln w="6350">
            <a:solidFill>
              <a:srgbClr val="D5D9D6"/>
            </a:solidFill>
          </a:ln>
        </p:spPr>
        <p:txBody>
          <a:bodyPr wrap="square" lIns="76200" tIns="0" rIns="0" bIns="0" rtlCol="0" anchor="ctr">
            <a:noAutofit/>
          </a:bodyPr>
          <a:lstStyle/>
          <a:p>
            <a:pPr marL="0" indent="0" algn="l">
              <a:spcBef>
                <a:spcPts val="0"/>
              </a:spcBef>
              <a:buNone/>
            </a:pPr>
            <a:r>
              <a:rPr lang="en-US" sz="850" dirty="0">
                <a:solidFill>
                  <a:srgbClr val="6B7579"/>
                </a:solidFill>
              </a:rPr>
              <a:t>smartenergy.local/recommendations</a:t>
            </a:r>
            <a:endParaRPr lang="en-US" sz="850" dirty="0"/>
          </a:p>
        </p:txBody>
      </p:sp>
      <p:sp>
        <p:nvSpPr>
          <p:cNvPr id="207" name="Shape 207"/>
          <p:cNvSpPr/>
          <p:nvPr/>
        </p:nvSpPr>
        <p:spPr>
          <a:xfrm>
            <a:off x="457200" y="1498600"/>
            <a:ext cx="1574800" cy="4749800"/>
          </a:xfrm>
          <a:prstGeom prst="rect">
            <a:avLst/>
          </a:prstGeom>
          <a:solidFill>
            <a:srgbClr val="EDEFEC"/>
          </a:solidFill>
          <a:ln>
            <a:noFill/>
          </a:ln>
        </p:spPr>
        <p:txBody>
          <a:bodyPr wrap="square" lIns="50800" tIns="50800" rIns="50800" bIns="50800" rtlCol="0" anchor="t">
            <a:noAutofit/>
          </a:bodyPr>
          <a:lstStyle/>
          <a:p>
            <a:endParaRPr lang="en-US" dirty="0"/>
          </a:p>
        </p:txBody>
      </p:sp>
      <p:sp>
        <p:nvSpPr>
          <p:cNvPr id="208" name="Shape 208"/>
          <p:cNvSpPr txBox="1"/>
          <p:nvPr/>
        </p:nvSpPr>
        <p:spPr>
          <a:xfrm>
            <a:off x="609600" y="16256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1F2A2E"/>
                </a:solidFill>
              </a:rPr>
              <a:t>Smart Energy</a:t>
            </a:r>
            <a:endParaRPr lang="en-US" sz="1100" dirty="0"/>
          </a:p>
        </p:txBody>
      </p:sp>
      <p:sp>
        <p:nvSpPr>
          <p:cNvPr id="209" name="Shape 209"/>
          <p:cNvSpPr txBox="1"/>
          <p:nvPr/>
        </p:nvSpPr>
        <p:spPr>
          <a:xfrm>
            <a:off x="635000" y="19812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Dashboard</a:t>
            </a:r>
            <a:endParaRPr lang="en-US" sz="1100" dirty="0"/>
          </a:p>
        </p:txBody>
      </p:sp>
      <p:sp>
        <p:nvSpPr>
          <p:cNvPr id="210" name="Shape 210"/>
          <p:cNvSpPr txBox="1"/>
          <p:nvPr/>
        </p:nvSpPr>
        <p:spPr>
          <a:xfrm>
            <a:off x="635000" y="23114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Buildings</a:t>
            </a:r>
            <a:endParaRPr lang="en-US" sz="1100" dirty="0"/>
          </a:p>
        </p:txBody>
      </p:sp>
      <p:sp>
        <p:nvSpPr>
          <p:cNvPr id="211" name="Shape 211"/>
          <p:cNvSpPr txBox="1"/>
          <p:nvPr/>
        </p:nvSpPr>
        <p:spPr>
          <a:xfrm>
            <a:off x="635000" y="26416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Analytics</a:t>
            </a:r>
            <a:endParaRPr lang="en-US" sz="1100" dirty="0"/>
          </a:p>
        </p:txBody>
      </p:sp>
      <p:sp>
        <p:nvSpPr>
          <p:cNvPr id="212" name="Shape 212"/>
          <p:cNvSpPr/>
          <p:nvPr/>
        </p:nvSpPr>
        <p:spPr>
          <a:xfrm>
            <a:off x="533400" y="2933700"/>
            <a:ext cx="1422400" cy="2794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13" name="Shape 213"/>
          <p:cNvSpPr txBox="1"/>
          <p:nvPr/>
        </p:nvSpPr>
        <p:spPr>
          <a:xfrm>
            <a:off x="635000" y="29718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1F2A2E"/>
                </a:solidFill>
              </a:rPr>
              <a:t>Recommendations</a:t>
            </a:r>
            <a:endParaRPr lang="en-US" sz="1100" dirty="0"/>
          </a:p>
        </p:txBody>
      </p:sp>
      <p:sp>
        <p:nvSpPr>
          <p:cNvPr id="214" name="Shape 214"/>
          <p:cNvSpPr txBox="1"/>
          <p:nvPr/>
        </p:nvSpPr>
        <p:spPr>
          <a:xfrm>
            <a:off x="635000" y="33020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Settings</a:t>
            </a:r>
            <a:endParaRPr lang="en-US" sz="1100" dirty="0"/>
          </a:p>
        </p:txBody>
      </p:sp>
      <p:sp>
        <p:nvSpPr>
          <p:cNvPr id="215" name="Shape 215"/>
          <p:cNvSpPr/>
          <p:nvPr/>
        </p:nvSpPr>
        <p:spPr>
          <a:xfrm>
            <a:off x="2184400" y="1625600"/>
            <a:ext cx="9398000" cy="330200"/>
          </a:xfrm>
          <a:prstGeom prst="rect">
            <a:avLst/>
          </a:prstGeom>
          <a:solidFill>
            <a:srgbClr val="EDEFEC"/>
          </a:solidFill>
          <a:ln w="9525">
            <a:solidFill>
              <a:srgbClr val="A9B1B3"/>
            </a:solidFill>
          </a:ln>
        </p:spPr>
        <p:txBody>
          <a:bodyPr wrap="square" lIns="127000" tIns="0" rIns="127000" bIns="0" rtlCol="0" anchor="ctr">
            <a:noAutofit/>
          </a:bodyPr>
          <a:lstStyle/>
          <a:p>
            <a:pPr marL="0" indent="0" algn="l">
              <a:spcBef>
                <a:spcPts val="0"/>
              </a:spcBef>
              <a:buNone/>
            </a:pPr>
            <a:r>
              <a:rPr lang="en-US" sz="1100" b="1" dirty="0">
                <a:solidFill>
                  <a:srgbClr val="1F2A2E"/>
                </a:solidFill>
              </a:rPr>
              <a:t>Fallback banner: </a:t>
            </a:r>
            <a:r>
              <a:rPr lang="en-US" sz="1100" dirty="0">
                <a:solidFill>
                  <a:srgbClr val="6B7579"/>
                </a:solidFill>
              </a:rPr>
              <a:t>AI service unavailable, showing rule-based tips (is_fallback = true).</a:t>
            </a:r>
            <a:endParaRPr lang="en-US" sz="1100" dirty="0"/>
          </a:p>
        </p:txBody>
      </p:sp>
      <p:sp>
        <p:nvSpPr>
          <p:cNvPr id="216" name="Shape 216"/>
          <p:cNvSpPr txBox="1"/>
          <p:nvPr/>
        </p:nvSpPr>
        <p:spPr>
          <a:xfrm>
            <a:off x="2184400" y="2108200"/>
            <a:ext cx="457200" cy="203200"/>
          </a:xfrm>
          <a:prstGeom prst="rect">
            <a:avLst/>
          </a:prstGeom>
          <a:noFill/>
          <a:ln>
            <a:noFill/>
          </a:ln>
        </p:spPr>
        <p:txBody>
          <a:bodyPr wrap="square" lIns="0" tIns="0" rIns="0" bIns="0" rtlCol="0" anchor="t">
            <a:noAutofit/>
          </a:bodyPr>
          <a:lstStyle/>
          <a:p>
            <a:pPr marL="0" indent="0" algn="l">
              <a:spcBef>
                <a:spcPts val="0"/>
              </a:spcBef>
              <a:buNone/>
            </a:pPr>
            <a:r>
              <a:rPr lang="en-US" sz="1000" b="1" dirty="0">
                <a:solidFill>
                  <a:srgbClr val="1F2A2E"/>
                </a:solidFill>
              </a:rPr>
              <a:t>Filter</a:t>
            </a:r>
            <a:endParaRPr lang="en-US" sz="1000" dirty="0"/>
          </a:p>
        </p:txBody>
      </p:sp>
      <p:sp>
        <p:nvSpPr>
          <p:cNvPr id="217" name="Shape 217"/>
          <p:cNvSpPr/>
          <p:nvPr/>
        </p:nvSpPr>
        <p:spPr>
          <a:xfrm>
            <a:off x="2692400" y="2070100"/>
            <a:ext cx="812800" cy="254000"/>
          </a:xfrm>
          <a:prstGeom prst="roundRect">
            <a:avLst>
              <a:gd name="adj" fmla="val 20000"/>
            </a:avLst>
          </a:prstGeom>
          <a:solidFill>
            <a:srgbClr val="6B7579"/>
          </a:solidFill>
          <a:ln w="9525">
            <a:solidFill>
              <a:srgbClr val="6B7579"/>
            </a:solidFill>
          </a:ln>
        </p:spPr>
        <p:txBody>
          <a:bodyPr wrap="square" lIns="0" tIns="0" rIns="0" bIns="0" rtlCol="0" anchor="ctr">
            <a:noAutofit/>
          </a:bodyPr>
          <a:lstStyle/>
          <a:p>
            <a:pPr marL="0" indent="0" algn="ctr">
              <a:spcBef>
                <a:spcPts val="0"/>
              </a:spcBef>
              <a:buNone/>
            </a:pPr>
            <a:r>
              <a:rPr lang="en-US" sz="1000" dirty="0">
                <a:solidFill>
                  <a:srgbClr val="FFFFFF"/>
                </a:solidFill>
              </a:rPr>
              <a:t>All</a:t>
            </a:r>
            <a:endParaRPr lang="en-US" sz="1000" dirty="0"/>
          </a:p>
        </p:txBody>
      </p:sp>
      <p:sp>
        <p:nvSpPr>
          <p:cNvPr id="218" name="Shape 218"/>
          <p:cNvSpPr/>
          <p:nvPr/>
        </p:nvSpPr>
        <p:spPr>
          <a:xfrm>
            <a:off x="3581400" y="2070100"/>
            <a:ext cx="812800"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New</a:t>
            </a:r>
            <a:endParaRPr lang="en-US" sz="1000" dirty="0"/>
          </a:p>
        </p:txBody>
      </p:sp>
      <p:sp>
        <p:nvSpPr>
          <p:cNvPr id="219" name="Shape 219"/>
          <p:cNvSpPr/>
          <p:nvPr/>
        </p:nvSpPr>
        <p:spPr>
          <a:xfrm>
            <a:off x="4470400" y="2070100"/>
            <a:ext cx="812800"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Accepted</a:t>
            </a:r>
            <a:endParaRPr lang="en-US" sz="1000" dirty="0"/>
          </a:p>
        </p:txBody>
      </p:sp>
      <p:sp>
        <p:nvSpPr>
          <p:cNvPr id="220" name="Shape 220"/>
          <p:cNvSpPr/>
          <p:nvPr/>
        </p:nvSpPr>
        <p:spPr>
          <a:xfrm>
            <a:off x="5359400" y="2070100"/>
            <a:ext cx="812800"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Dismissed</a:t>
            </a:r>
            <a:endParaRPr lang="en-US" sz="1000" dirty="0"/>
          </a:p>
        </p:txBody>
      </p:sp>
      <p:sp>
        <p:nvSpPr>
          <p:cNvPr id="221" name="Shape 221"/>
          <p:cNvSpPr/>
          <p:nvPr/>
        </p:nvSpPr>
        <p:spPr>
          <a:xfrm>
            <a:off x="6502400" y="2070100"/>
            <a:ext cx="939800"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Priority: any</a:t>
            </a:r>
            <a:endParaRPr lang="en-US" sz="1000" dirty="0"/>
          </a:p>
        </p:txBody>
      </p:sp>
      <p:sp>
        <p:nvSpPr>
          <p:cNvPr id="222" name="Shape 222"/>
          <p:cNvSpPr/>
          <p:nvPr/>
        </p:nvSpPr>
        <p:spPr>
          <a:xfrm>
            <a:off x="7518400" y="2070100"/>
            <a:ext cx="939800"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High</a:t>
            </a:r>
            <a:endParaRPr lang="en-US" sz="1000" dirty="0"/>
          </a:p>
        </p:txBody>
      </p:sp>
      <p:sp>
        <p:nvSpPr>
          <p:cNvPr id="223" name="Shape 223"/>
          <p:cNvSpPr/>
          <p:nvPr/>
        </p:nvSpPr>
        <p:spPr>
          <a:xfrm>
            <a:off x="8534400" y="2070100"/>
            <a:ext cx="939800"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Medium</a:t>
            </a:r>
            <a:endParaRPr lang="en-US" sz="1000" dirty="0"/>
          </a:p>
        </p:txBody>
      </p:sp>
      <p:sp>
        <p:nvSpPr>
          <p:cNvPr id="224" name="Shape 224"/>
          <p:cNvSpPr/>
          <p:nvPr/>
        </p:nvSpPr>
        <p:spPr>
          <a:xfrm>
            <a:off x="2184400" y="2489200"/>
            <a:ext cx="3031067" cy="36068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25" name="Shape 225"/>
          <p:cNvSpPr/>
          <p:nvPr/>
        </p:nvSpPr>
        <p:spPr>
          <a:xfrm>
            <a:off x="2311400" y="2616200"/>
            <a:ext cx="1066800" cy="228600"/>
          </a:xfrm>
          <a:prstGeom prst="roundRect">
            <a:avLst>
              <a:gd name="adj" fmla="val 50000"/>
            </a:avLst>
          </a:prstGeom>
          <a:solidFill>
            <a:srgbClr val="6B7579"/>
          </a:solidFill>
          <a:ln w="9525">
            <a:solidFill>
              <a:srgbClr val="6B7579"/>
            </a:solidFill>
          </a:ln>
        </p:spPr>
        <p:txBody>
          <a:bodyPr wrap="square" lIns="0" tIns="0" rIns="0" bIns="0" rtlCol="0" anchor="ctr">
            <a:noAutofit/>
          </a:bodyPr>
          <a:lstStyle/>
          <a:p>
            <a:pPr marL="0" indent="0" algn="ctr">
              <a:spcBef>
                <a:spcPts val="0"/>
              </a:spcBef>
              <a:buNone/>
            </a:pPr>
            <a:r>
              <a:rPr lang="en-US" sz="900" dirty="0">
                <a:solidFill>
                  <a:srgbClr val="FFFFFF"/>
                </a:solidFill>
              </a:rPr>
              <a:t>AI-generated</a:t>
            </a:r>
            <a:endParaRPr lang="en-US" sz="900" dirty="0"/>
          </a:p>
        </p:txBody>
      </p:sp>
      <p:sp>
        <p:nvSpPr>
          <p:cNvPr id="226" name="Shape 226"/>
          <p:cNvSpPr/>
          <p:nvPr/>
        </p:nvSpPr>
        <p:spPr>
          <a:xfrm>
            <a:off x="4326467" y="2616200"/>
            <a:ext cx="762000" cy="228600"/>
          </a:xfrm>
          <a:prstGeom prst="roundRect">
            <a:avLst>
              <a:gd name="adj" fmla="val 50000"/>
            </a:avLst>
          </a:prstGeom>
          <a:solidFill>
            <a:srgbClr val="EDEFEC"/>
          </a:solidFill>
          <a:ln w="6350">
            <a:solidFill>
              <a:srgbClr val="A9B1B3"/>
            </a:solidFill>
          </a:ln>
        </p:spPr>
        <p:txBody>
          <a:bodyPr wrap="square" lIns="0" tIns="0" rIns="0" bIns="0" rtlCol="0" anchor="ctr">
            <a:noAutofit/>
          </a:bodyPr>
          <a:lstStyle/>
          <a:p>
            <a:pPr marL="0" indent="0" algn="ctr">
              <a:spcBef>
                <a:spcPts val="0"/>
              </a:spcBef>
              <a:buNone/>
            </a:pPr>
            <a:r>
              <a:rPr lang="en-US" sz="900" b="1" dirty="0">
                <a:solidFill>
                  <a:srgbClr val="1F2A2E"/>
                </a:solidFill>
              </a:rPr>
              <a:t>High</a:t>
            </a:r>
            <a:endParaRPr lang="en-US" sz="900" dirty="0"/>
          </a:p>
        </p:txBody>
      </p:sp>
      <p:sp>
        <p:nvSpPr>
          <p:cNvPr id="227" name="Shape 227"/>
          <p:cNvSpPr txBox="1"/>
          <p:nvPr/>
        </p:nvSpPr>
        <p:spPr>
          <a:xfrm>
            <a:off x="2311400" y="2971800"/>
            <a:ext cx="2777067" cy="508000"/>
          </a:xfrm>
          <a:prstGeom prst="rect">
            <a:avLst/>
          </a:prstGeom>
          <a:noFill/>
          <a:ln>
            <a:noFill/>
          </a:ln>
        </p:spPr>
        <p:txBody>
          <a:bodyPr wrap="square" lIns="0" tIns="0" rIns="0" bIns="0" rtlCol="0" anchor="t">
            <a:noAutofit/>
          </a:bodyPr>
          <a:lstStyle/>
          <a:p>
            <a:pPr marL="0" indent="0" algn="l">
              <a:spcBef>
                <a:spcPts val="0"/>
              </a:spcBef>
              <a:buNone/>
            </a:pPr>
            <a:r>
              <a:rPr lang="en-US" sz="1200" b="1" dirty="0">
                <a:solidFill>
                  <a:srgbClr val="1F2A2E"/>
                </a:solidFill>
              </a:rPr>
              <a:t>Shift HVAC start by 30 min</a:t>
            </a:r>
            <a:endParaRPr lang="en-US" sz="1200" dirty="0"/>
          </a:p>
        </p:txBody>
      </p:sp>
      <p:sp>
        <p:nvSpPr>
          <p:cNvPr id="228" name="Shape 228"/>
          <p:cNvSpPr txBox="1"/>
          <p:nvPr/>
        </p:nvSpPr>
        <p:spPr>
          <a:xfrm>
            <a:off x="2311400" y="3530600"/>
            <a:ext cx="2777067" cy="711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HVAC runs at full load from 06:00 while the building is empty until 07:30.</a:t>
            </a:r>
            <a:endParaRPr lang="en-US" sz="1000" dirty="0"/>
          </a:p>
        </p:txBody>
      </p:sp>
      <p:sp>
        <p:nvSpPr>
          <p:cNvPr id="229" name="Shape 229"/>
          <p:cNvSpPr txBox="1"/>
          <p:nvPr/>
        </p:nvSpPr>
        <p:spPr>
          <a:xfrm>
            <a:off x="2311400" y="4267200"/>
            <a:ext cx="2777067" cy="2032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Estimated saving</a:t>
            </a:r>
            <a:endParaRPr lang="en-US" sz="900" dirty="0"/>
          </a:p>
        </p:txBody>
      </p:sp>
      <p:sp>
        <p:nvSpPr>
          <p:cNvPr id="230" name="Shape 230"/>
          <p:cNvSpPr txBox="1"/>
          <p:nvPr/>
        </p:nvSpPr>
        <p:spPr>
          <a:xfrm>
            <a:off x="2311400" y="4445000"/>
            <a:ext cx="2777067" cy="254000"/>
          </a:xfrm>
          <a:prstGeom prst="rect">
            <a:avLst/>
          </a:prstGeom>
          <a:noFill/>
          <a:ln>
            <a:noFill/>
          </a:ln>
        </p:spPr>
        <p:txBody>
          <a:bodyPr wrap="square" lIns="0" tIns="0" rIns="0" bIns="0" rtlCol="0" anchor="t">
            <a:noAutofit/>
          </a:bodyPr>
          <a:lstStyle/>
          <a:p>
            <a:pPr marL="0" indent="0" algn="l">
              <a:spcBef>
                <a:spcPts val="0"/>
              </a:spcBef>
              <a:buNone/>
            </a:pPr>
            <a:r>
              <a:rPr lang="en-US" sz="1300" b="1" dirty="0">
                <a:solidFill>
                  <a:srgbClr val="1F2A2E"/>
                </a:solidFill>
              </a:rPr>
              <a:t>−180 kWh / week (7%)</a:t>
            </a:r>
            <a:endParaRPr lang="en-US" sz="1300" dirty="0"/>
          </a:p>
        </p:txBody>
      </p:sp>
      <p:sp>
        <p:nvSpPr>
          <p:cNvPr id="231" name="Shape 231"/>
          <p:cNvSpPr/>
          <p:nvPr/>
        </p:nvSpPr>
        <p:spPr>
          <a:xfrm>
            <a:off x="2311400" y="4851400"/>
            <a:ext cx="1325033" cy="254000"/>
          </a:xfrm>
          <a:prstGeom prst="roundRect">
            <a:avLst>
              <a:gd name="adj" fmla="val 20000"/>
            </a:avLst>
          </a:prstGeom>
          <a:solidFill>
            <a:srgbClr val="6B7579"/>
          </a:solidFill>
          <a:ln w="9525">
            <a:solidFill>
              <a:srgbClr val="6B7579"/>
            </a:solidFill>
          </a:ln>
        </p:spPr>
        <p:txBody>
          <a:bodyPr wrap="square" lIns="0" tIns="0" rIns="0" bIns="0" rtlCol="0" anchor="ctr">
            <a:noAutofit/>
          </a:bodyPr>
          <a:lstStyle/>
          <a:p>
            <a:pPr marL="0" indent="0" algn="ctr">
              <a:spcBef>
                <a:spcPts val="0"/>
              </a:spcBef>
              <a:buNone/>
            </a:pPr>
            <a:r>
              <a:rPr lang="en-US" sz="1000" dirty="0">
                <a:solidFill>
                  <a:srgbClr val="FFFFFF"/>
                </a:solidFill>
              </a:rPr>
              <a:t>Accept</a:t>
            </a:r>
            <a:endParaRPr lang="en-US" sz="1000" dirty="0"/>
          </a:p>
        </p:txBody>
      </p:sp>
      <p:sp>
        <p:nvSpPr>
          <p:cNvPr id="232" name="Shape 232"/>
          <p:cNvSpPr/>
          <p:nvPr/>
        </p:nvSpPr>
        <p:spPr>
          <a:xfrm>
            <a:off x="3763433" y="4851400"/>
            <a:ext cx="1325033"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Dismiss</a:t>
            </a:r>
            <a:endParaRPr lang="en-US" sz="1000" dirty="0"/>
          </a:p>
        </p:txBody>
      </p:sp>
      <p:sp>
        <p:nvSpPr>
          <p:cNvPr id="233" name="Shape 233"/>
          <p:cNvSpPr/>
          <p:nvPr/>
        </p:nvSpPr>
        <p:spPr>
          <a:xfrm>
            <a:off x="2311400" y="5181600"/>
            <a:ext cx="2777067"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Mark implemented</a:t>
            </a:r>
            <a:endParaRPr lang="en-US" sz="1000" dirty="0"/>
          </a:p>
        </p:txBody>
      </p:sp>
      <p:sp>
        <p:nvSpPr>
          <p:cNvPr id="234" name="Shape 234"/>
          <p:cNvSpPr txBox="1"/>
          <p:nvPr/>
        </p:nvSpPr>
        <p:spPr>
          <a:xfrm>
            <a:off x="2311400" y="5613400"/>
            <a:ext cx="4064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Rate</a:t>
            </a:r>
            <a:endParaRPr lang="en-US" sz="1000" dirty="0"/>
          </a:p>
        </p:txBody>
      </p:sp>
      <p:sp>
        <p:nvSpPr>
          <p:cNvPr id="235" name="Shape 235"/>
          <p:cNvSpPr txBox="1"/>
          <p:nvPr/>
        </p:nvSpPr>
        <p:spPr>
          <a:xfrm>
            <a:off x="2743200" y="5575300"/>
            <a:ext cx="1524000" cy="203200"/>
          </a:xfrm>
          <a:prstGeom prst="rect">
            <a:avLst/>
          </a:prstGeom>
          <a:noFill/>
          <a:ln>
            <a:noFill/>
          </a:ln>
        </p:spPr>
        <p:txBody>
          <a:bodyPr wrap="square" lIns="0" tIns="0" rIns="0" bIns="0" rtlCol="0" anchor="t">
            <a:noAutofit/>
          </a:bodyPr>
          <a:lstStyle/>
          <a:p>
            <a:pPr marL="0" indent="0" algn="l">
              <a:spcBef>
                <a:spcPts val="0"/>
              </a:spcBef>
              <a:buNone/>
            </a:pPr>
            <a:r>
              <a:rPr lang="en-US" sz="1300" dirty="0">
                <a:solidFill>
                  <a:srgbClr val="A9B1B3"/>
                </a:solidFill>
              </a:rPr>
              <a:t>★★★★☆</a:t>
            </a:r>
            <a:endParaRPr lang="en-US" sz="1300" dirty="0"/>
          </a:p>
        </p:txBody>
      </p:sp>
      <p:sp>
        <p:nvSpPr>
          <p:cNvPr id="236" name="Shape 236"/>
          <p:cNvSpPr txBox="1"/>
          <p:nvPr/>
        </p:nvSpPr>
        <p:spPr>
          <a:xfrm>
            <a:off x="2311400" y="5816600"/>
            <a:ext cx="2777067" cy="2032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Add a comment…</a:t>
            </a:r>
            <a:endParaRPr lang="en-US" sz="900" dirty="0"/>
          </a:p>
        </p:txBody>
      </p:sp>
      <p:sp>
        <p:nvSpPr>
          <p:cNvPr id="237" name="Shape 237"/>
          <p:cNvSpPr/>
          <p:nvPr/>
        </p:nvSpPr>
        <p:spPr>
          <a:xfrm>
            <a:off x="5367867" y="2489200"/>
            <a:ext cx="3031067" cy="36068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38" name="Shape 238"/>
          <p:cNvSpPr/>
          <p:nvPr/>
        </p:nvSpPr>
        <p:spPr>
          <a:xfrm>
            <a:off x="5494867" y="2616200"/>
            <a:ext cx="1066800" cy="228600"/>
          </a:xfrm>
          <a:prstGeom prst="roundRect">
            <a:avLst>
              <a:gd name="adj" fmla="val 50000"/>
            </a:avLst>
          </a:prstGeom>
          <a:solidFill>
            <a:srgbClr val="6B7579"/>
          </a:solidFill>
          <a:ln w="9525">
            <a:solidFill>
              <a:srgbClr val="6B7579"/>
            </a:solidFill>
          </a:ln>
        </p:spPr>
        <p:txBody>
          <a:bodyPr wrap="square" lIns="0" tIns="0" rIns="0" bIns="0" rtlCol="0" anchor="ctr">
            <a:noAutofit/>
          </a:bodyPr>
          <a:lstStyle/>
          <a:p>
            <a:pPr marL="0" indent="0" algn="ctr">
              <a:spcBef>
                <a:spcPts val="0"/>
              </a:spcBef>
              <a:buNone/>
            </a:pPr>
            <a:r>
              <a:rPr lang="en-US" sz="900" dirty="0">
                <a:solidFill>
                  <a:srgbClr val="FFFFFF"/>
                </a:solidFill>
              </a:rPr>
              <a:t>AI-generated</a:t>
            </a:r>
            <a:endParaRPr lang="en-US" sz="900" dirty="0"/>
          </a:p>
        </p:txBody>
      </p:sp>
      <p:sp>
        <p:nvSpPr>
          <p:cNvPr id="239" name="Shape 239"/>
          <p:cNvSpPr/>
          <p:nvPr/>
        </p:nvSpPr>
        <p:spPr>
          <a:xfrm>
            <a:off x="7509933" y="2616200"/>
            <a:ext cx="762000" cy="228600"/>
          </a:xfrm>
          <a:prstGeom prst="roundRect">
            <a:avLst>
              <a:gd name="adj" fmla="val 50000"/>
            </a:avLst>
          </a:prstGeom>
          <a:solidFill>
            <a:srgbClr val="EDEFEC"/>
          </a:solidFill>
          <a:ln w="6350">
            <a:solidFill>
              <a:srgbClr val="A9B1B3"/>
            </a:solidFill>
          </a:ln>
        </p:spPr>
        <p:txBody>
          <a:bodyPr wrap="square" lIns="0" tIns="0" rIns="0" bIns="0" rtlCol="0" anchor="ctr">
            <a:noAutofit/>
          </a:bodyPr>
          <a:lstStyle/>
          <a:p>
            <a:pPr marL="0" indent="0" algn="ctr">
              <a:spcBef>
                <a:spcPts val="0"/>
              </a:spcBef>
              <a:buNone/>
            </a:pPr>
            <a:r>
              <a:rPr lang="en-US" sz="900" b="1" dirty="0">
                <a:solidFill>
                  <a:srgbClr val="1F2A2E"/>
                </a:solidFill>
              </a:rPr>
              <a:t>Medium</a:t>
            </a:r>
            <a:endParaRPr lang="en-US" sz="900" dirty="0"/>
          </a:p>
        </p:txBody>
      </p:sp>
      <p:sp>
        <p:nvSpPr>
          <p:cNvPr id="240" name="Shape 240"/>
          <p:cNvSpPr txBox="1"/>
          <p:nvPr/>
        </p:nvSpPr>
        <p:spPr>
          <a:xfrm>
            <a:off x="5494867" y="2971800"/>
            <a:ext cx="2777067" cy="508000"/>
          </a:xfrm>
          <a:prstGeom prst="rect">
            <a:avLst/>
          </a:prstGeom>
          <a:noFill/>
          <a:ln>
            <a:noFill/>
          </a:ln>
        </p:spPr>
        <p:txBody>
          <a:bodyPr wrap="square" lIns="0" tIns="0" rIns="0" bIns="0" rtlCol="0" anchor="t">
            <a:noAutofit/>
          </a:bodyPr>
          <a:lstStyle/>
          <a:p>
            <a:pPr marL="0" indent="0" algn="l">
              <a:spcBef>
                <a:spcPts val="0"/>
              </a:spcBef>
              <a:buNone/>
            </a:pPr>
            <a:r>
              <a:rPr lang="en-US" sz="1200" b="1" dirty="0">
                <a:solidFill>
                  <a:srgbClr val="1F2A2E"/>
                </a:solidFill>
              </a:rPr>
              <a:t>Switch corridor lights to motion sensors</a:t>
            </a:r>
            <a:endParaRPr lang="en-US" sz="1200" dirty="0"/>
          </a:p>
        </p:txBody>
      </p:sp>
      <p:sp>
        <p:nvSpPr>
          <p:cNvPr id="241" name="Shape 241"/>
          <p:cNvSpPr txBox="1"/>
          <p:nvPr/>
        </p:nvSpPr>
        <p:spPr>
          <a:xfrm>
            <a:off x="5494867" y="3530600"/>
            <a:ext cx="2777067" cy="711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Corridor lighting stays on overnight on floors 2–4.</a:t>
            </a:r>
            <a:endParaRPr lang="en-US" sz="1000" dirty="0"/>
          </a:p>
        </p:txBody>
      </p:sp>
      <p:sp>
        <p:nvSpPr>
          <p:cNvPr id="242" name="Shape 242"/>
          <p:cNvSpPr txBox="1"/>
          <p:nvPr/>
        </p:nvSpPr>
        <p:spPr>
          <a:xfrm>
            <a:off x="5494867" y="4267200"/>
            <a:ext cx="2777067" cy="2032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Estimated saving</a:t>
            </a:r>
            <a:endParaRPr lang="en-US" sz="900" dirty="0"/>
          </a:p>
        </p:txBody>
      </p:sp>
      <p:sp>
        <p:nvSpPr>
          <p:cNvPr id="243" name="Shape 243"/>
          <p:cNvSpPr txBox="1"/>
          <p:nvPr/>
        </p:nvSpPr>
        <p:spPr>
          <a:xfrm>
            <a:off x="5494867" y="4445000"/>
            <a:ext cx="2777067" cy="254000"/>
          </a:xfrm>
          <a:prstGeom prst="rect">
            <a:avLst/>
          </a:prstGeom>
          <a:noFill/>
          <a:ln>
            <a:noFill/>
          </a:ln>
        </p:spPr>
        <p:txBody>
          <a:bodyPr wrap="square" lIns="0" tIns="0" rIns="0" bIns="0" rtlCol="0" anchor="t">
            <a:noAutofit/>
          </a:bodyPr>
          <a:lstStyle/>
          <a:p>
            <a:pPr marL="0" indent="0" algn="l">
              <a:spcBef>
                <a:spcPts val="0"/>
              </a:spcBef>
              <a:buNone/>
            </a:pPr>
            <a:r>
              <a:rPr lang="en-US" sz="1300" b="1" dirty="0">
                <a:solidFill>
                  <a:srgbClr val="1F2A2E"/>
                </a:solidFill>
              </a:rPr>
              <a:t>−65 kWh / week (3%)</a:t>
            </a:r>
            <a:endParaRPr lang="en-US" sz="1300" dirty="0"/>
          </a:p>
        </p:txBody>
      </p:sp>
      <p:sp>
        <p:nvSpPr>
          <p:cNvPr id="244" name="Shape 244"/>
          <p:cNvSpPr/>
          <p:nvPr/>
        </p:nvSpPr>
        <p:spPr>
          <a:xfrm>
            <a:off x="5494867" y="4851400"/>
            <a:ext cx="1325033" cy="254000"/>
          </a:xfrm>
          <a:prstGeom prst="roundRect">
            <a:avLst>
              <a:gd name="adj" fmla="val 20000"/>
            </a:avLst>
          </a:prstGeom>
          <a:solidFill>
            <a:srgbClr val="6B7579"/>
          </a:solidFill>
          <a:ln w="9525">
            <a:solidFill>
              <a:srgbClr val="6B7579"/>
            </a:solidFill>
          </a:ln>
        </p:spPr>
        <p:txBody>
          <a:bodyPr wrap="square" lIns="0" tIns="0" rIns="0" bIns="0" rtlCol="0" anchor="ctr">
            <a:noAutofit/>
          </a:bodyPr>
          <a:lstStyle/>
          <a:p>
            <a:pPr marL="0" indent="0" algn="ctr">
              <a:spcBef>
                <a:spcPts val="0"/>
              </a:spcBef>
              <a:buNone/>
            </a:pPr>
            <a:r>
              <a:rPr lang="en-US" sz="1000" dirty="0">
                <a:solidFill>
                  <a:srgbClr val="FFFFFF"/>
                </a:solidFill>
              </a:rPr>
              <a:t>Accept</a:t>
            </a:r>
            <a:endParaRPr lang="en-US" sz="1000" dirty="0"/>
          </a:p>
        </p:txBody>
      </p:sp>
      <p:sp>
        <p:nvSpPr>
          <p:cNvPr id="245" name="Shape 245"/>
          <p:cNvSpPr/>
          <p:nvPr/>
        </p:nvSpPr>
        <p:spPr>
          <a:xfrm>
            <a:off x="6946900" y="4851400"/>
            <a:ext cx="1325033"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Dismiss</a:t>
            </a:r>
            <a:endParaRPr lang="en-US" sz="1000" dirty="0"/>
          </a:p>
        </p:txBody>
      </p:sp>
      <p:sp>
        <p:nvSpPr>
          <p:cNvPr id="246" name="Shape 246"/>
          <p:cNvSpPr/>
          <p:nvPr/>
        </p:nvSpPr>
        <p:spPr>
          <a:xfrm>
            <a:off x="5494867" y="5181600"/>
            <a:ext cx="2777067"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Mark implemented</a:t>
            </a:r>
            <a:endParaRPr lang="en-US" sz="1000" dirty="0"/>
          </a:p>
        </p:txBody>
      </p:sp>
      <p:sp>
        <p:nvSpPr>
          <p:cNvPr id="247" name="Shape 247"/>
          <p:cNvSpPr txBox="1"/>
          <p:nvPr/>
        </p:nvSpPr>
        <p:spPr>
          <a:xfrm>
            <a:off x="5494867" y="5613400"/>
            <a:ext cx="4064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Rate</a:t>
            </a:r>
            <a:endParaRPr lang="en-US" sz="1000" dirty="0"/>
          </a:p>
        </p:txBody>
      </p:sp>
      <p:sp>
        <p:nvSpPr>
          <p:cNvPr id="248" name="Shape 248"/>
          <p:cNvSpPr txBox="1"/>
          <p:nvPr/>
        </p:nvSpPr>
        <p:spPr>
          <a:xfrm>
            <a:off x="5926667" y="5575300"/>
            <a:ext cx="1524000" cy="203200"/>
          </a:xfrm>
          <a:prstGeom prst="rect">
            <a:avLst/>
          </a:prstGeom>
          <a:noFill/>
          <a:ln>
            <a:noFill/>
          </a:ln>
        </p:spPr>
        <p:txBody>
          <a:bodyPr wrap="square" lIns="0" tIns="0" rIns="0" bIns="0" rtlCol="0" anchor="t">
            <a:noAutofit/>
          </a:bodyPr>
          <a:lstStyle/>
          <a:p>
            <a:pPr marL="0" indent="0" algn="l">
              <a:spcBef>
                <a:spcPts val="0"/>
              </a:spcBef>
              <a:buNone/>
            </a:pPr>
            <a:r>
              <a:rPr lang="en-US" sz="1300" dirty="0">
                <a:solidFill>
                  <a:srgbClr val="A9B1B3"/>
                </a:solidFill>
              </a:rPr>
              <a:t>★★★★☆</a:t>
            </a:r>
            <a:endParaRPr lang="en-US" sz="1300" dirty="0"/>
          </a:p>
        </p:txBody>
      </p:sp>
      <p:sp>
        <p:nvSpPr>
          <p:cNvPr id="249" name="Shape 249"/>
          <p:cNvSpPr txBox="1"/>
          <p:nvPr/>
        </p:nvSpPr>
        <p:spPr>
          <a:xfrm>
            <a:off x="5494867" y="5816600"/>
            <a:ext cx="2777067" cy="2032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Add a comment…</a:t>
            </a:r>
            <a:endParaRPr lang="en-US" sz="900" dirty="0"/>
          </a:p>
        </p:txBody>
      </p:sp>
      <p:sp>
        <p:nvSpPr>
          <p:cNvPr id="250" name="Shape 250"/>
          <p:cNvSpPr/>
          <p:nvPr/>
        </p:nvSpPr>
        <p:spPr>
          <a:xfrm>
            <a:off x="8551333" y="2489200"/>
            <a:ext cx="3031067" cy="36068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51" name="Shape 251"/>
          <p:cNvSpPr/>
          <p:nvPr/>
        </p:nvSpPr>
        <p:spPr>
          <a:xfrm>
            <a:off x="8678333" y="2616200"/>
            <a:ext cx="1066800" cy="228600"/>
          </a:xfrm>
          <a:prstGeom prst="roundRect">
            <a:avLst>
              <a:gd name="adj" fmla="val 50000"/>
            </a:avLst>
          </a:prstGeom>
          <a:solidFill>
            <a:srgbClr val="FFFFFF"/>
          </a:solidFill>
          <a:ln w="9525">
            <a:solidFill>
              <a:srgbClr val="6B7579"/>
            </a:solidFill>
          </a:ln>
        </p:spPr>
        <p:txBody>
          <a:bodyPr wrap="square" lIns="0" tIns="0" rIns="0" bIns="0" rtlCol="0" anchor="ctr">
            <a:noAutofit/>
          </a:bodyPr>
          <a:lstStyle/>
          <a:p>
            <a:pPr marL="0" indent="0" algn="ctr">
              <a:spcBef>
                <a:spcPts val="0"/>
              </a:spcBef>
              <a:buNone/>
            </a:pPr>
            <a:r>
              <a:rPr lang="en-US" sz="900" dirty="0">
                <a:solidFill>
                  <a:srgbClr val="6B7579"/>
                </a:solidFill>
              </a:rPr>
              <a:t>Rule-based</a:t>
            </a:r>
            <a:endParaRPr lang="en-US" sz="900" dirty="0"/>
          </a:p>
        </p:txBody>
      </p:sp>
      <p:sp>
        <p:nvSpPr>
          <p:cNvPr id="252" name="Shape 252"/>
          <p:cNvSpPr/>
          <p:nvPr/>
        </p:nvSpPr>
        <p:spPr>
          <a:xfrm>
            <a:off x="10693400" y="2616200"/>
            <a:ext cx="762000" cy="228600"/>
          </a:xfrm>
          <a:prstGeom prst="roundRect">
            <a:avLst>
              <a:gd name="adj" fmla="val 50000"/>
            </a:avLst>
          </a:prstGeom>
          <a:solidFill>
            <a:srgbClr val="EDEFEC"/>
          </a:solidFill>
          <a:ln w="6350">
            <a:solidFill>
              <a:srgbClr val="A9B1B3"/>
            </a:solidFill>
          </a:ln>
        </p:spPr>
        <p:txBody>
          <a:bodyPr wrap="square" lIns="0" tIns="0" rIns="0" bIns="0" rtlCol="0" anchor="ctr">
            <a:noAutofit/>
          </a:bodyPr>
          <a:lstStyle/>
          <a:p>
            <a:pPr marL="0" indent="0" algn="ctr">
              <a:spcBef>
                <a:spcPts val="0"/>
              </a:spcBef>
              <a:buNone/>
            </a:pPr>
            <a:r>
              <a:rPr lang="en-US" sz="900" b="1" dirty="0">
                <a:solidFill>
                  <a:srgbClr val="1F2A2E"/>
                </a:solidFill>
              </a:rPr>
              <a:t>Low</a:t>
            </a:r>
            <a:endParaRPr lang="en-US" sz="900" dirty="0"/>
          </a:p>
        </p:txBody>
      </p:sp>
      <p:sp>
        <p:nvSpPr>
          <p:cNvPr id="253" name="Shape 253"/>
          <p:cNvSpPr txBox="1"/>
          <p:nvPr/>
        </p:nvSpPr>
        <p:spPr>
          <a:xfrm>
            <a:off x="8678333" y="2971800"/>
            <a:ext cx="2777067" cy="508000"/>
          </a:xfrm>
          <a:prstGeom prst="rect">
            <a:avLst/>
          </a:prstGeom>
          <a:noFill/>
          <a:ln>
            <a:noFill/>
          </a:ln>
        </p:spPr>
        <p:txBody>
          <a:bodyPr wrap="square" lIns="0" tIns="0" rIns="0" bIns="0" rtlCol="0" anchor="t">
            <a:noAutofit/>
          </a:bodyPr>
          <a:lstStyle/>
          <a:p>
            <a:pPr marL="0" indent="0" algn="l">
              <a:spcBef>
                <a:spcPts val="0"/>
              </a:spcBef>
              <a:buNone/>
            </a:pPr>
            <a:r>
              <a:rPr lang="en-US" sz="1200" b="1" dirty="0">
                <a:solidFill>
                  <a:srgbClr val="1F2A2E"/>
                </a:solidFill>
              </a:rPr>
              <a:t>Turn off lab plug loads after 20:00</a:t>
            </a:r>
            <a:endParaRPr lang="en-US" sz="1200" dirty="0"/>
          </a:p>
        </p:txBody>
      </p:sp>
      <p:sp>
        <p:nvSpPr>
          <p:cNvPr id="254" name="Shape 254"/>
          <p:cNvSpPr txBox="1"/>
          <p:nvPr/>
        </p:nvSpPr>
        <p:spPr>
          <a:xfrm>
            <a:off x="8678333" y="3530600"/>
            <a:ext cx="2777067" cy="711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Plug loads in Lab Block stay at 40% of daytime level overnight.</a:t>
            </a:r>
            <a:endParaRPr lang="en-US" sz="1000" dirty="0"/>
          </a:p>
        </p:txBody>
      </p:sp>
      <p:sp>
        <p:nvSpPr>
          <p:cNvPr id="255" name="Shape 255"/>
          <p:cNvSpPr txBox="1"/>
          <p:nvPr/>
        </p:nvSpPr>
        <p:spPr>
          <a:xfrm>
            <a:off x="8678333" y="4267200"/>
            <a:ext cx="2777067" cy="2032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Estimated saving</a:t>
            </a:r>
            <a:endParaRPr lang="en-US" sz="900" dirty="0"/>
          </a:p>
        </p:txBody>
      </p:sp>
      <p:sp>
        <p:nvSpPr>
          <p:cNvPr id="256" name="Shape 256"/>
          <p:cNvSpPr txBox="1"/>
          <p:nvPr/>
        </p:nvSpPr>
        <p:spPr>
          <a:xfrm>
            <a:off x="8678333" y="4445000"/>
            <a:ext cx="2777067" cy="254000"/>
          </a:xfrm>
          <a:prstGeom prst="rect">
            <a:avLst/>
          </a:prstGeom>
          <a:noFill/>
          <a:ln>
            <a:noFill/>
          </a:ln>
        </p:spPr>
        <p:txBody>
          <a:bodyPr wrap="square" lIns="0" tIns="0" rIns="0" bIns="0" rtlCol="0" anchor="t">
            <a:noAutofit/>
          </a:bodyPr>
          <a:lstStyle/>
          <a:p>
            <a:pPr marL="0" indent="0" algn="l">
              <a:spcBef>
                <a:spcPts val="0"/>
              </a:spcBef>
              <a:buNone/>
            </a:pPr>
            <a:r>
              <a:rPr lang="en-US" sz="1300" b="1" dirty="0">
                <a:solidFill>
                  <a:srgbClr val="1F2A2E"/>
                </a:solidFill>
              </a:rPr>
              <a:t>−40 kWh / week (2%)</a:t>
            </a:r>
            <a:endParaRPr lang="en-US" sz="1300" dirty="0"/>
          </a:p>
        </p:txBody>
      </p:sp>
      <p:sp>
        <p:nvSpPr>
          <p:cNvPr id="257" name="Shape 257"/>
          <p:cNvSpPr/>
          <p:nvPr/>
        </p:nvSpPr>
        <p:spPr>
          <a:xfrm>
            <a:off x="8678333" y="4851400"/>
            <a:ext cx="1325033" cy="254000"/>
          </a:xfrm>
          <a:prstGeom prst="roundRect">
            <a:avLst>
              <a:gd name="adj" fmla="val 20000"/>
            </a:avLst>
          </a:prstGeom>
          <a:solidFill>
            <a:srgbClr val="6B7579"/>
          </a:solidFill>
          <a:ln w="9525">
            <a:solidFill>
              <a:srgbClr val="6B7579"/>
            </a:solidFill>
          </a:ln>
        </p:spPr>
        <p:txBody>
          <a:bodyPr wrap="square" lIns="0" tIns="0" rIns="0" bIns="0" rtlCol="0" anchor="ctr">
            <a:noAutofit/>
          </a:bodyPr>
          <a:lstStyle/>
          <a:p>
            <a:pPr marL="0" indent="0" algn="ctr">
              <a:spcBef>
                <a:spcPts val="0"/>
              </a:spcBef>
              <a:buNone/>
            </a:pPr>
            <a:r>
              <a:rPr lang="en-US" sz="1000" dirty="0">
                <a:solidFill>
                  <a:srgbClr val="FFFFFF"/>
                </a:solidFill>
              </a:rPr>
              <a:t>Accept</a:t>
            </a:r>
            <a:endParaRPr lang="en-US" sz="1000" dirty="0"/>
          </a:p>
        </p:txBody>
      </p:sp>
      <p:sp>
        <p:nvSpPr>
          <p:cNvPr id="258" name="Shape 258"/>
          <p:cNvSpPr/>
          <p:nvPr/>
        </p:nvSpPr>
        <p:spPr>
          <a:xfrm>
            <a:off x="10130367" y="4851400"/>
            <a:ext cx="1325033"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Dismiss</a:t>
            </a:r>
            <a:endParaRPr lang="en-US" sz="1000" dirty="0"/>
          </a:p>
        </p:txBody>
      </p:sp>
      <p:sp>
        <p:nvSpPr>
          <p:cNvPr id="259" name="Shape 259"/>
          <p:cNvSpPr/>
          <p:nvPr/>
        </p:nvSpPr>
        <p:spPr>
          <a:xfrm>
            <a:off x="8678333" y="5181600"/>
            <a:ext cx="2777067"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Mark implemented</a:t>
            </a:r>
            <a:endParaRPr lang="en-US" sz="1000" dirty="0"/>
          </a:p>
        </p:txBody>
      </p:sp>
      <p:sp>
        <p:nvSpPr>
          <p:cNvPr id="260" name="Shape 260"/>
          <p:cNvSpPr txBox="1"/>
          <p:nvPr/>
        </p:nvSpPr>
        <p:spPr>
          <a:xfrm>
            <a:off x="8678333" y="5613400"/>
            <a:ext cx="4064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Rate</a:t>
            </a:r>
            <a:endParaRPr lang="en-US" sz="1000" dirty="0"/>
          </a:p>
        </p:txBody>
      </p:sp>
      <p:sp>
        <p:nvSpPr>
          <p:cNvPr id="261" name="Shape 261"/>
          <p:cNvSpPr txBox="1"/>
          <p:nvPr/>
        </p:nvSpPr>
        <p:spPr>
          <a:xfrm>
            <a:off x="9110133" y="5575300"/>
            <a:ext cx="1524000" cy="203200"/>
          </a:xfrm>
          <a:prstGeom prst="rect">
            <a:avLst/>
          </a:prstGeom>
          <a:noFill/>
          <a:ln>
            <a:noFill/>
          </a:ln>
        </p:spPr>
        <p:txBody>
          <a:bodyPr wrap="square" lIns="0" tIns="0" rIns="0" bIns="0" rtlCol="0" anchor="t">
            <a:noAutofit/>
          </a:bodyPr>
          <a:lstStyle/>
          <a:p>
            <a:pPr marL="0" indent="0" algn="l">
              <a:spcBef>
                <a:spcPts val="0"/>
              </a:spcBef>
              <a:buNone/>
            </a:pPr>
            <a:r>
              <a:rPr lang="en-US" sz="1300" dirty="0">
                <a:solidFill>
                  <a:srgbClr val="A9B1B3"/>
                </a:solidFill>
              </a:rPr>
              <a:t>★★★★☆</a:t>
            </a:r>
            <a:endParaRPr lang="en-US" sz="1300" dirty="0"/>
          </a:p>
        </p:txBody>
      </p:sp>
      <p:sp>
        <p:nvSpPr>
          <p:cNvPr id="262" name="Shape 262"/>
          <p:cNvSpPr txBox="1"/>
          <p:nvPr/>
        </p:nvSpPr>
        <p:spPr>
          <a:xfrm>
            <a:off x="8678333" y="5816600"/>
            <a:ext cx="2777067" cy="2032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Add a comment…</a:t>
            </a:r>
            <a:endParaRPr lang="en-US" sz="900" dirty="0"/>
          </a:p>
        </p:txBody>
      </p:sp>
      <p:sp>
        <p:nvSpPr>
          <p:cNvPr id="263" name="Shape 263"/>
          <p:cNvSpPr txBox="1"/>
          <p:nvPr/>
        </p:nvSpPr>
        <p:spPr>
          <a:xfrm>
            <a:off x="457200" y="6438900"/>
            <a:ext cx="112776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Low-fidelity wireframe, not yet implemented. Layout and labels only; final styling follows the deck palette.</a:t>
            </a:r>
            <a:endParaRPr lang="en-US" sz="1100" dirty="0"/>
          </a:p>
        </p:txBody>
      </p:sp>
    </p:spTree>
    <p:extLst>
      <p:ext uri="{BB962C8B-B14F-4D97-AF65-F5344CB8AC3E}">
        <p14:creationId xmlns:p14="http://schemas.microsoft.com/office/powerpoint/2010/main" val="2890190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DCFD-5336-9FF5-1A51-9133693B0FC9}"/>
              </a:ext>
            </a:extLst>
          </p:cNvPr>
          <p:cNvSpPr>
            <a:spLocks noGrp="1"/>
          </p:cNvSpPr>
          <p:nvPr>
            <p:ph type="title"/>
          </p:nvPr>
        </p:nvSpPr>
        <p:spPr/>
        <p:txBody>
          <a:bodyPr/>
          <a:lstStyle/>
          <a:p>
            <a:pPr algn="l"/>
            <a:r>
              <a:rPr lang="en-US" sz="3200" b="1" dirty="0"/>
              <a:t>A8 · S4 Login and Dashboard home wireframe</a:t>
            </a:r>
          </a:p>
        </p:txBody>
      </p:sp>
      <p:sp>
        <p:nvSpPr>
          <p:cNvPr id="200" name="Subsystem bar"/>
          <p:cNvSpPr/>
          <p:nvPr/>
        </p:nvSpPr>
        <p:spPr>
          <a:xfrm>
            <a:off x="457200" y="304800"/>
            <a:ext cx="711200" cy="63500"/>
          </a:xfrm>
          <a:prstGeom prst="rect">
            <a:avLst/>
          </a:prstGeom>
          <a:solidFill>
            <a:srgbClr val="C9822B"/>
          </a:solidFill>
          <a:ln>
            <a:noFill/>
          </a:ln>
        </p:spPr>
        <p:txBody>
          <a:bodyPr wrap="square" lIns="50800" tIns="50800" rIns="50800" bIns="50800" rtlCol="0" anchor="t">
            <a:noAutofit/>
          </a:bodyPr>
          <a:lstStyle/>
          <a:p>
            <a:endParaRPr lang="en-US" dirty="0"/>
          </a:p>
        </p:txBody>
      </p:sp>
      <p:sp>
        <p:nvSpPr>
          <p:cNvPr id="201" name="Shape 201"/>
          <p:cNvSpPr/>
          <p:nvPr/>
        </p:nvSpPr>
        <p:spPr>
          <a:xfrm>
            <a:off x="457200" y="1219200"/>
            <a:ext cx="2946400" cy="5029200"/>
          </a:xfrm>
          <a:prstGeom prst="rect">
            <a:avLst/>
          </a:prstGeom>
          <a:solidFill>
            <a:srgbClr val="FFFFFF"/>
          </a:solidFill>
          <a:ln w="12700">
            <a:solidFill>
              <a:srgbClr val="A9B1B3"/>
            </a:solidFill>
          </a:ln>
        </p:spPr>
        <p:txBody>
          <a:bodyPr wrap="square" lIns="50800" tIns="50800" rIns="50800" bIns="50800" rtlCol="0" anchor="t">
            <a:noAutofit/>
          </a:bodyPr>
          <a:lstStyle/>
          <a:p>
            <a:endParaRPr lang="en-US" dirty="0"/>
          </a:p>
        </p:txBody>
      </p:sp>
      <p:sp>
        <p:nvSpPr>
          <p:cNvPr id="202" name="Shape 202"/>
          <p:cNvSpPr/>
          <p:nvPr/>
        </p:nvSpPr>
        <p:spPr>
          <a:xfrm>
            <a:off x="457200" y="1219200"/>
            <a:ext cx="2946400" cy="279400"/>
          </a:xfrm>
          <a:prstGeom prst="rect">
            <a:avLst/>
          </a:prstGeom>
          <a:solidFill>
            <a:srgbClr val="EDEFEC"/>
          </a:solidFill>
          <a:ln w="12700">
            <a:solidFill>
              <a:srgbClr val="A9B1B3"/>
            </a:solidFill>
          </a:ln>
        </p:spPr>
        <p:txBody>
          <a:bodyPr wrap="square" lIns="50800" tIns="50800" rIns="50800" bIns="50800" rtlCol="0" anchor="t">
            <a:noAutofit/>
          </a:bodyPr>
          <a:lstStyle/>
          <a:p>
            <a:endParaRPr lang="en-US" dirty="0"/>
          </a:p>
        </p:txBody>
      </p:sp>
      <p:sp>
        <p:nvSpPr>
          <p:cNvPr id="203" name="Shape 203"/>
          <p:cNvSpPr/>
          <p:nvPr/>
        </p:nvSpPr>
        <p:spPr>
          <a:xfrm>
            <a:off x="5588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04" name="Shape 204"/>
          <p:cNvSpPr/>
          <p:nvPr/>
        </p:nvSpPr>
        <p:spPr>
          <a:xfrm>
            <a:off x="6858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05" name="Shape 205"/>
          <p:cNvSpPr/>
          <p:nvPr/>
        </p:nvSpPr>
        <p:spPr>
          <a:xfrm>
            <a:off x="8128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06" name="Shape 206"/>
          <p:cNvSpPr/>
          <p:nvPr/>
        </p:nvSpPr>
        <p:spPr>
          <a:xfrm>
            <a:off x="1016000" y="1270000"/>
            <a:ext cx="2184400" cy="177800"/>
          </a:xfrm>
          <a:prstGeom prst="rect">
            <a:avLst/>
          </a:prstGeom>
          <a:solidFill>
            <a:srgbClr val="FFFFFF"/>
          </a:solidFill>
          <a:ln w="6350">
            <a:solidFill>
              <a:srgbClr val="D5D9D6"/>
            </a:solidFill>
          </a:ln>
        </p:spPr>
        <p:txBody>
          <a:bodyPr wrap="square" lIns="76200" tIns="0" rIns="0" bIns="0" rtlCol="0" anchor="ctr">
            <a:noAutofit/>
          </a:bodyPr>
          <a:lstStyle/>
          <a:p>
            <a:pPr marL="0" indent="0" algn="l">
              <a:spcBef>
                <a:spcPts val="0"/>
              </a:spcBef>
              <a:buNone/>
            </a:pPr>
            <a:r>
              <a:rPr lang="en-US" sz="850" dirty="0">
                <a:solidFill>
                  <a:srgbClr val="6B7579"/>
                </a:solidFill>
              </a:rPr>
              <a:t>smartenergy.local/login</a:t>
            </a:r>
            <a:endParaRPr lang="en-US" sz="850" dirty="0"/>
          </a:p>
        </p:txBody>
      </p:sp>
      <p:sp>
        <p:nvSpPr>
          <p:cNvPr id="207" name="Shape 207"/>
          <p:cNvSpPr txBox="1"/>
          <p:nvPr/>
        </p:nvSpPr>
        <p:spPr>
          <a:xfrm>
            <a:off x="660400" y="1778000"/>
            <a:ext cx="2540000" cy="304800"/>
          </a:xfrm>
          <a:prstGeom prst="rect">
            <a:avLst/>
          </a:prstGeom>
          <a:noFill/>
          <a:ln>
            <a:noFill/>
          </a:ln>
        </p:spPr>
        <p:txBody>
          <a:bodyPr wrap="square" lIns="0" tIns="0" rIns="0" bIns="0" rtlCol="0" anchor="t">
            <a:noAutofit/>
          </a:bodyPr>
          <a:lstStyle/>
          <a:p>
            <a:pPr marL="0" indent="0" algn="l">
              <a:spcBef>
                <a:spcPts val="0"/>
              </a:spcBef>
              <a:buNone/>
            </a:pPr>
            <a:r>
              <a:rPr lang="en-US" sz="1600" b="1" dirty="0">
                <a:solidFill>
                  <a:srgbClr val="1F2A2E"/>
                </a:solidFill>
              </a:rPr>
              <a:t>Smart Energy</a:t>
            </a:r>
            <a:endParaRPr lang="en-US" sz="1600" dirty="0"/>
          </a:p>
        </p:txBody>
      </p:sp>
      <p:sp>
        <p:nvSpPr>
          <p:cNvPr id="208" name="Shape 208"/>
          <p:cNvSpPr txBox="1"/>
          <p:nvPr/>
        </p:nvSpPr>
        <p:spPr>
          <a:xfrm>
            <a:off x="660400" y="2108200"/>
            <a:ext cx="2540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Sign in to your buildings</a:t>
            </a:r>
            <a:endParaRPr lang="en-US" sz="1000" dirty="0"/>
          </a:p>
        </p:txBody>
      </p:sp>
      <p:sp>
        <p:nvSpPr>
          <p:cNvPr id="209" name="Shape 209"/>
          <p:cNvSpPr txBox="1"/>
          <p:nvPr/>
        </p:nvSpPr>
        <p:spPr>
          <a:xfrm>
            <a:off x="660400" y="2514600"/>
            <a:ext cx="2540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Email</a:t>
            </a:r>
            <a:endParaRPr lang="en-US" sz="1000" dirty="0"/>
          </a:p>
        </p:txBody>
      </p:sp>
      <p:sp>
        <p:nvSpPr>
          <p:cNvPr id="210" name="Shape 210"/>
          <p:cNvSpPr/>
          <p:nvPr/>
        </p:nvSpPr>
        <p:spPr>
          <a:xfrm>
            <a:off x="660400" y="2692400"/>
            <a:ext cx="2540000" cy="2286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11" name="Shape 211"/>
          <p:cNvSpPr txBox="1"/>
          <p:nvPr/>
        </p:nvSpPr>
        <p:spPr>
          <a:xfrm>
            <a:off x="660400" y="3048000"/>
            <a:ext cx="2540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Password</a:t>
            </a:r>
            <a:endParaRPr lang="en-US" sz="1000" dirty="0"/>
          </a:p>
        </p:txBody>
      </p:sp>
      <p:sp>
        <p:nvSpPr>
          <p:cNvPr id="212" name="Shape 212"/>
          <p:cNvSpPr/>
          <p:nvPr/>
        </p:nvSpPr>
        <p:spPr>
          <a:xfrm>
            <a:off x="660400" y="3225800"/>
            <a:ext cx="2540000" cy="2286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13" name="Shape 213"/>
          <p:cNvSpPr/>
          <p:nvPr/>
        </p:nvSpPr>
        <p:spPr>
          <a:xfrm>
            <a:off x="660400" y="3632200"/>
            <a:ext cx="2540000" cy="254000"/>
          </a:xfrm>
          <a:prstGeom prst="roundRect">
            <a:avLst>
              <a:gd name="adj" fmla="val 20000"/>
            </a:avLst>
          </a:prstGeom>
          <a:solidFill>
            <a:srgbClr val="6B7579"/>
          </a:solidFill>
          <a:ln w="9525">
            <a:solidFill>
              <a:srgbClr val="6B7579"/>
            </a:solidFill>
          </a:ln>
        </p:spPr>
        <p:txBody>
          <a:bodyPr wrap="square" lIns="0" tIns="0" rIns="0" bIns="0" rtlCol="0" anchor="ctr">
            <a:noAutofit/>
          </a:bodyPr>
          <a:lstStyle/>
          <a:p>
            <a:pPr marL="0" indent="0" algn="ctr">
              <a:spcBef>
                <a:spcPts val="0"/>
              </a:spcBef>
              <a:buNone/>
            </a:pPr>
            <a:r>
              <a:rPr lang="en-US" sz="1000" dirty="0">
                <a:solidFill>
                  <a:srgbClr val="FFFFFF"/>
                </a:solidFill>
              </a:rPr>
              <a:t>Log in</a:t>
            </a:r>
            <a:endParaRPr lang="en-US" sz="1000" dirty="0"/>
          </a:p>
        </p:txBody>
      </p:sp>
      <p:sp>
        <p:nvSpPr>
          <p:cNvPr id="214" name="Shape 214"/>
          <p:cNvSpPr txBox="1"/>
          <p:nvPr/>
        </p:nvSpPr>
        <p:spPr>
          <a:xfrm>
            <a:off x="660400" y="4013200"/>
            <a:ext cx="2540000" cy="203200"/>
          </a:xfrm>
          <a:prstGeom prst="rect">
            <a:avLst/>
          </a:prstGeom>
          <a:noFill/>
          <a:ln>
            <a:noFill/>
          </a:ln>
        </p:spPr>
        <p:txBody>
          <a:bodyPr wrap="square" lIns="0" tIns="0" rIns="0" bIns="0" rtlCol="0" anchor="t">
            <a:noAutofit/>
          </a:bodyPr>
          <a:lstStyle/>
          <a:p>
            <a:pPr marL="0" indent="0" algn="ctr">
              <a:spcBef>
                <a:spcPts val="0"/>
              </a:spcBef>
              <a:buNone/>
            </a:pPr>
            <a:r>
              <a:rPr lang="en-US" sz="1000" dirty="0">
                <a:solidFill>
                  <a:srgbClr val="6B7579"/>
                </a:solidFill>
              </a:rPr>
              <a:t>No account? Register</a:t>
            </a:r>
            <a:endParaRPr lang="en-US" sz="1000" dirty="0"/>
          </a:p>
        </p:txBody>
      </p:sp>
      <p:sp>
        <p:nvSpPr>
          <p:cNvPr id="215" name="Shape 215"/>
          <p:cNvSpPr txBox="1"/>
          <p:nvPr/>
        </p:nvSpPr>
        <p:spPr>
          <a:xfrm>
            <a:off x="660400" y="5715000"/>
            <a:ext cx="2540000" cy="203200"/>
          </a:xfrm>
          <a:prstGeom prst="rect">
            <a:avLst/>
          </a:prstGeom>
          <a:noFill/>
          <a:ln>
            <a:noFill/>
          </a:ln>
        </p:spPr>
        <p:txBody>
          <a:bodyPr wrap="square" lIns="0" tIns="0" rIns="0" bIns="0" rtlCol="0" anchor="t">
            <a:noAutofit/>
          </a:bodyPr>
          <a:lstStyle/>
          <a:p>
            <a:pPr marL="0" indent="0" algn="ctr">
              <a:spcBef>
                <a:spcPts val="0"/>
              </a:spcBef>
              <a:buNone/>
            </a:pPr>
            <a:r>
              <a:rPr lang="en-US" sz="900" dirty="0">
                <a:solidFill>
                  <a:srgbClr val="6B7579"/>
                </a:solidFill>
              </a:rPr>
              <a:t>401 → redirected here</a:t>
            </a:r>
            <a:endParaRPr lang="en-US" sz="900" dirty="0"/>
          </a:p>
        </p:txBody>
      </p:sp>
      <p:sp>
        <p:nvSpPr>
          <p:cNvPr id="216" name="Shape 216"/>
          <p:cNvSpPr/>
          <p:nvPr/>
        </p:nvSpPr>
        <p:spPr>
          <a:xfrm>
            <a:off x="3556000" y="1219200"/>
            <a:ext cx="8178800" cy="5029200"/>
          </a:xfrm>
          <a:prstGeom prst="rect">
            <a:avLst/>
          </a:prstGeom>
          <a:solidFill>
            <a:srgbClr val="FFFFFF"/>
          </a:solidFill>
          <a:ln w="12700">
            <a:solidFill>
              <a:srgbClr val="A9B1B3"/>
            </a:solidFill>
          </a:ln>
        </p:spPr>
        <p:txBody>
          <a:bodyPr wrap="square" lIns="50800" tIns="50800" rIns="50800" bIns="50800" rtlCol="0" anchor="t">
            <a:noAutofit/>
          </a:bodyPr>
          <a:lstStyle/>
          <a:p>
            <a:endParaRPr lang="en-US" dirty="0"/>
          </a:p>
        </p:txBody>
      </p:sp>
      <p:sp>
        <p:nvSpPr>
          <p:cNvPr id="217" name="Shape 217"/>
          <p:cNvSpPr/>
          <p:nvPr/>
        </p:nvSpPr>
        <p:spPr>
          <a:xfrm>
            <a:off x="3556000" y="1219200"/>
            <a:ext cx="8178800" cy="279400"/>
          </a:xfrm>
          <a:prstGeom prst="rect">
            <a:avLst/>
          </a:prstGeom>
          <a:solidFill>
            <a:srgbClr val="EDEFEC"/>
          </a:solidFill>
          <a:ln w="12700">
            <a:solidFill>
              <a:srgbClr val="A9B1B3"/>
            </a:solidFill>
          </a:ln>
        </p:spPr>
        <p:txBody>
          <a:bodyPr wrap="square" lIns="50800" tIns="50800" rIns="50800" bIns="50800" rtlCol="0" anchor="t">
            <a:noAutofit/>
          </a:bodyPr>
          <a:lstStyle/>
          <a:p>
            <a:endParaRPr lang="en-US" dirty="0"/>
          </a:p>
        </p:txBody>
      </p:sp>
      <p:sp>
        <p:nvSpPr>
          <p:cNvPr id="218" name="Shape 218"/>
          <p:cNvSpPr/>
          <p:nvPr/>
        </p:nvSpPr>
        <p:spPr>
          <a:xfrm>
            <a:off x="36576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19" name="Shape 219"/>
          <p:cNvSpPr/>
          <p:nvPr/>
        </p:nvSpPr>
        <p:spPr>
          <a:xfrm>
            <a:off x="37846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20" name="Shape 220"/>
          <p:cNvSpPr/>
          <p:nvPr/>
        </p:nvSpPr>
        <p:spPr>
          <a:xfrm>
            <a:off x="3911600" y="1320800"/>
            <a:ext cx="76200" cy="76200"/>
          </a:xfrm>
          <a:prstGeom prst="ellipse">
            <a:avLst/>
          </a:prstGeom>
          <a:solidFill>
            <a:srgbClr val="A9B1B3"/>
          </a:solidFill>
          <a:ln>
            <a:noFill/>
          </a:ln>
        </p:spPr>
        <p:txBody>
          <a:bodyPr wrap="square" lIns="50800" tIns="50800" rIns="50800" bIns="50800" rtlCol="0" anchor="t">
            <a:noAutofit/>
          </a:bodyPr>
          <a:lstStyle/>
          <a:p>
            <a:endParaRPr lang="en-US" dirty="0"/>
          </a:p>
        </p:txBody>
      </p:sp>
      <p:sp>
        <p:nvSpPr>
          <p:cNvPr id="221" name="Shape 221"/>
          <p:cNvSpPr/>
          <p:nvPr/>
        </p:nvSpPr>
        <p:spPr>
          <a:xfrm>
            <a:off x="4114800" y="1270000"/>
            <a:ext cx="4064000" cy="177800"/>
          </a:xfrm>
          <a:prstGeom prst="rect">
            <a:avLst/>
          </a:prstGeom>
          <a:solidFill>
            <a:srgbClr val="FFFFFF"/>
          </a:solidFill>
          <a:ln w="6350">
            <a:solidFill>
              <a:srgbClr val="D5D9D6"/>
            </a:solidFill>
          </a:ln>
        </p:spPr>
        <p:txBody>
          <a:bodyPr wrap="square" lIns="76200" tIns="0" rIns="0" bIns="0" rtlCol="0" anchor="ctr">
            <a:noAutofit/>
          </a:bodyPr>
          <a:lstStyle/>
          <a:p>
            <a:pPr marL="0" indent="0" algn="l">
              <a:spcBef>
                <a:spcPts val="0"/>
              </a:spcBef>
              <a:buNone/>
            </a:pPr>
            <a:r>
              <a:rPr lang="en-US" sz="850" dirty="0">
                <a:solidFill>
                  <a:srgbClr val="6B7579"/>
                </a:solidFill>
              </a:rPr>
              <a:t>smartenergy.local/dashboard</a:t>
            </a:r>
            <a:endParaRPr lang="en-US" sz="850" dirty="0"/>
          </a:p>
        </p:txBody>
      </p:sp>
      <p:sp>
        <p:nvSpPr>
          <p:cNvPr id="222" name="Shape 222"/>
          <p:cNvSpPr/>
          <p:nvPr/>
        </p:nvSpPr>
        <p:spPr>
          <a:xfrm>
            <a:off x="3556000" y="1498600"/>
            <a:ext cx="1574800" cy="4749800"/>
          </a:xfrm>
          <a:prstGeom prst="rect">
            <a:avLst/>
          </a:prstGeom>
          <a:solidFill>
            <a:srgbClr val="EDEFEC"/>
          </a:solidFill>
          <a:ln>
            <a:noFill/>
          </a:ln>
        </p:spPr>
        <p:txBody>
          <a:bodyPr wrap="square" lIns="50800" tIns="50800" rIns="50800" bIns="50800" rtlCol="0" anchor="t">
            <a:noAutofit/>
          </a:bodyPr>
          <a:lstStyle/>
          <a:p>
            <a:endParaRPr lang="en-US" dirty="0"/>
          </a:p>
        </p:txBody>
      </p:sp>
      <p:sp>
        <p:nvSpPr>
          <p:cNvPr id="223" name="Shape 223"/>
          <p:cNvSpPr txBox="1"/>
          <p:nvPr/>
        </p:nvSpPr>
        <p:spPr>
          <a:xfrm>
            <a:off x="3708400" y="16256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1F2A2E"/>
                </a:solidFill>
              </a:rPr>
              <a:t>Smart Energy</a:t>
            </a:r>
            <a:endParaRPr lang="en-US" sz="1100" dirty="0"/>
          </a:p>
        </p:txBody>
      </p:sp>
      <p:sp>
        <p:nvSpPr>
          <p:cNvPr id="224" name="Shape 224"/>
          <p:cNvSpPr/>
          <p:nvPr/>
        </p:nvSpPr>
        <p:spPr>
          <a:xfrm>
            <a:off x="3632200" y="1943100"/>
            <a:ext cx="1422400" cy="279400"/>
          </a:xfrm>
          <a:prstGeom prst="rect">
            <a:avLst/>
          </a:prstGeom>
          <a:solidFill>
            <a:srgbClr val="D5D9D6"/>
          </a:solidFill>
          <a:ln>
            <a:noFill/>
          </a:ln>
        </p:spPr>
        <p:txBody>
          <a:bodyPr wrap="square" lIns="50800" tIns="50800" rIns="50800" bIns="50800" rtlCol="0" anchor="t">
            <a:noAutofit/>
          </a:bodyPr>
          <a:lstStyle/>
          <a:p>
            <a:endParaRPr lang="en-US" dirty="0"/>
          </a:p>
        </p:txBody>
      </p:sp>
      <p:sp>
        <p:nvSpPr>
          <p:cNvPr id="225" name="Shape 225"/>
          <p:cNvSpPr txBox="1"/>
          <p:nvPr/>
        </p:nvSpPr>
        <p:spPr>
          <a:xfrm>
            <a:off x="3733800" y="19812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1F2A2E"/>
                </a:solidFill>
              </a:rPr>
              <a:t>Dashboard</a:t>
            </a:r>
            <a:endParaRPr lang="en-US" sz="1100" dirty="0"/>
          </a:p>
        </p:txBody>
      </p:sp>
      <p:sp>
        <p:nvSpPr>
          <p:cNvPr id="226" name="Shape 226"/>
          <p:cNvSpPr txBox="1"/>
          <p:nvPr/>
        </p:nvSpPr>
        <p:spPr>
          <a:xfrm>
            <a:off x="3733800" y="23114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Buildings</a:t>
            </a:r>
            <a:endParaRPr lang="en-US" sz="1100" dirty="0"/>
          </a:p>
        </p:txBody>
      </p:sp>
      <p:sp>
        <p:nvSpPr>
          <p:cNvPr id="227" name="Shape 227"/>
          <p:cNvSpPr txBox="1"/>
          <p:nvPr/>
        </p:nvSpPr>
        <p:spPr>
          <a:xfrm>
            <a:off x="3733800" y="26416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Analytics</a:t>
            </a:r>
            <a:endParaRPr lang="en-US" sz="1100" dirty="0"/>
          </a:p>
        </p:txBody>
      </p:sp>
      <p:sp>
        <p:nvSpPr>
          <p:cNvPr id="228" name="Shape 228"/>
          <p:cNvSpPr txBox="1"/>
          <p:nvPr/>
        </p:nvSpPr>
        <p:spPr>
          <a:xfrm>
            <a:off x="3733800" y="29718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Recommendations</a:t>
            </a:r>
            <a:endParaRPr lang="en-US" sz="1100" dirty="0"/>
          </a:p>
        </p:txBody>
      </p:sp>
      <p:sp>
        <p:nvSpPr>
          <p:cNvPr id="229" name="Shape 229"/>
          <p:cNvSpPr txBox="1"/>
          <p:nvPr/>
        </p:nvSpPr>
        <p:spPr>
          <a:xfrm>
            <a:off x="3733800" y="3302000"/>
            <a:ext cx="12700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Settings</a:t>
            </a:r>
            <a:endParaRPr lang="en-US" sz="1100" dirty="0"/>
          </a:p>
        </p:txBody>
      </p:sp>
      <p:sp>
        <p:nvSpPr>
          <p:cNvPr id="230" name="Shape 230"/>
          <p:cNvSpPr/>
          <p:nvPr/>
        </p:nvSpPr>
        <p:spPr>
          <a:xfrm>
            <a:off x="5257800" y="1625600"/>
            <a:ext cx="2286000" cy="254000"/>
          </a:xfrm>
          <a:prstGeom prst="rect">
            <a:avLst/>
          </a:prstGeom>
          <a:solidFill>
            <a:srgbClr val="FFFFFF"/>
          </a:solidFill>
          <a:ln w="9525">
            <a:solidFill>
              <a:srgbClr val="A9B1B3"/>
            </a:solidFill>
          </a:ln>
        </p:spPr>
        <p:txBody>
          <a:bodyPr wrap="square" lIns="76200" tIns="0" rIns="76200" bIns="0" rtlCol="0" anchor="ctr">
            <a:noAutofit/>
          </a:bodyPr>
          <a:lstStyle/>
          <a:p>
            <a:pPr marL="0" indent="0" algn="l">
              <a:spcBef>
                <a:spcPts val="0"/>
              </a:spcBef>
              <a:buNone/>
            </a:pPr>
            <a:r>
              <a:rPr lang="en-US" sz="1000" dirty="0">
                <a:solidFill>
                  <a:srgbClr val="1F2A2E"/>
                </a:solidFill>
              </a:rPr>
              <a:t>Building: HQ Office  ▾</a:t>
            </a:r>
            <a:endParaRPr lang="en-US" sz="1000" dirty="0"/>
          </a:p>
        </p:txBody>
      </p:sp>
      <p:sp>
        <p:nvSpPr>
          <p:cNvPr id="231" name="Shape 231"/>
          <p:cNvSpPr txBox="1"/>
          <p:nvPr/>
        </p:nvSpPr>
        <p:spPr>
          <a:xfrm>
            <a:off x="9067800" y="1651000"/>
            <a:ext cx="2540000" cy="203200"/>
          </a:xfrm>
          <a:prstGeom prst="rect">
            <a:avLst/>
          </a:prstGeom>
          <a:noFill/>
          <a:ln>
            <a:noFill/>
          </a:ln>
        </p:spPr>
        <p:txBody>
          <a:bodyPr wrap="square" lIns="0" tIns="0" rIns="0" bIns="0" rtlCol="0" anchor="t">
            <a:noAutofit/>
          </a:bodyPr>
          <a:lstStyle/>
          <a:p>
            <a:pPr marL="0" indent="0" algn="r">
              <a:spcBef>
                <a:spcPts val="0"/>
              </a:spcBef>
              <a:buNone/>
            </a:pPr>
            <a:r>
              <a:rPr lang="en-US" sz="1000" dirty="0">
                <a:solidFill>
                  <a:srgbClr val="6B7579"/>
                </a:solidFill>
              </a:rPr>
              <a:t>2 notifications</a:t>
            </a:r>
            <a:endParaRPr lang="en-US" sz="1000" dirty="0"/>
          </a:p>
        </p:txBody>
      </p:sp>
      <p:sp>
        <p:nvSpPr>
          <p:cNvPr id="232" name="Shape 232"/>
          <p:cNvSpPr/>
          <p:nvPr/>
        </p:nvSpPr>
        <p:spPr>
          <a:xfrm>
            <a:off x="5257800" y="2006600"/>
            <a:ext cx="2015067" cy="7366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33" name="Shape 233"/>
          <p:cNvSpPr txBox="1"/>
          <p:nvPr/>
        </p:nvSpPr>
        <p:spPr>
          <a:xfrm>
            <a:off x="5384800" y="2082800"/>
            <a:ext cx="1761067"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Current power</a:t>
            </a:r>
            <a:endParaRPr lang="en-US" sz="1000" dirty="0"/>
          </a:p>
        </p:txBody>
      </p:sp>
      <p:sp>
        <p:nvSpPr>
          <p:cNvPr id="234" name="Shape 234"/>
          <p:cNvSpPr txBox="1"/>
          <p:nvPr/>
        </p:nvSpPr>
        <p:spPr>
          <a:xfrm>
            <a:off x="5384800" y="2311400"/>
            <a:ext cx="1761067" cy="304800"/>
          </a:xfrm>
          <a:prstGeom prst="rect">
            <a:avLst/>
          </a:prstGeom>
          <a:noFill/>
          <a:ln>
            <a:noFill/>
          </a:ln>
        </p:spPr>
        <p:txBody>
          <a:bodyPr wrap="square" lIns="0" tIns="0" rIns="0" bIns="0" rtlCol="0" anchor="t">
            <a:noAutofit/>
          </a:bodyPr>
          <a:lstStyle/>
          <a:p>
            <a:pPr marL="0" indent="0" algn="l">
              <a:spcBef>
                <a:spcPts val="0"/>
              </a:spcBef>
              <a:buNone/>
            </a:pPr>
            <a:r>
              <a:rPr lang="en-US" sz="1600" b="1" dirty="0">
                <a:solidFill>
                  <a:srgbClr val="1F2A2E"/>
                </a:solidFill>
              </a:rPr>
              <a:t>84 kW</a:t>
            </a:r>
            <a:endParaRPr lang="en-US" sz="1600" dirty="0"/>
          </a:p>
        </p:txBody>
      </p:sp>
      <p:sp>
        <p:nvSpPr>
          <p:cNvPr id="235" name="Shape 235"/>
          <p:cNvSpPr/>
          <p:nvPr/>
        </p:nvSpPr>
        <p:spPr>
          <a:xfrm>
            <a:off x="7425267" y="2006600"/>
            <a:ext cx="2015067" cy="7366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36" name="Shape 236"/>
          <p:cNvSpPr txBox="1"/>
          <p:nvPr/>
        </p:nvSpPr>
        <p:spPr>
          <a:xfrm>
            <a:off x="7552267" y="2082800"/>
            <a:ext cx="1761067"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Today's energy</a:t>
            </a:r>
            <a:endParaRPr lang="en-US" sz="1000" dirty="0"/>
          </a:p>
        </p:txBody>
      </p:sp>
      <p:sp>
        <p:nvSpPr>
          <p:cNvPr id="237" name="Shape 237"/>
          <p:cNvSpPr txBox="1"/>
          <p:nvPr/>
        </p:nvSpPr>
        <p:spPr>
          <a:xfrm>
            <a:off x="7552267" y="2311400"/>
            <a:ext cx="1761067" cy="304800"/>
          </a:xfrm>
          <a:prstGeom prst="rect">
            <a:avLst/>
          </a:prstGeom>
          <a:noFill/>
          <a:ln>
            <a:noFill/>
          </a:ln>
        </p:spPr>
        <p:txBody>
          <a:bodyPr wrap="square" lIns="0" tIns="0" rIns="0" bIns="0" rtlCol="0" anchor="t">
            <a:noAutofit/>
          </a:bodyPr>
          <a:lstStyle/>
          <a:p>
            <a:pPr marL="0" indent="0" algn="l">
              <a:spcBef>
                <a:spcPts val="0"/>
              </a:spcBef>
              <a:buNone/>
            </a:pPr>
            <a:r>
              <a:rPr lang="en-US" sz="1600" b="1" dirty="0">
                <a:solidFill>
                  <a:srgbClr val="1F2A2E"/>
                </a:solidFill>
              </a:rPr>
              <a:t>612 kWh</a:t>
            </a:r>
            <a:endParaRPr lang="en-US" sz="1600" dirty="0"/>
          </a:p>
        </p:txBody>
      </p:sp>
      <p:sp>
        <p:nvSpPr>
          <p:cNvPr id="238" name="Shape 238"/>
          <p:cNvSpPr/>
          <p:nvPr/>
        </p:nvSpPr>
        <p:spPr>
          <a:xfrm>
            <a:off x="9592733" y="2006600"/>
            <a:ext cx="2015067" cy="7366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39" name="Shape 239"/>
          <p:cNvSpPr txBox="1"/>
          <p:nvPr/>
        </p:nvSpPr>
        <p:spPr>
          <a:xfrm>
            <a:off x="9719733" y="2082800"/>
            <a:ext cx="1761067"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Today's CO2</a:t>
            </a:r>
            <a:endParaRPr lang="en-US" sz="1000" dirty="0"/>
          </a:p>
        </p:txBody>
      </p:sp>
      <p:sp>
        <p:nvSpPr>
          <p:cNvPr id="240" name="Shape 240"/>
          <p:cNvSpPr txBox="1"/>
          <p:nvPr/>
        </p:nvSpPr>
        <p:spPr>
          <a:xfrm>
            <a:off x="9719733" y="2311400"/>
            <a:ext cx="1761067" cy="304800"/>
          </a:xfrm>
          <a:prstGeom prst="rect">
            <a:avLst/>
          </a:prstGeom>
          <a:noFill/>
          <a:ln>
            <a:noFill/>
          </a:ln>
        </p:spPr>
        <p:txBody>
          <a:bodyPr wrap="square" lIns="0" tIns="0" rIns="0" bIns="0" rtlCol="0" anchor="t">
            <a:noAutofit/>
          </a:bodyPr>
          <a:lstStyle/>
          <a:p>
            <a:pPr marL="0" indent="0" algn="l">
              <a:spcBef>
                <a:spcPts val="0"/>
              </a:spcBef>
              <a:buNone/>
            </a:pPr>
            <a:r>
              <a:rPr lang="en-US" sz="1600" b="1" dirty="0">
                <a:solidFill>
                  <a:srgbClr val="1F2A2E"/>
                </a:solidFill>
              </a:rPr>
              <a:t>275 kg</a:t>
            </a:r>
            <a:endParaRPr lang="en-US" sz="1600" dirty="0"/>
          </a:p>
        </p:txBody>
      </p:sp>
      <p:sp>
        <p:nvSpPr>
          <p:cNvPr id="241" name="Shape 241"/>
          <p:cNvSpPr/>
          <p:nvPr/>
        </p:nvSpPr>
        <p:spPr>
          <a:xfrm>
            <a:off x="5257800" y="2870200"/>
            <a:ext cx="3810000" cy="32258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42" name="Shape 242"/>
          <p:cNvSpPr txBox="1"/>
          <p:nvPr/>
        </p:nvSpPr>
        <p:spPr>
          <a:xfrm>
            <a:off x="5359400" y="2946400"/>
            <a:ext cx="3606800" cy="203200"/>
          </a:xfrm>
          <a:prstGeom prst="rect">
            <a:avLst/>
          </a:prstGeom>
          <a:noFill/>
          <a:ln>
            <a:noFill/>
          </a:ln>
        </p:spPr>
        <p:txBody>
          <a:bodyPr wrap="square" lIns="0" tIns="0" rIns="0" bIns="0" rtlCol="0" anchor="t">
            <a:noAutofit/>
          </a:bodyPr>
          <a:lstStyle/>
          <a:p>
            <a:pPr marL="0" indent="0" algn="l">
              <a:spcBef>
                <a:spcPts val="0"/>
              </a:spcBef>
              <a:buNone/>
            </a:pPr>
            <a:r>
              <a:rPr lang="en-US" sz="1200" b="1" dirty="0">
                <a:solidFill>
                  <a:srgbClr val="1F2A2E"/>
                </a:solidFill>
              </a:rPr>
              <a:t>Consumption (kWh)</a:t>
            </a:r>
            <a:endParaRPr lang="en-US" sz="1200" dirty="0"/>
          </a:p>
        </p:txBody>
      </p:sp>
      <p:sp>
        <p:nvSpPr>
          <p:cNvPr id="243" name="Shape 243"/>
          <p:cNvSpPr/>
          <p:nvPr/>
        </p:nvSpPr>
        <p:spPr>
          <a:xfrm>
            <a:off x="5384800" y="3175000"/>
            <a:ext cx="609600" cy="254000"/>
          </a:xfrm>
          <a:prstGeom prst="roundRect">
            <a:avLst>
              <a:gd name="adj" fmla="val 20000"/>
            </a:avLst>
          </a:prstGeom>
          <a:solidFill>
            <a:srgbClr val="6B7579"/>
          </a:solidFill>
          <a:ln w="9525">
            <a:solidFill>
              <a:srgbClr val="6B7579"/>
            </a:solidFill>
          </a:ln>
        </p:spPr>
        <p:txBody>
          <a:bodyPr wrap="square" lIns="0" tIns="0" rIns="0" bIns="0" rtlCol="0" anchor="ctr">
            <a:noAutofit/>
          </a:bodyPr>
          <a:lstStyle/>
          <a:p>
            <a:pPr marL="0" indent="0" algn="ctr">
              <a:spcBef>
                <a:spcPts val="0"/>
              </a:spcBef>
              <a:buNone/>
            </a:pPr>
            <a:r>
              <a:rPr lang="en-US" sz="1000" dirty="0">
                <a:solidFill>
                  <a:srgbClr val="FFFFFF"/>
                </a:solidFill>
              </a:rPr>
              <a:t>Day</a:t>
            </a:r>
            <a:endParaRPr lang="en-US" sz="1000" dirty="0"/>
          </a:p>
        </p:txBody>
      </p:sp>
      <p:sp>
        <p:nvSpPr>
          <p:cNvPr id="244" name="Shape 244"/>
          <p:cNvSpPr/>
          <p:nvPr/>
        </p:nvSpPr>
        <p:spPr>
          <a:xfrm>
            <a:off x="6045200" y="3175000"/>
            <a:ext cx="609600"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Week</a:t>
            </a:r>
            <a:endParaRPr lang="en-US" sz="1000" dirty="0"/>
          </a:p>
        </p:txBody>
      </p:sp>
      <p:sp>
        <p:nvSpPr>
          <p:cNvPr id="245" name="Shape 245"/>
          <p:cNvSpPr/>
          <p:nvPr/>
        </p:nvSpPr>
        <p:spPr>
          <a:xfrm>
            <a:off x="6705600" y="3175000"/>
            <a:ext cx="609600"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Month</a:t>
            </a:r>
            <a:endParaRPr lang="en-US" sz="1000" dirty="0"/>
          </a:p>
        </p:txBody>
      </p:sp>
      <p:cxnSp>
        <p:nvCxnSpPr>
          <p:cNvPr id="246" name="Line 246"/>
          <p:cNvCxnSpPr/>
          <p:nvPr/>
        </p:nvCxnSpPr>
        <p:spPr>
          <a:xfrm>
            <a:off x="5435600" y="5842000"/>
            <a:ext cx="3454400" cy="0"/>
          </a:xfrm>
          <a:prstGeom prst="line">
            <a:avLst/>
          </a:prstGeom>
          <a:ln w="9525">
            <a:solidFill>
              <a:srgbClr val="A9B1B3"/>
            </a:solidFill>
          </a:ln>
        </p:spPr>
      </p:cxnSp>
      <p:cxnSp>
        <p:nvCxnSpPr>
          <p:cNvPr id="247" name="Line 247"/>
          <p:cNvCxnSpPr/>
          <p:nvPr/>
        </p:nvCxnSpPr>
        <p:spPr>
          <a:xfrm flipV="1">
            <a:off x="5435600" y="4953000"/>
            <a:ext cx="508000" cy="381000"/>
          </a:xfrm>
          <a:prstGeom prst="line">
            <a:avLst/>
          </a:prstGeom>
          <a:ln w="19050">
            <a:solidFill>
              <a:srgbClr val="6B7579"/>
            </a:solidFill>
          </a:ln>
        </p:spPr>
      </p:cxnSp>
      <p:cxnSp>
        <p:nvCxnSpPr>
          <p:cNvPr id="248" name="Line 248"/>
          <p:cNvCxnSpPr/>
          <p:nvPr/>
        </p:nvCxnSpPr>
        <p:spPr>
          <a:xfrm>
            <a:off x="5943600" y="4953000"/>
            <a:ext cx="508000" cy="127000"/>
          </a:xfrm>
          <a:prstGeom prst="line">
            <a:avLst/>
          </a:prstGeom>
          <a:ln w="19050">
            <a:solidFill>
              <a:srgbClr val="6B7579"/>
            </a:solidFill>
          </a:ln>
        </p:spPr>
      </p:cxnSp>
      <p:cxnSp>
        <p:nvCxnSpPr>
          <p:cNvPr id="249" name="Line 249"/>
          <p:cNvCxnSpPr/>
          <p:nvPr/>
        </p:nvCxnSpPr>
        <p:spPr>
          <a:xfrm flipV="1">
            <a:off x="6451600" y="4445000"/>
            <a:ext cx="508000" cy="635000"/>
          </a:xfrm>
          <a:prstGeom prst="line">
            <a:avLst/>
          </a:prstGeom>
          <a:ln w="19050">
            <a:solidFill>
              <a:srgbClr val="6B7579"/>
            </a:solidFill>
          </a:ln>
        </p:spPr>
      </p:cxnSp>
      <p:cxnSp>
        <p:nvCxnSpPr>
          <p:cNvPr id="250" name="Line 250"/>
          <p:cNvCxnSpPr/>
          <p:nvPr/>
        </p:nvCxnSpPr>
        <p:spPr>
          <a:xfrm flipV="1">
            <a:off x="6959600" y="4191000"/>
            <a:ext cx="508000" cy="254000"/>
          </a:xfrm>
          <a:prstGeom prst="line">
            <a:avLst/>
          </a:prstGeom>
          <a:ln w="19050">
            <a:solidFill>
              <a:srgbClr val="6B7579"/>
            </a:solidFill>
          </a:ln>
        </p:spPr>
      </p:cxnSp>
      <p:cxnSp>
        <p:nvCxnSpPr>
          <p:cNvPr id="251" name="Line 251"/>
          <p:cNvCxnSpPr/>
          <p:nvPr/>
        </p:nvCxnSpPr>
        <p:spPr>
          <a:xfrm>
            <a:off x="7467600" y="4191000"/>
            <a:ext cx="508000" cy="444500"/>
          </a:xfrm>
          <a:prstGeom prst="line">
            <a:avLst/>
          </a:prstGeom>
          <a:ln w="19050">
            <a:solidFill>
              <a:srgbClr val="6B7579"/>
            </a:solidFill>
          </a:ln>
        </p:spPr>
      </p:cxnSp>
      <p:cxnSp>
        <p:nvCxnSpPr>
          <p:cNvPr id="252" name="Line 252"/>
          <p:cNvCxnSpPr/>
          <p:nvPr/>
        </p:nvCxnSpPr>
        <p:spPr>
          <a:xfrm flipV="1">
            <a:off x="7975600" y="4318000"/>
            <a:ext cx="508000" cy="317500"/>
          </a:xfrm>
          <a:prstGeom prst="line">
            <a:avLst/>
          </a:prstGeom>
          <a:ln w="19050">
            <a:solidFill>
              <a:srgbClr val="6B7579"/>
            </a:solidFill>
          </a:ln>
        </p:spPr>
      </p:cxnSp>
      <p:cxnSp>
        <p:nvCxnSpPr>
          <p:cNvPr id="253" name="Line 253"/>
          <p:cNvCxnSpPr/>
          <p:nvPr/>
        </p:nvCxnSpPr>
        <p:spPr>
          <a:xfrm>
            <a:off x="8483600" y="4318000"/>
            <a:ext cx="406400" cy="254000"/>
          </a:xfrm>
          <a:prstGeom prst="line">
            <a:avLst/>
          </a:prstGeom>
          <a:ln w="19050">
            <a:solidFill>
              <a:srgbClr val="6B7579"/>
            </a:solidFill>
          </a:ln>
        </p:spPr>
      </p:cxnSp>
      <p:sp>
        <p:nvSpPr>
          <p:cNvPr id="254" name="Shape 254"/>
          <p:cNvSpPr/>
          <p:nvPr/>
        </p:nvSpPr>
        <p:spPr>
          <a:xfrm>
            <a:off x="9220200" y="2870200"/>
            <a:ext cx="2387600" cy="3225800"/>
          </a:xfrm>
          <a:prstGeom prst="rect">
            <a:avLst/>
          </a:prstGeom>
          <a:solidFill>
            <a:srgbClr val="FFFFFF"/>
          </a:solidFill>
          <a:ln w="9525">
            <a:solidFill>
              <a:srgbClr val="A9B1B3"/>
            </a:solidFill>
          </a:ln>
        </p:spPr>
        <p:txBody>
          <a:bodyPr wrap="square" lIns="50800" tIns="50800" rIns="50800" bIns="50800" rtlCol="0" anchor="t">
            <a:noAutofit/>
          </a:bodyPr>
          <a:lstStyle/>
          <a:p>
            <a:endParaRPr lang="en-US" dirty="0"/>
          </a:p>
        </p:txBody>
      </p:sp>
      <p:sp>
        <p:nvSpPr>
          <p:cNvPr id="255" name="Shape 255"/>
          <p:cNvSpPr txBox="1"/>
          <p:nvPr/>
        </p:nvSpPr>
        <p:spPr>
          <a:xfrm>
            <a:off x="9321800" y="2946400"/>
            <a:ext cx="2184400" cy="203200"/>
          </a:xfrm>
          <a:prstGeom prst="rect">
            <a:avLst/>
          </a:prstGeom>
          <a:noFill/>
          <a:ln>
            <a:noFill/>
          </a:ln>
        </p:spPr>
        <p:txBody>
          <a:bodyPr wrap="square" lIns="0" tIns="0" rIns="0" bIns="0" rtlCol="0" anchor="t">
            <a:noAutofit/>
          </a:bodyPr>
          <a:lstStyle/>
          <a:p>
            <a:pPr marL="0" indent="0" algn="l">
              <a:spcBef>
                <a:spcPts val="0"/>
              </a:spcBef>
              <a:buNone/>
            </a:pPr>
            <a:r>
              <a:rPr lang="en-US" sz="1200" b="1" dirty="0">
                <a:solidFill>
                  <a:srgbClr val="1F2A2E"/>
                </a:solidFill>
              </a:rPr>
              <a:t>Top 3 recommendations</a:t>
            </a:r>
            <a:endParaRPr lang="en-US" sz="1200" dirty="0"/>
          </a:p>
        </p:txBody>
      </p:sp>
      <p:sp>
        <p:nvSpPr>
          <p:cNvPr id="256" name="Shape 256"/>
          <p:cNvSpPr/>
          <p:nvPr/>
        </p:nvSpPr>
        <p:spPr>
          <a:xfrm>
            <a:off x="9347200" y="3225800"/>
            <a:ext cx="2133600" cy="711200"/>
          </a:xfrm>
          <a:prstGeom prst="rect">
            <a:avLst/>
          </a:prstGeom>
          <a:solidFill>
            <a:srgbClr val="FFFFFF"/>
          </a:solidFill>
          <a:ln w="6350">
            <a:solidFill>
              <a:srgbClr val="E0E3E0"/>
            </a:solidFill>
          </a:ln>
        </p:spPr>
        <p:txBody>
          <a:bodyPr wrap="square" lIns="50800" tIns="50800" rIns="50800" bIns="50800" rtlCol="0" anchor="t">
            <a:noAutofit/>
          </a:bodyPr>
          <a:lstStyle/>
          <a:p>
            <a:endParaRPr lang="en-US" dirty="0"/>
          </a:p>
        </p:txBody>
      </p:sp>
      <p:sp>
        <p:nvSpPr>
          <p:cNvPr id="257" name="Shape 257"/>
          <p:cNvSpPr txBox="1"/>
          <p:nvPr/>
        </p:nvSpPr>
        <p:spPr>
          <a:xfrm>
            <a:off x="9448800" y="3302000"/>
            <a:ext cx="1905000" cy="2032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1F2A2E"/>
                </a:solidFill>
              </a:rPr>
              <a:t>Shift HVAC start by 30 min</a:t>
            </a:r>
            <a:endParaRPr lang="en-US" sz="1100" dirty="0"/>
          </a:p>
        </p:txBody>
      </p:sp>
      <p:sp>
        <p:nvSpPr>
          <p:cNvPr id="258" name="Shape 258"/>
          <p:cNvSpPr txBox="1"/>
          <p:nvPr/>
        </p:nvSpPr>
        <p:spPr>
          <a:xfrm>
            <a:off x="9448800" y="3530600"/>
            <a:ext cx="1905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−180 kWh / week · High</a:t>
            </a:r>
            <a:endParaRPr lang="en-US" sz="1000" dirty="0"/>
          </a:p>
        </p:txBody>
      </p:sp>
      <p:sp>
        <p:nvSpPr>
          <p:cNvPr id="259" name="Shape 259"/>
          <p:cNvSpPr txBox="1"/>
          <p:nvPr/>
        </p:nvSpPr>
        <p:spPr>
          <a:xfrm>
            <a:off x="9448800" y="3708400"/>
            <a:ext cx="1905000" cy="2032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AI-generated</a:t>
            </a:r>
            <a:endParaRPr lang="en-US" sz="900" dirty="0"/>
          </a:p>
        </p:txBody>
      </p:sp>
      <p:sp>
        <p:nvSpPr>
          <p:cNvPr id="260" name="Shape 260"/>
          <p:cNvSpPr/>
          <p:nvPr/>
        </p:nvSpPr>
        <p:spPr>
          <a:xfrm>
            <a:off x="9347200" y="4038600"/>
            <a:ext cx="2133600" cy="711200"/>
          </a:xfrm>
          <a:prstGeom prst="rect">
            <a:avLst/>
          </a:prstGeom>
          <a:solidFill>
            <a:srgbClr val="FFFFFF"/>
          </a:solidFill>
          <a:ln w="6350">
            <a:solidFill>
              <a:srgbClr val="E0E3E0"/>
            </a:solidFill>
          </a:ln>
        </p:spPr>
        <p:txBody>
          <a:bodyPr wrap="square" lIns="50800" tIns="50800" rIns="50800" bIns="50800" rtlCol="0" anchor="t">
            <a:noAutofit/>
          </a:bodyPr>
          <a:lstStyle/>
          <a:p>
            <a:endParaRPr lang="en-US" dirty="0"/>
          </a:p>
        </p:txBody>
      </p:sp>
      <p:sp>
        <p:nvSpPr>
          <p:cNvPr id="261" name="Shape 261"/>
          <p:cNvSpPr txBox="1"/>
          <p:nvPr/>
        </p:nvSpPr>
        <p:spPr>
          <a:xfrm>
            <a:off x="9448800" y="4114800"/>
            <a:ext cx="1905000" cy="2032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1F2A2E"/>
                </a:solidFill>
              </a:rPr>
              <a:t>Motion sensors in corridors</a:t>
            </a:r>
            <a:endParaRPr lang="en-US" sz="1100" dirty="0"/>
          </a:p>
        </p:txBody>
      </p:sp>
      <p:sp>
        <p:nvSpPr>
          <p:cNvPr id="262" name="Shape 262"/>
          <p:cNvSpPr txBox="1"/>
          <p:nvPr/>
        </p:nvSpPr>
        <p:spPr>
          <a:xfrm>
            <a:off x="9448800" y="4343400"/>
            <a:ext cx="1905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−65 kWh / week · Medium</a:t>
            </a:r>
            <a:endParaRPr lang="en-US" sz="1000" dirty="0"/>
          </a:p>
        </p:txBody>
      </p:sp>
      <p:sp>
        <p:nvSpPr>
          <p:cNvPr id="263" name="Shape 263"/>
          <p:cNvSpPr txBox="1"/>
          <p:nvPr/>
        </p:nvSpPr>
        <p:spPr>
          <a:xfrm>
            <a:off x="9448800" y="4521200"/>
            <a:ext cx="1905000" cy="2032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AI-generated</a:t>
            </a:r>
            <a:endParaRPr lang="en-US" sz="900" dirty="0"/>
          </a:p>
        </p:txBody>
      </p:sp>
      <p:sp>
        <p:nvSpPr>
          <p:cNvPr id="264" name="Shape 264"/>
          <p:cNvSpPr/>
          <p:nvPr/>
        </p:nvSpPr>
        <p:spPr>
          <a:xfrm>
            <a:off x="9347200" y="4851400"/>
            <a:ext cx="2133600" cy="711200"/>
          </a:xfrm>
          <a:prstGeom prst="rect">
            <a:avLst/>
          </a:prstGeom>
          <a:solidFill>
            <a:srgbClr val="FFFFFF"/>
          </a:solidFill>
          <a:ln w="6350">
            <a:solidFill>
              <a:srgbClr val="E0E3E0"/>
            </a:solidFill>
          </a:ln>
        </p:spPr>
        <p:txBody>
          <a:bodyPr wrap="square" lIns="50800" tIns="50800" rIns="50800" bIns="50800" rtlCol="0" anchor="t">
            <a:noAutofit/>
          </a:bodyPr>
          <a:lstStyle/>
          <a:p>
            <a:endParaRPr lang="en-US" dirty="0"/>
          </a:p>
        </p:txBody>
      </p:sp>
      <p:sp>
        <p:nvSpPr>
          <p:cNvPr id="265" name="Shape 265"/>
          <p:cNvSpPr txBox="1"/>
          <p:nvPr/>
        </p:nvSpPr>
        <p:spPr>
          <a:xfrm>
            <a:off x="9448800" y="4927600"/>
            <a:ext cx="1905000" cy="203200"/>
          </a:xfrm>
          <a:prstGeom prst="rect">
            <a:avLst/>
          </a:prstGeom>
          <a:noFill/>
          <a:ln>
            <a:noFill/>
          </a:ln>
        </p:spPr>
        <p:txBody>
          <a:bodyPr wrap="square" lIns="0" tIns="0" rIns="0" bIns="0" rtlCol="0" anchor="t">
            <a:noAutofit/>
          </a:bodyPr>
          <a:lstStyle/>
          <a:p>
            <a:pPr marL="0" indent="0" algn="l">
              <a:spcBef>
                <a:spcPts val="0"/>
              </a:spcBef>
              <a:buNone/>
            </a:pPr>
            <a:r>
              <a:rPr lang="en-US" sz="1100" b="1" dirty="0">
                <a:solidFill>
                  <a:srgbClr val="1F2A2E"/>
                </a:solidFill>
              </a:rPr>
              <a:t>Lab plugs off after 20:00</a:t>
            </a:r>
            <a:endParaRPr lang="en-US" sz="1100" dirty="0"/>
          </a:p>
        </p:txBody>
      </p:sp>
      <p:sp>
        <p:nvSpPr>
          <p:cNvPr id="266" name="Shape 266"/>
          <p:cNvSpPr txBox="1"/>
          <p:nvPr/>
        </p:nvSpPr>
        <p:spPr>
          <a:xfrm>
            <a:off x="9448800" y="5156200"/>
            <a:ext cx="1905000" cy="203200"/>
          </a:xfrm>
          <a:prstGeom prst="rect">
            <a:avLst/>
          </a:prstGeom>
          <a:noFill/>
          <a:ln>
            <a:noFill/>
          </a:ln>
        </p:spPr>
        <p:txBody>
          <a:bodyPr wrap="square" lIns="0" tIns="0" rIns="0" bIns="0" rtlCol="0" anchor="t">
            <a:noAutofit/>
          </a:bodyPr>
          <a:lstStyle/>
          <a:p>
            <a:pPr marL="0" indent="0" algn="l">
              <a:spcBef>
                <a:spcPts val="0"/>
              </a:spcBef>
              <a:buNone/>
            </a:pPr>
            <a:r>
              <a:rPr lang="en-US" sz="1000" dirty="0">
                <a:solidFill>
                  <a:srgbClr val="6B7579"/>
                </a:solidFill>
              </a:rPr>
              <a:t>−40 kWh / week · Low</a:t>
            </a:r>
            <a:endParaRPr lang="en-US" sz="1000" dirty="0"/>
          </a:p>
        </p:txBody>
      </p:sp>
      <p:sp>
        <p:nvSpPr>
          <p:cNvPr id="267" name="Shape 267"/>
          <p:cNvSpPr txBox="1"/>
          <p:nvPr/>
        </p:nvSpPr>
        <p:spPr>
          <a:xfrm>
            <a:off x="9448800" y="5334000"/>
            <a:ext cx="1905000" cy="203200"/>
          </a:xfrm>
          <a:prstGeom prst="rect">
            <a:avLst/>
          </a:prstGeom>
          <a:noFill/>
          <a:ln>
            <a:noFill/>
          </a:ln>
        </p:spPr>
        <p:txBody>
          <a:bodyPr wrap="square" lIns="0" tIns="0" rIns="0" bIns="0" rtlCol="0" anchor="t">
            <a:noAutofit/>
          </a:bodyPr>
          <a:lstStyle/>
          <a:p>
            <a:pPr marL="0" indent="0" algn="l">
              <a:spcBef>
                <a:spcPts val="0"/>
              </a:spcBef>
              <a:buNone/>
            </a:pPr>
            <a:r>
              <a:rPr lang="en-US" sz="900" dirty="0">
                <a:solidFill>
                  <a:srgbClr val="6B7579"/>
                </a:solidFill>
              </a:rPr>
              <a:t>AI-generated</a:t>
            </a:r>
            <a:endParaRPr lang="en-US" sz="900" dirty="0"/>
          </a:p>
        </p:txBody>
      </p:sp>
      <p:sp>
        <p:nvSpPr>
          <p:cNvPr id="268" name="Shape 268"/>
          <p:cNvSpPr/>
          <p:nvPr/>
        </p:nvSpPr>
        <p:spPr>
          <a:xfrm>
            <a:off x="9347200" y="5740400"/>
            <a:ext cx="1524000" cy="254000"/>
          </a:xfrm>
          <a:prstGeom prst="roundRect">
            <a:avLst>
              <a:gd name="adj" fmla="val 20000"/>
            </a:avLst>
          </a:prstGeom>
          <a:solidFill>
            <a:srgbClr val="FFFFFF"/>
          </a:solidFill>
          <a:ln w="9525">
            <a:solidFill>
              <a:srgbClr val="A9B1B3"/>
            </a:solidFill>
          </a:ln>
        </p:spPr>
        <p:txBody>
          <a:bodyPr wrap="square" lIns="0" tIns="0" rIns="0" bIns="0" rtlCol="0" anchor="ctr">
            <a:noAutofit/>
          </a:bodyPr>
          <a:lstStyle/>
          <a:p>
            <a:pPr marL="0" indent="0" algn="ctr">
              <a:spcBef>
                <a:spcPts val="0"/>
              </a:spcBef>
              <a:buNone/>
            </a:pPr>
            <a:r>
              <a:rPr lang="en-US" sz="1000" dirty="0">
                <a:solidFill>
                  <a:srgbClr val="1F2A2E"/>
                </a:solidFill>
              </a:rPr>
              <a:t>View all</a:t>
            </a:r>
            <a:endParaRPr lang="en-US" sz="1000" dirty="0"/>
          </a:p>
        </p:txBody>
      </p:sp>
      <p:sp>
        <p:nvSpPr>
          <p:cNvPr id="269" name="Shape 269"/>
          <p:cNvSpPr txBox="1"/>
          <p:nvPr/>
        </p:nvSpPr>
        <p:spPr>
          <a:xfrm>
            <a:off x="457200" y="6438900"/>
            <a:ext cx="112776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Low-fidelity wireframe, not yet implemented. Layout and labels only; final styling follows the deck palette.</a:t>
            </a:r>
            <a:endParaRPr lang="en-US" sz="1100" dirty="0"/>
          </a:p>
        </p:txBody>
      </p:sp>
    </p:spTree>
    <p:extLst>
      <p:ext uri="{BB962C8B-B14F-4D97-AF65-F5344CB8AC3E}">
        <p14:creationId xmlns:p14="http://schemas.microsoft.com/office/powerpoint/2010/main" val="1080762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00D10-A9BE-F464-90BE-0F4556954D7D}"/>
              </a:ext>
            </a:extLst>
          </p:cNvPr>
          <p:cNvSpPr>
            <a:spLocks noGrp="1"/>
          </p:cNvSpPr>
          <p:nvPr>
            <p:ph type="title"/>
          </p:nvPr>
        </p:nvSpPr>
        <p:spPr/>
        <p:txBody>
          <a:bodyPr/>
          <a:lstStyle/>
          <a:p>
            <a:pPr algn="l"/>
            <a:r>
              <a:rPr lang="en-US" sz="3200" b="1" dirty="0"/>
              <a:t>A9 · API endpoints</a:t>
            </a:r>
          </a:p>
        </p:txBody>
      </p:sp>
      <p:graphicFrame>
        <p:nvGraphicFramePr>
          <p:cNvPr id="201" name="Table 201"/>
          <p:cNvGraphicFramePr>
            <a:graphicFrameLocks noGrp="1"/>
          </p:cNvGraphicFramePr>
          <p:nvPr/>
        </p:nvGraphicFramePr>
        <p:xfrm>
          <a:off x="457200" y="1219200"/>
          <a:ext cx="11277600" cy="4965700"/>
        </p:xfrm>
        <a:graphic>
          <a:graphicData uri="http://schemas.openxmlformats.org/drawingml/2006/table">
            <a:tbl>
              <a:tblPr firstRow="1"/>
              <a:tblGrid>
                <a:gridCol w="1143000">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gridCol w="5054600">
                  <a:extLst>
                    <a:ext uri="{9D8B030D-6E8A-4147-A177-3AD203B41FA5}">
                      <a16:colId xmlns:a16="http://schemas.microsoft.com/office/drawing/2014/main" val="20003"/>
                    </a:ext>
                  </a:extLst>
                </a:gridCol>
              </a:tblGrid>
              <a:tr h="279400">
                <a:tc>
                  <a:txBody>
                    <a:bodyPr/>
                    <a:lstStyle/>
                    <a:p>
                      <a:pPr marL="0" indent="0" algn="l">
                        <a:spcBef>
                          <a:spcPts val="0"/>
                        </a:spcBef>
                        <a:buNone/>
                      </a:pPr>
                      <a:r>
                        <a:rPr lang="en-US" sz="1200" b="1" dirty="0">
                          <a:solidFill>
                            <a:srgbClr val="1F2A2E"/>
                          </a:solidFill>
                        </a:rPr>
                        <a:t>Subsystem</a:t>
                      </a:r>
                      <a:endParaRPr lang="en-US" sz="1200" dirty="0"/>
                    </a:p>
                  </a:txBody>
                  <a:tcPr marL="63500" marR="63500" marT="25400" marB="25400" anchor="ctr">
                    <a:lnL w="0">
                      <a:noFill/>
                    </a:lnL>
                    <a:lnR w="0">
                      <a:noFill/>
                    </a:lnR>
                    <a:lnT w="0">
                      <a:noFill/>
                    </a:lnT>
                    <a:lnB w="15875">
                      <a:solidFill>
                        <a:srgbClr val="6B7579"/>
                      </a:solidFill>
                    </a:lnB>
                    <a:noFill/>
                  </a:tcPr>
                </a:tc>
                <a:tc>
                  <a:txBody>
                    <a:bodyPr/>
                    <a:lstStyle/>
                    <a:p>
                      <a:pPr marL="0" indent="0" algn="l">
                        <a:spcBef>
                          <a:spcPts val="0"/>
                        </a:spcBef>
                        <a:buNone/>
                      </a:pPr>
                      <a:r>
                        <a:rPr lang="en-US" sz="1200" b="1" dirty="0">
                          <a:solidFill>
                            <a:srgbClr val="1F2A2E"/>
                          </a:solidFill>
                        </a:rPr>
                        <a:t>Method</a:t>
                      </a:r>
                      <a:endParaRPr lang="en-US" sz="1200" dirty="0"/>
                    </a:p>
                  </a:txBody>
                  <a:tcPr marL="63500" marR="63500" marT="25400" marB="25400" anchor="ctr">
                    <a:lnL w="0">
                      <a:noFill/>
                    </a:lnL>
                    <a:lnR w="0">
                      <a:noFill/>
                    </a:lnR>
                    <a:lnT w="0">
                      <a:noFill/>
                    </a:lnT>
                    <a:lnB w="15875">
                      <a:solidFill>
                        <a:srgbClr val="6B7579"/>
                      </a:solidFill>
                    </a:lnB>
                    <a:noFill/>
                  </a:tcPr>
                </a:tc>
                <a:tc>
                  <a:txBody>
                    <a:bodyPr/>
                    <a:lstStyle/>
                    <a:p>
                      <a:pPr marL="0" indent="0" algn="l">
                        <a:spcBef>
                          <a:spcPts val="0"/>
                        </a:spcBef>
                        <a:buNone/>
                      </a:pPr>
                      <a:r>
                        <a:rPr lang="en-US" sz="1200" b="1" dirty="0">
                          <a:solidFill>
                            <a:srgbClr val="1F2A2E"/>
                          </a:solidFill>
                        </a:rPr>
                        <a:t>Path</a:t>
                      </a:r>
                      <a:endParaRPr lang="en-US" sz="1200" dirty="0"/>
                    </a:p>
                  </a:txBody>
                  <a:tcPr marL="63500" marR="63500" marT="25400" marB="25400" anchor="ctr">
                    <a:lnL w="0">
                      <a:noFill/>
                    </a:lnL>
                    <a:lnR w="0">
                      <a:noFill/>
                    </a:lnR>
                    <a:lnT w="0">
                      <a:noFill/>
                    </a:lnT>
                    <a:lnB w="15875">
                      <a:solidFill>
                        <a:srgbClr val="6B7579"/>
                      </a:solidFill>
                    </a:lnB>
                    <a:noFill/>
                  </a:tcPr>
                </a:tc>
                <a:tc>
                  <a:txBody>
                    <a:bodyPr/>
                    <a:lstStyle/>
                    <a:p>
                      <a:pPr marL="0" indent="0" algn="l">
                        <a:spcBef>
                          <a:spcPts val="0"/>
                        </a:spcBef>
                        <a:buNone/>
                      </a:pPr>
                      <a:r>
                        <a:rPr lang="en-US" sz="1200" b="1" dirty="0">
                          <a:solidFill>
                            <a:srgbClr val="1F2A2E"/>
                          </a:solidFill>
                        </a:rPr>
                        <a:t>Purpose</a:t>
                      </a:r>
                      <a:endParaRPr lang="en-US" sz="1200" dirty="0"/>
                    </a:p>
                  </a:txBody>
                  <a:tcPr marL="63500" marR="63500" marT="25400" marB="25400" anchor="ctr">
                    <a:lnL w="0">
                      <a:noFill/>
                    </a:lnL>
                    <a:lnR w="0">
                      <a:noFill/>
                    </a:lnR>
                    <a:lnT w="0">
                      <a:noFill/>
                    </a:lnT>
                    <a:lnB w="15875">
                      <a:solidFill>
                        <a:srgbClr val="6B7579"/>
                      </a:solidFill>
                    </a:lnB>
                    <a:noFill/>
                  </a:tcPr>
                </a:tc>
                <a:extLst>
                  <a:ext uri="{0D108BD9-81ED-4DB2-BD59-A6C34878D82A}">
                    <a16:rowId xmlns:a16="http://schemas.microsoft.com/office/drawing/2014/main" val="10000"/>
                  </a:ext>
                </a:extLst>
              </a:tr>
              <a:tr h="260350">
                <a:tc>
                  <a:txBody>
                    <a:bodyPr/>
                    <a:lstStyle/>
                    <a:p>
                      <a:pPr marL="0" indent="0" algn="l">
                        <a:spcBef>
                          <a:spcPts val="0"/>
                        </a:spcBef>
                        <a:buNone/>
                      </a:pPr>
                      <a:r>
                        <a:rPr lang="en-US" sz="1200" b="1" dirty="0">
                          <a:solidFill>
                            <a:srgbClr val="2E6F95"/>
                          </a:solidFill>
                        </a:rPr>
                        <a:t>S1</a:t>
                      </a:r>
                      <a:endParaRPr lang="en-US" sz="1200" dirty="0"/>
                    </a:p>
                  </a:txBody>
                  <a:tcPr marL="63500" marR="63500" marT="25400" marB="254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GET</a:t>
                      </a:r>
                      <a:endParaRPr lang="en-US" sz="1100" dirty="0"/>
                    </a:p>
                  </a:txBody>
                  <a:tcPr marL="63500" marR="63500" marT="25400" marB="254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/api/buildings/</a:t>
                      </a:r>
                      <a:endParaRPr lang="en-US" sz="1100" dirty="0"/>
                    </a:p>
                  </a:txBody>
                  <a:tcPr marL="63500" marR="63500" marT="25400" marB="254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List the user's buildings</a:t>
                      </a:r>
                      <a:endParaRPr lang="en-US" sz="1200" dirty="0"/>
                    </a:p>
                  </a:txBody>
                  <a:tcPr marL="63500" marR="63500" marT="25400" marB="25400" anchor="ctr">
                    <a:lnL w="0">
                      <a:noFill/>
                    </a:lnL>
                    <a:lnR w="0">
                      <a:noFill/>
                    </a:lnR>
                    <a:lnT w="15875" cap="flat" cmpd="sng" algn="ctr">
                      <a:solidFill>
                        <a:srgbClr val="6B7579"/>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1"/>
                  </a:ext>
                </a:extLst>
              </a:tr>
              <a:tr h="260350">
                <a:tc>
                  <a:txBody>
                    <a:bodyPr/>
                    <a:lstStyle/>
                    <a:p>
                      <a:pPr marL="0" indent="0" algn="l">
                        <a:spcBef>
                          <a:spcPts val="0"/>
                        </a:spcBef>
                        <a:buNone/>
                      </a:pP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POST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/api/buildings/</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Create a building</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2"/>
                  </a:ext>
                </a:extLst>
              </a:tr>
              <a:tr h="260350">
                <a:tc>
                  <a:txBody>
                    <a:bodyPr/>
                    <a:lstStyle/>
                    <a:p>
                      <a:pPr marL="0" indent="0" algn="l">
                        <a:spcBef>
                          <a:spcPts val="0"/>
                        </a:spcBef>
                        <a:buNone/>
                      </a:pP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GET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/api/buildings/{id}/meters/</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List meters of a building</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3"/>
                  </a:ext>
                </a:extLst>
              </a:tr>
              <a:tr h="260350">
                <a:tc>
                  <a:txBody>
                    <a:bodyPr/>
                    <a:lstStyle/>
                    <a:p>
                      <a:pPr marL="0" indent="0" algn="l">
                        <a:spcBef>
                          <a:spcPts val="0"/>
                        </a:spcBef>
                        <a:buNone/>
                      </a:pP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POST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/api/readings/bulk/</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Upload a batch of readings</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4"/>
                  </a:ext>
                </a:extLst>
              </a:tr>
              <a:tr h="260350">
                <a:tc>
                  <a:txBody>
                    <a:bodyPr/>
                    <a:lstStyle/>
                    <a:p>
                      <a:pPr marL="0" indent="0" algn="l">
                        <a:spcBef>
                          <a:spcPts val="0"/>
                        </a:spcBef>
                        <a:buNone/>
                      </a:pP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GET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/api/readings/?building=&amp;from=&amp;to=</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Query readings by building and time range</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5"/>
                  </a:ext>
                </a:extLst>
              </a:tr>
              <a:tr h="260350">
                <a:tc>
                  <a:txBody>
                    <a:bodyPr/>
                    <a:lstStyle/>
                    <a:p>
                      <a:pPr marL="0" indent="0" algn="l">
                        <a:spcBef>
                          <a:spcPts val="0"/>
                        </a:spcBef>
                        <a:buNone/>
                      </a:pP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POST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/api/telemetry/start/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Start the telemetry generator</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6"/>
                  </a:ext>
                </a:extLst>
              </a:tr>
              <a:tr h="260350">
                <a:tc>
                  <a:txBody>
                    <a:bodyPr/>
                    <a:lstStyle/>
                    <a:p>
                      <a:pPr marL="0" indent="0" algn="l">
                        <a:spcBef>
                          <a:spcPts val="0"/>
                        </a:spcBef>
                        <a:buNone/>
                      </a:pP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POST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/api/telemetry/stop/</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Stop the telemetry generator</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7"/>
                  </a:ext>
                </a:extLst>
              </a:tr>
              <a:tr h="260350">
                <a:tc>
                  <a:txBody>
                    <a:bodyPr/>
                    <a:lstStyle/>
                    <a:p>
                      <a:pPr marL="0" indent="0" algn="l">
                        <a:spcBef>
                          <a:spcPts val="0"/>
                        </a:spcBef>
                        <a:buNone/>
                      </a:pPr>
                      <a:r>
                        <a:rPr lang="en-US" sz="1200" b="1" dirty="0">
                          <a:solidFill>
                            <a:srgbClr val="0F7B6C"/>
                          </a:solidFill>
                        </a:rPr>
                        <a:t>S2</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POST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/api/analysis/run/</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Run an analysis on demand</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8"/>
                  </a:ext>
                </a:extLst>
              </a:tr>
              <a:tr h="260350">
                <a:tc>
                  <a:txBody>
                    <a:bodyPr/>
                    <a:lstStyle/>
                    <a:p>
                      <a:pPr marL="0" indent="0" algn="l">
                        <a:spcBef>
                          <a:spcPts val="0"/>
                        </a:spcBef>
                        <a:buNone/>
                      </a:pP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GET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/api/buildings/{id}/analysis/latest/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Latest AnalysisResult for a building</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09"/>
                  </a:ext>
                </a:extLst>
              </a:tr>
              <a:tr h="260350">
                <a:tc>
                  <a:txBody>
                    <a:bodyPr/>
                    <a:lstStyle/>
                    <a:p>
                      <a:pPr marL="0" indent="0" algn="l">
                        <a:spcBef>
                          <a:spcPts val="0"/>
                        </a:spcBef>
                        <a:buNone/>
                      </a:pP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GET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/api/analysis/{id}/anomalies/</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Anomalies found in one run</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10"/>
                  </a:ext>
                </a:extLst>
              </a:tr>
              <a:tr h="260350">
                <a:tc>
                  <a:txBody>
                    <a:bodyPr/>
                    <a:lstStyle/>
                    <a:p>
                      <a:pPr marL="0" indent="0" algn="l">
                        <a:spcBef>
                          <a:spcPts val="0"/>
                        </a:spcBef>
                        <a:buNone/>
                      </a:pPr>
                      <a:r>
                        <a:rPr lang="en-US" sz="1200" b="1" dirty="0">
                          <a:solidFill>
                            <a:srgbClr val="7A5BA6"/>
                          </a:solidFill>
                        </a:rPr>
                        <a:t>S3</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POST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/api/recommendations/generate/</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Generate 3–5 recommendations</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11"/>
                  </a:ext>
                </a:extLst>
              </a:tr>
              <a:tr h="260350">
                <a:tc>
                  <a:txBody>
                    <a:bodyPr/>
                    <a:lstStyle/>
                    <a:p>
                      <a:pPr marL="0" indent="0" algn="l">
                        <a:spcBef>
                          <a:spcPts val="0"/>
                        </a:spcBef>
                        <a:buNone/>
                      </a:pP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GET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/api/buildings/{id}/recommendations/</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List recommendations (status, priority filters)</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12"/>
                  </a:ext>
                </a:extLst>
              </a:tr>
              <a:tr h="260350">
                <a:tc>
                  <a:txBody>
                    <a:bodyPr/>
                    <a:lstStyle/>
                    <a:p>
                      <a:pPr marL="0" indent="0" algn="l">
                        <a:spcBef>
                          <a:spcPts val="0"/>
                        </a:spcBef>
                        <a:buNone/>
                      </a:pP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PATCH</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/api/recommendations/{id}/</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Accept, dismiss or mark implemented</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13"/>
                  </a:ext>
                </a:extLst>
              </a:tr>
              <a:tr h="260350">
                <a:tc>
                  <a:txBody>
                    <a:bodyPr/>
                    <a:lstStyle/>
                    <a:p>
                      <a:pPr marL="0" indent="0" algn="l">
                        <a:spcBef>
                          <a:spcPts val="0"/>
                        </a:spcBef>
                        <a:buNone/>
                      </a:pP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POST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/api/recommendations/{id}/feedback/</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Submit a 1–5 rating and comment</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14"/>
                  </a:ext>
                </a:extLst>
              </a:tr>
              <a:tr h="260350">
                <a:tc>
                  <a:txBody>
                    <a:bodyPr/>
                    <a:lstStyle/>
                    <a:p>
                      <a:pPr marL="0" indent="0" algn="l">
                        <a:spcBef>
                          <a:spcPts val="0"/>
                        </a:spcBef>
                        <a:buNone/>
                      </a:pPr>
                      <a:r>
                        <a:rPr lang="en-US" sz="1200" b="1" dirty="0">
                          <a:solidFill>
                            <a:srgbClr val="C9822B"/>
                          </a:solidFill>
                        </a:rPr>
                        <a:t>S4</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POST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/api/auth/login/</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Log in and receive a token</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15"/>
                  </a:ext>
                </a:extLst>
              </a:tr>
              <a:tr h="260350">
                <a:tc>
                  <a:txBody>
                    <a:bodyPr/>
                    <a:lstStyle/>
                    <a:p>
                      <a:pPr marL="0" indent="0" algn="l">
                        <a:spcBef>
                          <a:spcPts val="0"/>
                        </a:spcBef>
                        <a:buNone/>
                      </a:pP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GET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/api/me/</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Current user profile</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16"/>
                  </a:ext>
                </a:extLst>
              </a:tr>
              <a:tr h="260350">
                <a:tc>
                  <a:txBody>
                    <a:bodyPr/>
                    <a:lstStyle/>
                    <a:p>
                      <a:pPr marL="0" indent="0" algn="l">
                        <a:spcBef>
                          <a:spcPts val="0"/>
                        </a:spcBef>
                        <a:buNone/>
                      </a:pP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PATCH</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/api/me/preferences/</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Update units, theme, building, threshold</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17"/>
                  </a:ext>
                </a:extLst>
              </a:tr>
              <a:tr h="260350">
                <a:tc>
                  <a:txBody>
                    <a:bodyPr/>
                    <a:lstStyle/>
                    <a:p>
                      <a:pPr marL="0" indent="0" algn="l">
                        <a:spcBef>
                          <a:spcPts val="0"/>
                        </a:spcBef>
                        <a:buNone/>
                      </a:pP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b="1" dirty="0">
                          <a:solidFill>
                            <a:srgbClr val="6B7579"/>
                          </a:solidFill>
                        </a:rPr>
                        <a:t>GET</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100" dirty="0">
                          <a:solidFill>
                            <a:srgbClr val="1F2A2E"/>
                          </a:solidFill>
                          <a:latin typeface="Consolas"/>
                        </a:rPr>
                        <a:t>/api/notifications/</a:t>
                      </a:r>
                      <a:endParaRPr lang="en-US" sz="11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tc>
                  <a:txBody>
                    <a:bodyPr/>
                    <a:lstStyle/>
                    <a:p>
                      <a:pPr marL="0" indent="0" algn="l">
                        <a:spcBef>
                          <a:spcPts val="0"/>
                        </a:spcBef>
                        <a:buNone/>
                      </a:pPr>
                      <a:r>
                        <a:rPr lang="en-US" sz="1200" dirty="0">
                          <a:solidFill>
                            <a:srgbClr val="1F2A2E"/>
                          </a:solidFill>
                        </a:rPr>
                        <a:t>List anomaly and threshold notifications</a:t>
                      </a:r>
                      <a:endParaRPr lang="en-US" sz="1200" dirty="0"/>
                    </a:p>
                  </a:txBody>
                  <a:tcPr marL="63500" marR="63500" marT="25400" marB="25400" anchor="ctr">
                    <a:lnL w="0">
                      <a:noFill/>
                    </a:lnL>
                    <a:lnR w="0">
                      <a:noFill/>
                    </a:lnR>
                    <a:lnT w="9525" cap="flat" cmpd="sng" algn="ctr">
                      <a:solidFill>
                        <a:srgbClr val="E0E3E0"/>
                      </a:solidFill>
                      <a:prstDash val="solid"/>
                      <a:round/>
                      <a:headEnd type="none" w="med" len="med"/>
                      <a:tailEnd type="none" w="med" len="med"/>
                    </a:lnT>
                    <a:lnB w="9525">
                      <a:solidFill>
                        <a:srgbClr val="E0E3E0"/>
                      </a:solidFill>
                    </a:lnB>
                    <a:noFill/>
                  </a:tcPr>
                </a:tc>
                <a:extLst>
                  <a:ext uri="{0D108BD9-81ED-4DB2-BD59-A6C34878D82A}">
                    <a16:rowId xmlns:a16="http://schemas.microsoft.com/office/drawing/2014/main" val="10018"/>
                  </a:ext>
                </a:extLst>
              </a:tr>
            </a:tbl>
          </a:graphicData>
        </a:graphic>
      </p:graphicFrame>
      <p:sp>
        <p:nvSpPr>
          <p:cNvPr id="202" name="Shape 202"/>
          <p:cNvSpPr txBox="1"/>
          <p:nvPr/>
        </p:nvSpPr>
        <p:spPr>
          <a:xfrm>
            <a:off x="457200" y="6350000"/>
            <a:ext cx="11277600" cy="203200"/>
          </a:xfrm>
          <a:prstGeom prst="rect">
            <a:avLst/>
          </a:prstGeom>
          <a:noFill/>
          <a:ln>
            <a:noFill/>
          </a:ln>
        </p:spPr>
        <p:txBody>
          <a:bodyPr wrap="square" lIns="0" tIns="0" rIns="0" bIns="0" rtlCol="0" anchor="t">
            <a:noAutofit/>
          </a:bodyPr>
          <a:lstStyle/>
          <a:p>
            <a:pPr marL="0" indent="0" algn="l">
              <a:spcBef>
                <a:spcPts val="0"/>
              </a:spcBef>
              <a:buNone/>
            </a:pPr>
            <a:r>
              <a:rPr lang="en-US" sz="1100" dirty="0">
                <a:solidFill>
                  <a:srgbClr val="6B7579"/>
                </a:solidFill>
              </a:rPr>
              <a:t>All endpoints require a token except /api/auth/login/; responses are JSON and documented in OpenAPI.</a:t>
            </a:r>
            <a:endParaRPr lang="en-US" sz="1100" dirty="0"/>
          </a:p>
        </p:txBody>
      </p:sp>
    </p:spTree>
    <p:extLst>
      <p:ext uri="{BB962C8B-B14F-4D97-AF65-F5344CB8AC3E}">
        <p14:creationId xmlns:p14="http://schemas.microsoft.com/office/powerpoint/2010/main" val="669419068"/>
      </p:ext>
    </p:extLst>
  </p:cSld>
  <p:clrMapOvr>
    <a:masterClrMapping/>
  </p:clrMapOvr>
</p:sld>
</file>

<file path=ppt/theme/theme1.xml><?xml version="1.0" encoding="utf-8"?>
<a:theme xmlns:a="http://schemas.openxmlformats.org/drawingml/2006/main" name="Office Theme [1791806291931]">
  <a:themeElements>
    <a:clrScheme name="SmartEnergy">
      <a:dk1>
        <a:srgbClr val="1F2A2E"/>
      </a:dk1>
      <a:lt1>
        <a:srgbClr val="F7F8F5"/>
      </a:lt1>
      <a:dk2>
        <a:srgbClr val="6B7579"/>
      </a:dk2>
      <a:lt2>
        <a:srgbClr val="E0E3E0"/>
      </a:lt2>
      <a:accent1>
        <a:srgbClr val="2E6F95"/>
      </a:accent1>
      <a:accent2>
        <a:srgbClr val="0F7B6C"/>
      </a:accent2>
      <a:accent3>
        <a:srgbClr val="7A5BA6"/>
      </a:accent3>
      <a:accent4>
        <a:srgbClr val="C9822B"/>
      </a:accent4>
      <a:accent5>
        <a:srgbClr val="6B7579"/>
      </a:accent5>
      <a:accent6>
        <a:srgbClr val="A9B1B3"/>
      </a:accent6>
      <a:hlink>
        <a:srgbClr val="2E6F95"/>
      </a:hlink>
      <a:folHlink>
        <a:srgbClr val="7A5BA6"/>
      </a:folHlink>
    </a:clrScheme>
    <a:fontScheme name="Office">
      <a:majorFont>
        <a:latin typeface="Segoe UI Semibold"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3F5ED62-1A80-47F5-99B5-8671BE1E3170}">
  <we:reference id="wa200010725" version="1.0.0.1" store="en-US" storeType="OMEX"/>
  <we:alternateReferences>
    <we:reference id="WA200010725" version="1.0.0.1" store="WA200010725" storeType="OMEX"/>
  </we:alternateReferences>
  <we:properties>
    <we:property name="claude.fileId" value="&quot;f0cb531f-6f67-41b5-b730-c2fa68cd481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D37B13679B2344EA0CAA07557735840" ma:contentTypeVersion="5" ma:contentTypeDescription="Create a new document." ma:contentTypeScope="" ma:versionID="28b346ee6a9afbda700e00780b88c0f1">
  <xsd:schema xmlns:xsd="http://www.w3.org/2001/XMLSchema" xmlns:xs="http://www.w3.org/2001/XMLSchema" xmlns:p="http://schemas.microsoft.com/office/2006/metadata/properties" xmlns:ns3="880d3a3f-733c-45c8-82e1-e33087a086a2" targetNamespace="http://schemas.microsoft.com/office/2006/metadata/properties" ma:root="true" ma:fieldsID="7ce18f7961655f8fa0d173c00c810f19" ns3:_="">
    <xsd:import namespace="880d3a3f-733c-45c8-82e1-e33087a086a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0d3a3f-733c-45c8-82e1-e33087a086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DF6319-D18D-4F38-902F-322838208AC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DC564C8-A8F4-46C6-B675-25F10CB70B56}">
  <ds:schemaRefs>
    <ds:schemaRef ds:uri="http://schemas.microsoft.com/sharepoint/v3/contenttype/forms"/>
  </ds:schemaRefs>
</ds:datastoreItem>
</file>

<file path=customXml/itemProps3.xml><?xml version="1.0" encoding="utf-8"?>
<ds:datastoreItem xmlns:ds="http://schemas.openxmlformats.org/officeDocument/2006/customXml" ds:itemID="{DC2A2CF9-918D-455A-81A1-82AFB802591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0d3a3f-733c-45c8-82e1-e33087a086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58</TotalTime>
  <Words>4292</Words>
  <Application>Microsoft Office PowerPoint</Application>
  <PresentationFormat>Widescreen</PresentationFormat>
  <Paragraphs>749</Paragraphs>
  <Slides>17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Consolas</vt:lpstr>
      <vt:lpstr>Segoe UI</vt:lpstr>
      <vt:lpstr>Segoe UI Semibold</vt:lpstr>
      <vt:lpstr>Office Theme [1791806291931]</vt:lpstr>
      <vt:lpstr>AI-Powered Smart Energy Management System</vt:lpstr>
      <vt:lpstr>Four subsystems turn building telemetry into AI saving tips</vt:lpstr>
      <vt:lpstr>S1 records one validated reading per meter per minute</vt:lpstr>
      <vt:lpstr>S2 converts raw kWh into peak, cost, CO2 and anomalies</vt:lpstr>
      <vt:lpstr>S3 turns each analysis into 3–5 checked AI saving tips</vt:lpstr>
      <vt:lpstr>S4 shows live kW, kWh, CO2 and top tips on one dashboard</vt:lpstr>
      <vt:lpstr>Each subsystem owns its data and exchanges it only through REST</vt:lpstr>
      <vt:lpstr>Appendix</vt:lpstr>
      <vt:lpstr>A1 · S1 Energy Monitoring requirements</vt:lpstr>
      <vt:lpstr>A2 · S2 Energy Analysis requirements</vt:lpstr>
      <vt:lpstr>A3 · S3 AI Sustainability Coach requirements</vt:lpstr>
      <vt:lpstr>A4 · S4 Web Dashboard requirements</vt:lpstr>
      <vt:lpstr>A5 · S1 Buildings &amp; Meters wireframe</vt:lpstr>
      <vt:lpstr>A6 · S2 Analytics wireframe</vt:lpstr>
      <vt:lpstr>A7 · S3 Recommendations wireframe</vt:lpstr>
      <vt:lpstr>A8 · S4 Login and Dashboard home wireframe</vt:lpstr>
      <vt:lpstr>A9 · API endpoints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Marwan Ahmed</dc:creator>
  <cp:lastModifiedBy>Marwan Ahmed</cp:lastModifiedBy>
  <cp:revision>5</cp:revision>
  <dcterms:created xsi:type="dcterms:W3CDTF">2026-10-12T11:57:38Z</dcterms:created>
  <dcterms:modified xsi:type="dcterms:W3CDTF">2026-10-12T13:02:11Z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0x010100BD37B13679B2344EA0CAA07557735840</vt:lpwstr>
  </property>
</Properties>
</file>